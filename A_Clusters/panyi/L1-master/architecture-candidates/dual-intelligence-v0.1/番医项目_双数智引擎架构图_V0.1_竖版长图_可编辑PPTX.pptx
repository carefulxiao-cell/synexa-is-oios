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_rels/presentation.xml.rels" ContentType="application/vnd.openxmlformats-package.relationship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</p:sldIdLst>
  <p:sldSz cx="11430000" cy="180975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9B45178-4A00-436C-8304-E103C2842E27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CAC18D1-333E-4A72-B05A-E5F3C5A3122D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1"/>
          </p:nvPr>
        </p:nvSpPr>
        <p:spPr>
          <a:xfrm>
            <a:off x="50400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 idx="2"/>
          </p:nvPr>
        </p:nvSpPr>
        <p:spPr>
          <a:xfrm>
            <a:off x="3447360" y="5165280"/>
            <a:ext cx="319500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 idx="3"/>
          </p:nvPr>
        </p:nvSpPr>
        <p:spPr>
          <a:xfrm>
            <a:off x="722736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fld id="{51934461-0D6E-4224-9365-F07EA312BAD5}" type="slidenum"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subTitle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" name="fig01-text-2"/>
          <p:cNvSpPr txBox="1"/>
          <p:nvPr/>
        </p:nvSpPr>
        <p:spPr>
          <a:xfrm>
            <a:off x="571680" y="527760"/>
            <a:ext cx="2941920" cy="1114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750" spc="-1" strike="noStrike">
                <a:solidFill>
                  <a:srgbClr val="4f46e5"/>
                </a:solidFill>
                <a:latin typeface="IBM Plex Mono"/>
              </a:rPr>
              <a:t>PANYI · DUAL INTELLIGENCE · ARCHITECTURE PACK · V0.1</a:t>
            </a:r>
            <a:endParaRPr b="1" lang="en-US" sz="750" spc="-1" strike="noStrike">
              <a:solidFill>
                <a:srgbClr val="4f46e5"/>
              </a:solidFill>
              <a:latin typeface="IBM Plex Mono"/>
              <a:ea typeface="IBM Plex Mono"/>
            </a:endParaRPr>
          </a:p>
        </p:txBody>
      </p:sp>
      <p:sp>
        <p:nvSpPr>
          <p:cNvPr id="10" name="fig01-text-3"/>
          <p:cNvSpPr txBox="1"/>
          <p:nvPr/>
        </p:nvSpPr>
        <p:spPr>
          <a:xfrm>
            <a:off x="571680" y="783000"/>
            <a:ext cx="3577680" cy="421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zh-CN" sz="2250" spc="-1" strike="noStrike">
                <a:solidFill>
                  <a:srgbClr val="161a25"/>
                </a:solidFill>
                <a:latin typeface="PingFang SC"/>
              </a:rPr>
              <a:t>总体生态与系统能力架构</a:t>
            </a:r>
            <a:endParaRPr b="1" lang="en-US" sz="2250" spc="-1" strike="noStrike">
              <a:solidFill>
                <a:srgbClr val="161a25"/>
              </a:solidFill>
              <a:latin typeface="PingFang SC"/>
              <a:ea typeface="PingFang SC"/>
            </a:endParaRPr>
          </a:p>
        </p:txBody>
      </p:sp>
      <p:sp>
        <p:nvSpPr>
          <p:cNvPr id="11" name="fig01-text-4"/>
          <p:cNvSpPr txBox="1"/>
          <p:nvPr/>
        </p:nvSpPr>
        <p:spPr>
          <a:xfrm>
            <a:off x="571680" y="1180800"/>
            <a:ext cx="3414600" cy="602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050" spc="-1" strike="noStrike">
                <a:solidFill>
                  <a:srgbClr val="667085"/>
                </a:solidFill>
                <a:latin typeface="Space Grotesk"/>
              </a:rPr>
              <a:t>Ecosystem &amp; System Capability Architecture</a:t>
            </a:r>
            <a:endParaRPr b="0" lang="en-US" sz="1050" spc="-1" strike="noStrike">
              <a:solidFill>
                <a:srgbClr val="667085"/>
              </a:solidFill>
              <a:latin typeface="Space Grotesk"/>
              <a:ea typeface="Space Grotesk"/>
            </a:endParaRPr>
          </a:p>
        </p:txBody>
      </p:sp>
      <p:sp>
        <p:nvSpPr>
          <p:cNvPr id="12" name="fig01-card"/>
          <p:cNvSpPr/>
          <p:nvPr/>
        </p:nvSpPr>
        <p:spPr>
          <a:xfrm>
            <a:off x="571680" y="1504800"/>
            <a:ext cx="10287000" cy="9360"/>
          </a:xfrm>
          <a:prstGeom prst="rect">
            <a:avLst/>
          </a:prstGeom>
          <a:solidFill>
            <a:srgbClr val="d9dee7"/>
          </a:solidFill>
          <a:ln w="0">
            <a:noFill/>
          </a:ln>
        </p:spPr>
        <p:txBody>
          <a:bodyPr lIns="90000" rIns="90000" tIns="-35640" bIns="-3564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" name="fig01-card"/>
          <p:cNvSpPr/>
          <p:nvPr/>
        </p:nvSpPr>
        <p:spPr>
          <a:xfrm>
            <a:off x="571680" y="1657440"/>
            <a:ext cx="952560" cy="228600"/>
          </a:xfrm>
          <a:prstGeom prst="roundRect">
            <a:avLst/>
          </a:prstGeom>
          <a:solidFill>
            <a:srgbClr val="161a25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" name="fig01-text-7"/>
          <p:cNvSpPr txBox="1"/>
          <p:nvPr/>
        </p:nvSpPr>
        <p:spPr>
          <a:xfrm>
            <a:off x="853920" y="1728000"/>
            <a:ext cx="387720" cy="1114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algn="ctr"/>
            <a:r>
              <a:rPr b="1" lang="en-US" sz="750" spc="-1" strike="noStrike">
                <a:solidFill>
                  <a:srgbClr val="ffffff"/>
                </a:solidFill>
                <a:latin typeface="IBM Plex Mono"/>
              </a:rPr>
              <a:t>FIG 01</a:t>
            </a:r>
            <a:endParaRPr b="1" lang="en-US" sz="750" spc="-1" strike="noStrike">
              <a:solidFill>
                <a:srgbClr val="ffffff"/>
              </a:solidFill>
              <a:latin typeface="IBM Plex Mono"/>
              <a:ea typeface="IBM Plex Mono"/>
            </a:endParaRPr>
          </a:p>
        </p:txBody>
      </p:sp>
      <p:sp>
        <p:nvSpPr>
          <p:cNvPr id="15" name="fig01-card"/>
          <p:cNvSpPr/>
          <p:nvPr/>
        </p:nvSpPr>
        <p:spPr>
          <a:xfrm>
            <a:off x="1619280" y="1657440"/>
            <a:ext cx="2381400" cy="228600"/>
          </a:xfrm>
          <a:prstGeom prst="roundRect">
            <a:avLst/>
          </a:prstGeom>
          <a:solidFill>
            <a:srgbClr val="f5f1ff"/>
          </a:solidFill>
          <a:ln w="9360">
            <a:solidFill>
              <a:srgbClr val="8b5aca"/>
            </a:solidFill>
            <a:round/>
          </a:ln>
        </p:spPr>
        <p:txBody>
          <a:bodyPr lIns="94680" rIns="94680" tIns="49680" bIns="4968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" name="fig01-text-9"/>
          <p:cNvSpPr txBox="1"/>
          <p:nvPr/>
        </p:nvSpPr>
        <p:spPr>
          <a:xfrm>
            <a:off x="2016360" y="1728000"/>
            <a:ext cx="1586880" cy="85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algn="ctr"/>
            <a:r>
              <a:rPr b="1" lang="en-US" sz="750" spc="-1" strike="noStrike">
                <a:solidFill>
                  <a:srgbClr val="8b5aca"/>
                </a:solidFill>
                <a:latin typeface="IBM Plex Mono"/>
              </a:rPr>
              <a:t>CANDIDATE · REVIEW REQUIRED</a:t>
            </a:r>
            <a:endParaRPr b="1" lang="en-US" sz="750" spc="-1" strike="noStrike">
              <a:solidFill>
                <a:srgbClr val="8b5aca"/>
              </a:solidFill>
              <a:latin typeface="IBM Plex Mono"/>
              <a:ea typeface="IBM Plex Mono"/>
            </a:endParaRPr>
          </a:p>
        </p:txBody>
      </p:sp>
      <p:sp>
        <p:nvSpPr>
          <p:cNvPr id="17" name="fig01-text-10"/>
          <p:cNvSpPr txBox="1"/>
          <p:nvPr/>
        </p:nvSpPr>
        <p:spPr>
          <a:xfrm>
            <a:off x="9209160" y="1721160"/>
            <a:ext cx="1649520" cy="85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algn="r"/>
            <a:r>
              <a:rPr b="0" lang="en-US" sz="810" spc="-1" strike="noStrike">
                <a:solidFill>
                  <a:srgbClr val="667085"/>
                </a:solidFill>
                <a:latin typeface="IBM Plex Mono"/>
              </a:rPr>
              <a:t>1200 × 1900 · EDITABLE PPTX</a:t>
            </a:r>
            <a:endParaRPr b="0" lang="en-US" sz="810" spc="-1" strike="noStrike">
              <a:solidFill>
                <a:srgbClr val="667085"/>
              </a:solidFill>
              <a:latin typeface="IBM Plex Mono"/>
              <a:ea typeface="IBM Plex Mono"/>
            </a:endParaRPr>
          </a:p>
        </p:txBody>
      </p:sp>
      <p:sp>
        <p:nvSpPr>
          <p:cNvPr id="18" name="fig01-card"/>
          <p:cNvSpPr/>
          <p:nvPr/>
        </p:nvSpPr>
        <p:spPr>
          <a:xfrm>
            <a:off x="571680" y="2104920"/>
            <a:ext cx="47520" cy="209520"/>
          </a:xfrm>
          <a:prstGeom prst="roundRect">
            <a:avLst/>
          </a:prstGeom>
          <a:solidFill>
            <a:srgbClr val="4f46e5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" name="fig01-text-12"/>
          <p:cNvSpPr txBox="1"/>
          <p:nvPr/>
        </p:nvSpPr>
        <p:spPr>
          <a:xfrm>
            <a:off x="743040" y="2185200"/>
            <a:ext cx="236520" cy="85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750" spc="-1" strike="noStrike">
                <a:solidFill>
                  <a:srgbClr val="4f46e5"/>
                </a:solidFill>
                <a:latin typeface="IBM Plex Mono"/>
              </a:rPr>
              <a:t>01A</a:t>
            </a:r>
            <a:endParaRPr b="1" lang="en-US" sz="750" spc="-1" strike="noStrike">
              <a:solidFill>
                <a:srgbClr val="4f46e5"/>
              </a:solidFill>
              <a:latin typeface="IBM Plex Mono"/>
              <a:ea typeface="IBM Plex Mono"/>
            </a:endParaRPr>
          </a:p>
        </p:txBody>
      </p:sp>
      <p:sp>
        <p:nvSpPr>
          <p:cNvPr id="20" name="fig01-text-13"/>
          <p:cNvSpPr txBox="1"/>
          <p:nvPr/>
        </p:nvSpPr>
        <p:spPr>
          <a:xfrm>
            <a:off x="1428840" y="2135880"/>
            <a:ext cx="2446920" cy="752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zh-CN" sz="1200" spc="-1" strike="noStrike">
                <a:solidFill>
                  <a:srgbClr val="161a25"/>
                </a:solidFill>
                <a:latin typeface="PingFang SC"/>
              </a:rPr>
              <a:t>项目边界、责任主体与上位接口</a:t>
            </a:r>
            <a:endParaRPr b="1" lang="en-US" sz="1200" spc="-1" strike="noStrike">
              <a:solidFill>
                <a:srgbClr val="161a25"/>
              </a:solidFill>
              <a:latin typeface="PingFang SC"/>
              <a:ea typeface="PingFang SC"/>
            </a:endParaRPr>
          </a:p>
        </p:txBody>
      </p:sp>
      <p:sp>
        <p:nvSpPr>
          <p:cNvPr id="21" name="fig01-text-14"/>
          <p:cNvSpPr txBox="1"/>
          <p:nvPr/>
        </p:nvSpPr>
        <p:spPr>
          <a:xfrm>
            <a:off x="8497080" y="2178360"/>
            <a:ext cx="2361600" cy="1082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algn="r"/>
            <a:r>
              <a:rPr b="0" lang="zh-CN" sz="810" spc="-1" strike="noStrike">
                <a:solidFill>
                  <a:srgbClr val="667085"/>
                </a:solidFill>
                <a:latin typeface="PingFang SC"/>
              </a:rPr>
              <a:t>真实事实进入系统；专业人员保留审核与授权</a:t>
            </a:r>
            <a:endParaRPr b="0" lang="en-US" sz="810" spc="-1" strike="noStrike">
              <a:solidFill>
                <a:srgbClr val="667085"/>
              </a:solidFill>
              <a:latin typeface="PingFang SC"/>
              <a:ea typeface="PingFang SC"/>
            </a:endParaRPr>
          </a:p>
        </p:txBody>
      </p:sp>
      <p:sp>
        <p:nvSpPr>
          <p:cNvPr id="22" name="fig01-card"/>
          <p:cNvSpPr/>
          <p:nvPr/>
        </p:nvSpPr>
        <p:spPr>
          <a:xfrm>
            <a:off x="571680" y="2533680"/>
            <a:ext cx="1905120" cy="914400"/>
          </a:xfrm>
          <a:prstGeom prst="roundRect">
            <a:avLst/>
          </a:prstGeom>
          <a:solidFill>
            <a:srgbClr val="f0f1ff"/>
          </a:solidFill>
          <a:ln w="11520">
            <a:solidFill>
              <a:srgbClr val="4f46e5"/>
            </a:solidFill>
            <a:round/>
          </a:ln>
        </p:spPr>
        <p:txBody>
          <a:bodyPr lIns="95760" rIns="95760" tIns="50760" bIns="5076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" name="fig01-card"/>
          <p:cNvSpPr/>
          <p:nvPr/>
        </p:nvSpPr>
        <p:spPr>
          <a:xfrm>
            <a:off x="704880" y="2666880"/>
            <a:ext cx="1158120" cy="190440"/>
          </a:xfrm>
          <a:prstGeom prst="roundRect">
            <a:avLst/>
          </a:prstGeom>
          <a:solidFill>
            <a:srgbClr val="eae9fc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" name="fig01-text-17"/>
          <p:cNvSpPr txBox="1"/>
          <p:nvPr/>
        </p:nvSpPr>
        <p:spPr>
          <a:xfrm>
            <a:off x="790560" y="2718360"/>
            <a:ext cx="893520" cy="85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750" spc="-1" strike="noStrike">
                <a:solidFill>
                  <a:srgbClr val="4f46e5"/>
                </a:solidFill>
                <a:latin typeface="IBM Plex Mono"/>
              </a:rPr>
              <a:t>RESPONSIBILITY</a:t>
            </a:r>
            <a:endParaRPr b="1" lang="en-US" sz="750" spc="-1" strike="noStrike">
              <a:solidFill>
                <a:srgbClr val="4f46e5"/>
              </a:solidFill>
              <a:latin typeface="IBM Plex Mono"/>
              <a:ea typeface="IBM Plex Mono"/>
            </a:endParaRPr>
          </a:p>
        </p:txBody>
      </p:sp>
      <p:sp>
        <p:nvSpPr>
          <p:cNvPr id="25" name="fig01-text-18"/>
          <p:cNvSpPr txBox="1"/>
          <p:nvPr/>
        </p:nvSpPr>
        <p:spPr>
          <a:xfrm>
            <a:off x="714240" y="2881440"/>
            <a:ext cx="1619280" cy="752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zh-CN" sz="1130" spc="-1" strike="noStrike">
                <a:solidFill>
                  <a:srgbClr val="161a25"/>
                </a:solidFill>
                <a:latin typeface="PingFang SC"/>
              </a:rPr>
              <a:t>项目主基线 </a:t>
            </a:r>
            <a:r>
              <a:rPr b="1" lang="en-US" sz="1130" spc="-1" strike="noStrike">
                <a:solidFill>
                  <a:srgbClr val="161a25"/>
                </a:solidFill>
                <a:latin typeface="PingFang SC"/>
              </a:rPr>
              <a:t>/ </a:t>
            </a:r>
            <a:r>
              <a:rPr b="1" lang="zh-CN" sz="1130" spc="-1" strike="noStrike">
                <a:solidFill>
                  <a:srgbClr val="161a25"/>
                </a:solidFill>
                <a:latin typeface="PingFang SC"/>
              </a:rPr>
              <a:t>专项总控</a:t>
            </a:r>
            <a:endParaRPr b="1" lang="en-US" sz="1130" spc="-1" strike="noStrike">
              <a:solidFill>
                <a:srgbClr val="161a25"/>
              </a:solidFill>
              <a:latin typeface="PingFang SC"/>
              <a:ea typeface="PingFang SC"/>
            </a:endParaRPr>
          </a:p>
        </p:txBody>
      </p:sp>
      <p:sp>
        <p:nvSpPr>
          <p:cNvPr id="26" name="fig01-text-19"/>
          <p:cNvSpPr txBox="1"/>
          <p:nvPr/>
        </p:nvSpPr>
        <p:spPr>
          <a:xfrm>
            <a:off x="714240" y="3079440"/>
            <a:ext cx="1619280" cy="1082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zh-CN" sz="900" spc="-1" strike="noStrike">
                <a:solidFill>
                  <a:srgbClr val="667085"/>
                </a:solidFill>
                <a:latin typeface="PingFang SC"/>
              </a:rPr>
              <a:t>版本、资产、责任、决策记录</a:t>
            </a:r>
            <a:endParaRPr b="0" lang="en-US" sz="900" spc="-1" strike="noStrike">
              <a:solidFill>
                <a:srgbClr val="667085"/>
              </a:solidFill>
              <a:latin typeface="PingFang SC"/>
              <a:ea typeface="PingFang SC"/>
            </a:endParaRPr>
          </a:p>
        </p:txBody>
      </p:sp>
      <p:sp>
        <p:nvSpPr>
          <p:cNvPr id="27" name="fig01-card"/>
          <p:cNvSpPr/>
          <p:nvPr/>
        </p:nvSpPr>
        <p:spPr>
          <a:xfrm>
            <a:off x="2666880" y="2533680"/>
            <a:ext cx="1905120" cy="914400"/>
          </a:xfrm>
          <a:prstGeom prst="roundRect">
            <a:avLst/>
          </a:prstGeom>
          <a:solidFill>
            <a:srgbClr val="fff1f2"/>
          </a:solidFill>
          <a:ln w="11520">
            <a:solidFill>
              <a:srgbClr val="e60012"/>
            </a:solidFill>
            <a:round/>
          </a:ln>
        </p:spPr>
        <p:txBody>
          <a:bodyPr lIns="95760" rIns="95760" tIns="50760" bIns="5076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" name="fig01-card"/>
          <p:cNvSpPr/>
          <p:nvPr/>
        </p:nvSpPr>
        <p:spPr>
          <a:xfrm>
            <a:off x="2800440" y="2666880"/>
            <a:ext cx="1158120" cy="190440"/>
          </a:xfrm>
          <a:prstGeom prst="roundRect">
            <a:avLst/>
          </a:prstGeom>
          <a:solidFill>
            <a:srgbClr val="fce0e3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" name="fig01-text-22"/>
          <p:cNvSpPr txBox="1"/>
          <p:nvPr/>
        </p:nvSpPr>
        <p:spPr>
          <a:xfrm>
            <a:off x="2886120" y="2718360"/>
            <a:ext cx="893520" cy="85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750" spc="-1" strike="noStrike">
                <a:solidFill>
                  <a:srgbClr val="e60012"/>
                </a:solidFill>
                <a:latin typeface="IBM Plex Mono"/>
              </a:rPr>
              <a:t>RESPONSIBILITY</a:t>
            </a:r>
            <a:endParaRPr b="1" lang="en-US" sz="750" spc="-1" strike="noStrike">
              <a:solidFill>
                <a:srgbClr val="e60012"/>
              </a:solidFill>
              <a:latin typeface="IBM Plex Mono"/>
              <a:ea typeface="IBM Plex Mono"/>
            </a:endParaRPr>
          </a:p>
        </p:txBody>
      </p:sp>
      <p:sp>
        <p:nvSpPr>
          <p:cNvPr id="30" name="fig01-text-23"/>
          <p:cNvSpPr txBox="1"/>
          <p:nvPr/>
        </p:nvSpPr>
        <p:spPr>
          <a:xfrm>
            <a:off x="2809800" y="2881440"/>
            <a:ext cx="1619280" cy="421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zh-CN" sz="1130" spc="-1" strike="noStrike">
                <a:solidFill>
                  <a:srgbClr val="161a25"/>
                </a:solidFill>
                <a:latin typeface="PingFang SC"/>
              </a:rPr>
              <a:t>专业人员</a:t>
            </a:r>
            <a:endParaRPr b="1" lang="en-US" sz="1130" spc="-1" strike="noStrike">
              <a:solidFill>
                <a:srgbClr val="161a25"/>
              </a:solidFill>
              <a:latin typeface="PingFang SC"/>
              <a:ea typeface="PingFang SC"/>
            </a:endParaRPr>
          </a:p>
        </p:txBody>
      </p:sp>
      <p:sp>
        <p:nvSpPr>
          <p:cNvPr id="31" name="fig01-text-24"/>
          <p:cNvSpPr txBox="1"/>
          <p:nvPr/>
        </p:nvSpPr>
        <p:spPr>
          <a:xfrm>
            <a:off x="2809800" y="3079440"/>
            <a:ext cx="1619280" cy="1082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zh-CN" sz="900" spc="-1" strike="noStrike">
                <a:solidFill>
                  <a:srgbClr val="667085"/>
                </a:solidFill>
                <a:latin typeface="PingFang SC"/>
              </a:rPr>
              <a:t>业务事实 </a:t>
            </a:r>
            <a:r>
              <a:rPr b="0" lang="en-US" sz="900" spc="-1" strike="noStrike">
                <a:solidFill>
                  <a:srgbClr val="667085"/>
                </a:solidFill>
                <a:latin typeface="PingFang SC"/>
              </a:rPr>
              <a:t>/ </a:t>
            </a:r>
            <a:r>
              <a:rPr b="0" lang="zh-CN" sz="900" spc="-1" strike="noStrike">
                <a:solidFill>
                  <a:srgbClr val="667085"/>
                </a:solidFill>
                <a:latin typeface="PingFang SC"/>
              </a:rPr>
              <a:t>专业审核 </a:t>
            </a:r>
            <a:r>
              <a:rPr b="0" lang="en-US" sz="900" spc="-1" strike="noStrike">
                <a:solidFill>
                  <a:srgbClr val="667085"/>
                </a:solidFill>
                <a:latin typeface="PingFang SC"/>
              </a:rPr>
              <a:t>/</a:t>
            </a:r>
            <a:endParaRPr b="0" lang="en-US" sz="900" spc="-1" strike="noStrike">
              <a:solidFill>
                <a:srgbClr val="667085"/>
              </a:solidFill>
              <a:latin typeface="PingFang SC"/>
              <a:ea typeface="PingFang SC"/>
            </a:endParaRPr>
          </a:p>
          <a:p>
            <a:r>
              <a:rPr b="0" lang="en-US" sz="900" spc="-1" strike="noStrike">
                <a:solidFill>
                  <a:srgbClr val="667085"/>
                </a:solidFill>
                <a:latin typeface="PingFang SC"/>
              </a:rPr>
              <a:t> </a:t>
            </a:r>
            <a:r>
              <a:rPr b="0" lang="zh-CN" sz="900" spc="-1" strike="noStrike">
                <a:solidFill>
                  <a:srgbClr val="667085"/>
                </a:solidFill>
                <a:latin typeface="PingFang SC"/>
              </a:rPr>
              <a:t>授权裁决</a:t>
            </a:r>
            <a:endParaRPr b="0" lang="en-US" sz="900" spc="-1" strike="noStrike">
              <a:solidFill>
                <a:srgbClr val="667085"/>
              </a:solidFill>
              <a:latin typeface="PingFang SC"/>
              <a:ea typeface="PingFang SC"/>
            </a:endParaRPr>
          </a:p>
        </p:txBody>
      </p:sp>
      <p:sp>
        <p:nvSpPr>
          <p:cNvPr id="32" name="fig01-card"/>
          <p:cNvSpPr/>
          <p:nvPr/>
        </p:nvSpPr>
        <p:spPr>
          <a:xfrm>
            <a:off x="4762440" y="2533680"/>
            <a:ext cx="1905120" cy="914400"/>
          </a:xfrm>
          <a:prstGeom prst="roundRect">
            <a:avLst/>
          </a:prstGeom>
          <a:solidFill>
            <a:srgbClr val="eef6ff"/>
          </a:solidFill>
          <a:ln w="11520">
            <a:solidFill>
              <a:srgbClr val="2d8eff"/>
            </a:solidFill>
            <a:round/>
          </a:ln>
        </p:spPr>
        <p:txBody>
          <a:bodyPr lIns="95760" rIns="95760" tIns="50760" bIns="5076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" name="fig01-card"/>
          <p:cNvSpPr/>
          <p:nvPr/>
        </p:nvSpPr>
        <p:spPr>
          <a:xfrm>
            <a:off x="4896000" y="2666880"/>
            <a:ext cx="1158120" cy="190440"/>
          </a:xfrm>
          <a:prstGeom prst="roundRect">
            <a:avLst/>
          </a:prstGeom>
          <a:solidFill>
            <a:srgbClr val="e6f1ff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" name="fig01-text-27"/>
          <p:cNvSpPr txBox="1"/>
          <p:nvPr/>
        </p:nvSpPr>
        <p:spPr>
          <a:xfrm>
            <a:off x="4981680" y="2718360"/>
            <a:ext cx="893520" cy="85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750" spc="-1" strike="noStrike">
                <a:solidFill>
                  <a:srgbClr val="2d8eff"/>
                </a:solidFill>
                <a:latin typeface="IBM Plex Mono"/>
              </a:rPr>
              <a:t>RESPONSIBILITY</a:t>
            </a:r>
            <a:endParaRPr b="1" lang="en-US" sz="750" spc="-1" strike="noStrike">
              <a:solidFill>
                <a:srgbClr val="2d8eff"/>
              </a:solidFill>
              <a:latin typeface="IBM Plex Mono"/>
              <a:ea typeface="IBM Plex Mono"/>
            </a:endParaRPr>
          </a:p>
        </p:txBody>
      </p:sp>
      <p:sp>
        <p:nvSpPr>
          <p:cNvPr id="35" name="fig01-text-28"/>
          <p:cNvSpPr txBox="1"/>
          <p:nvPr/>
        </p:nvSpPr>
        <p:spPr>
          <a:xfrm>
            <a:off x="4905360" y="2881440"/>
            <a:ext cx="1619280" cy="346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1130" spc="-1" strike="noStrike">
                <a:solidFill>
                  <a:srgbClr val="161a25"/>
                </a:solidFill>
                <a:latin typeface="PingFang SC"/>
              </a:rPr>
              <a:t>Kimi</a:t>
            </a:r>
            <a:endParaRPr b="1" lang="en-US" sz="1130" spc="-1" strike="noStrike">
              <a:solidFill>
                <a:srgbClr val="161a25"/>
              </a:solidFill>
              <a:latin typeface="PingFang SC"/>
              <a:ea typeface="PingFang SC"/>
            </a:endParaRPr>
          </a:p>
        </p:txBody>
      </p:sp>
      <p:sp>
        <p:nvSpPr>
          <p:cNvPr id="36" name="fig01-text-29"/>
          <p:cNvSpPr txBox="1"/>
          <p:nvPr/>
        </p:nvSpPr>
        <p:spPr>
          <a:xfrm>
            <a:off x="4905360" y="3079440"/>
            <a:ext cx="1619280" cy="752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zh-CN" sz="900" spc="-1" strike="noStrike">
                <a:solidFill>
                  <a:srgbClr val="667085"/>
                </a:solidFill>
                <a:latin typeface="PingFang SC"/>
              </a:rPr>
              <a:t>事实整理 </a:t>
            </a:r>
            <a:r>
              <a:rPr b="0" lang="en-US" sz="900" spc="-1" strike="noStrike">
                <a:solidFill>
                  <a:srgbClr val="667085"/>
                </a:solidFill>
                <a:latin typeface="PingFang SC"/>
              </a:rPr>
              <a:t>/ </a:t>
            </a:r>
            <a:r>
              <a:rPr b="0" lang="zh-CN" sz="900" spc="-1" strike="noStrike">
                <a:solidFill>
                  <a:srgbClr val="667085"/>
                </a:solidFill>
                <a:latin typeface="PingFang SC"/>
              </a:rPr>
              <a:t>母表与口径核验</a:t>
            </a:r>
            <a:endParaRPr b="0" lang="en-US" sz="900" spc="-1" strike="noStrike">
              <a:solidFill>
                <a:srgbClr val="667085"/>
              </a:solidFill>
              <a:latin typeface="PingFang SC"/>
              <a:ea typeface="PingFang SC"/>
            </a:endParaRPr>
          </a:p>
        </p:txBody>
      </p:sp>
      <p:sp>
        <p:nvSpPr>
          <p:cNvPr id="37" name="fig01-card"/>
          <p:cNvSpPr/>
          <p:nvPr/>
        </p:nvSpPr>
        <p:spPr>
          <a:xfrm>
            <a:off x="6858000" y="2533680"/>
            <a:ext cx="1905120" cy="914400"/>
          </a:xfrm>
          <a:prstGeom prst="roundRect">
            <a:avLst/>
          </a:prstGeom>
          <a:solidFill>
            <a:srgbClr val="f5f1ff"/>
          </a:solidFill>
          <a:ln w="11520">
            <a:solidFill>
              <a:srgbClr val="8b5aca"/>
            </a:solidFill>
            <a:round/>
          </a:ln>
        </p:spPr>
        <p:txBody>
          <a:bodyPr lIns="95760" rIns="95760" tIns="50760" bIns="5076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" name="fig01-card"/>
          <p:cNvSpPr/>
          <p:nvPr/>
        </p:nvSpPr>
        <p:spPr>
          <a:xfrm>
            <a:off x="6991200" y="2666880"/>
            <a:ext cx="1158120" cy="190440"/>
          </a:xfrm>
          <a:prstGeom prst="roundRect">
            <a:avLst/>
          </a:prstGeom>
          <a:solidFill>
            <a:srgbClr val="f1ebf9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" name="fig01-text-32"/>
          <p:cNvSpPr txBox="1"/>
          <p:nvPr/>
        </p:nvSpPr>
        <p:spPr>
          <a:xfrm>
            <a:off x="7077240" y="2718360"/>
            <a:ext cx="893520" cy="85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750" spc="-1" strike="noStrike">
                <a:solidFill>
                  <a:srgbClr val="8b5aca"/>
                </a:solidFill>
                <a:latin typeface="IBM Plex Mono"/>
              </a:rPr>
              <a:t>RESPONSIBILITY</a:t>
            </a:r>
            <a:endParaRPr b="1" lang="en-US" sz="750" spc="-1" strike="noStrike">
              <a:solidFill>
                <a:srgbClr val="8b5aca"/>
              </a:solidFill>
              <a:latin typeface="IBM Plex Mono"/>
              <a:ea typeface="IBM Plex Mono"/>
            </a:endParaRPr>
          </a:p>
        </p:txBody>
      </p:sp>
      <p:sp>
        <p:nvSpPr>
          <p:cNvPr id="40" name="fig01-text-33"/>
          <p:cNvSpPr txBox="1"/>
          <p:nvPr/>
        </p:nvSpPr>
        <p:spPr>
          <a:xfrm>
            <a:off x="7000920" y="2881440"/>
            <a:ext cx="1619280" cy="346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1130" spc="-1" strike="noStrike">
                <a:solidFill>
                  <a:srgbClr val="161a25"/>
                </a:solidFill>
                <a:latin typeface="PingFang SC"/>
              </a:rPr>
              <a:t>ChatGPT</a:t>
            </a:r>
            <a:endParaRPr b="1" lang="en-US" sz="1130" spc="-1" strike="noStrike">
              <a:solidFill>
                <a:srgbClr val="161a25"/>
              </a:solidFill>
              <a:latin typeface="PingFang SC"/>
              <a:ea typeface="PingFang SC"/>
            </a:endParaRPr>
          </a:p>
        </p:txBody>
      </p:sp>
      <p:sp>
        <p:nvSpPr>
          <p:cNvPr id="41" name="fig01-text-34"/>
          <p:cNvSpPr txBox="1"/>
          <p:nvPr/>
        </p:nvSpPr>
        <p:spPr>
          <a:xfrm>
            <a:off x="7000920" y="3079440"/>
            <a:ext cx="1619280" cy="752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zh-CN" sz="900" spc="-1" strike="noStrike">
                <a:solidFill>
                  <a:srgbClr val="667085"/>
                </a:solidFill>
                <a:latin typeface="PingFang SC"/>
              </a:rPr>
              <a:t>策略 </a:t>
            </a:r>
            <a:r>
              <a:rPr b="0" lang="en-US" sz="900" spc="-1" strike="noStrike">
                <a:solidFill>
                  <a:srgbClr val="667085"/>
                </a:solidFill>
                <a:latin typeface="PingFang SC"/>
              </a:rPr>
              <a:t>/ </a:t>
            </a:r>
            <a:r>
              <a:rPr b="0" lang="zh-CN" sz="900" spc="-1" strike="noStrike">
                <a:solidFill>
                  <a:srgbClr val="667085"/>
                </a:solidFill>
                <a:latin typeface="PingFang SC"/>
              </a:rPr>
              <a:t>架构 </a:t>
            </a:r>
            <a:r>
              <a:rPr b="0" lang="en-US" sz="900" spc="-1" strike="noStrike">
                <a:solidFill>
                  <a:srgbClr val="667085"/>
                </a:solidFill>
                <a:latin typeface="PingFang SC"/>
              </a:rPr>
              <a:t>/ </a:t>
            </a:r>
            <a:r>
              <a:rPr b="0" lang="zh-CN" sz="900" spc="-1" strike="noStrike">
                <a:solidFill>
                  <a:srgbClr val="667085"/>
                </a:solidFill>
                <a:latin typeface="PingFang SC"/>
              </a:rPr>
              <a:t>分析 </a:t>
            </a:r>
            <a:r>
              <a:rPr b="0" lang="en-US" sz="900" spc="-1" strike="noStrike">
                <a:solidFill>
                  <a:srgbClr val="667085"/>
                </a:solidFill>
                <a:latin typeface="PingFang SC"/>
              </a:rPr>
              <a:t>/ </a:t>
            </a:r>
            <a:r>
              <a:rPr b="0" lang="zh-CN" sz="900" spc="-1" strike="noStrike">
                <a:solidFill>
                  <a:srgbClr val="667085"/>
                </a:solidFill>
                <a:latin typeface="PingFang SC"/>
              </a:rPr>
              <a:t>指令</a:t>
            </a:r>
            <a:endParaRPr b="0" lang="en-US" sz="900" spc="-1" strike="noStrike">
              <a:solidFill>
                <a:srgbClr val="667085"/>
              </a:solidFill>
              <a:latin typeface="PingFang SC"/>
              <a:ea typeface="PingFang SC"/>
            </a:endParaRPr>
          </a:p>
        </p:txBody>
      </p:sp>
      <p:sp>
        <p:nvSpPr>
          <p:cNvPr id="42" name="fig01-card"/>
          <p:cNvSpPr/>
          <p:nvPr/>
        </p:nvSpPr>
        <p:spPr>
          <a:xfrm>
            <a:off x="8953560" y="2533680"/>
            <a:ext cx="1905120" cy="914400"/>
          </a:xfrm>
          <a:prstGeom prst="roundRect">
            <a:avLst/>
          </a:prstGeom>
          <a:solidFill>
            <a:srgbClr val="ecfbf4"/>
          </a:solidFill>
          <a:ln w="11520">
            <a:solidFill>
              <a:srgbClr val="28cc83"/>
            </a:solidFill>
            <a:round/>
          </a:ln>
        </p:spPr>
        <p:txBody>
          <a:bodyPr lIns="95760" rIns="95760" tIns="50760" bIns="5076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" name="fig01-card"/>
          <p:cNvSpPr/>
          <p:nvPr/>
        </p:nvSpPr>
        <p:spPr>
          <a:xfrm>
            <a:off x="9086760" y="2666880"/>
            <a:ext cx="1158120" cy="190440"/>
          </a:xfrm>
          <a:prstGeom prst="roundRect">
            <a:avLst/>
          </a:prstGeom>
          <a:solidFill>
            <a:srgbClr val="e5f9f0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" name="fig01-text-37"/>
          <p:cNvSpPr txBox="1"/>
          <p:nvPr/>
        </p:nvSpPr>
        <p:spPr>
          <a:xfrm>
            <a:off x="9172440" y="2718360"/>
            <a:ext cx="893520" cy="85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750" spc="-1" strike="noStrike">
                <a:solidFill>
                  <a:srgbClr val="28cc83"/>
                </a:solidFill>
                <a:latin typeface="IBM Plex Mono"/>
              </a:rPr>
              <a:t>RESPONSIBILITY</a:t>
            </a:r>
            <a:endParaRPr b="1" lang="en-US" sz="750" spc="-1" strike="noStrike">
              <a:solidFill>
                <a:srgbClr val="28cc83"/>
              </a:solidFill>
              <a:latin typeface="IBM Plex Mono"/>
              <a:ea typeface="IBM Plex Mono"/>
            </a:endParaRPr>
          </a:p>
        </p:txBody>
      </p:sp>
      <p:sp>
        <p:nvSpPr>
          <p:cNvPr id="45" name="fig01-text-38"/>
          <p:cNvSpPr txBox="1"/>
          <p:nvPr/>
        </p:nvSpPr>
        <p:spPr>
          <a:xfrm>
            <a:off x="9096480" y="2881440"/>
            <a:ext cx="1619280" cy="346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1130" spc="-1" strike="noStrike">
                <a:solidFill>
                  <a:srgbClr val="161a25"/>
                </a:solidFill>
                <a:latin typeface="PingFang SC"/>
              </a:rPr>
              <a:t>Manus</a:t>
            </a:r>
            <a:endParaRPr b="1" lang="en-US" sz="1130" spc="-1" strike="noStrike">
              <a:solidFill>
                <a:srgbClr val="161a25"/>
              </a:solidFill>
              <a:latin typeface="PingFang SC"/>
              <a:ea typeface="PingFang SC"/>
            </a:endParaRPr>
          </a:p>
        </p:txBody>
      </p:sp>
      <p:sp>
        <p:nvSpPr>
          <p:cNvPr id="46" name="fig01-text-39"/>
          <p:cNvSpPr txBox="1"/>
          <p:nvPr/>
        </p:nvSpPr>
        <p:spPr>
          <a:xfrm>
            <a:off x="9096480" y="3079440"/>
            <a:ext cx="1619280" cy="752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zh-CN" sz="900" spc="-1" strike="noStrike">
                <a:solidFill>
                  <a:srgbClr val="667085"/>
                </a:solidFill>
                <a:latin typeface="PingFang SC"/>
              </a:rPr>
              <a:t>技术架构 </a:t>
            </a:r>
            <a:r>
              <a:rPr b="0" lang="en-US" sz="900" spc="-1" strike="noStrike">
                <a:solidFill>
                  <a:srgbClr val="667085"/>
                </a:solidFill>
                <a:latin typeface="PingFang SC"/>
              </a:rPr>
              <a:t>/ </a:t>
            </a:r>
            <a:r>
              <a:rPr b="0" lang="zh-CN" sz="900" spc="-1" strike="noStrike">
                <a:solidFill>
                  <a:srgbClr val="667085"/>
                </a:solidFill>
                <a:latin typeface="PingFang SC"/>
              </a:rPr>
              <a:t>系统工程 </a:t>
            </a:r>
            <a:r>
              <a:rPr b="0" lang="en-US" sz="900" spc="-1" strike="noStrike">
                <a:solidFill>
                  <a:srgbClr val="667085"/>
                </a:solidFill>
                <a:latin typeface="PingFang SC"/>
              </a:rPr>
              <a:t>/ MVP</a:t>
            </a:r>
            <a:endParaRPr b="0" lang="en-US" sz="900" spc="-1" strike="noStrike">
              <a:solidFill>
                <a:srgbClr val="667085"/>
              </a:solidFill>
              <a:latin typeface="PingFang SC"/>
              <a:ea typeface="PingFang SC"/>
            </a:endParaRPr>
          </a:p>
        </p:txBody>
      </p:sp>
      <p:sp>
        <p:nvSpPr>
          <p:cNvPr id="47" name="fig01-card"/>
          <p:cNvSpPr/>
          <p:nvPr/>
        </p:nvSpPr>
        <p:spPr>
          <a:xfrm>
            <a:off x="571680" y="3638520"/>
            <a:ext cx="10287000" cy="628560"/>
          </a:xfrm>
          <a:prstGeom prst="roundRect">
            <a:avLst/>
          </a:prstGeom>
          <a:solidFill>
            <a:srgbClr val="fff8e7"/>
          </a:solidFill>
          <a:ln w="11520">
            <a:solidFill>
              <a:srgbClr val="e8a020"/>
            </a:solidFill>
            <a:round/>
          </a:ln>
        </p:spPr>
        <p:txBody>
          <a:bodyPr lIns="95760" rIns="95760" tIns="50760" bIns="5076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" name="fig01-card"/>
          <p:cNvSpPr/>
          <p:nvPr/>
        </p:nvSpPr>
        <p:spPr>
          <a:xfrm>
            <a:off x="704880" y="3772080"/>
            <a:ext cx="857160" cy="190440"/>
          </a:xfrm>
          <a:prstGeom prst="roundRect">
            <a:avLst/>
          </a:prstGeom>
          <a:solidFill>
            <a:srgbClr val="fcf4e4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" name="fig01-text-42"/>
          <p:cNvSpPr txBox="1"/>
          <p:nvPr/>
        </p:nvSpPr>
        <p:spPr>
          <a:xfrm>
            <a:off x="790560" y="3823200"/>
            <a:ext cx="567000" cy="1114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750" spc="-1" strike="noStrike">
                <a:solidFill>
                  <a:srgbClr val="e8a020"/>
                </a:solidFill>
                <a:latin typeface="IBM Plex Mono"/>
              </a:rPr>
              <a:t>TO VERIFY</a:t>
            </a:r>
            <a:endParaRPr b="1" lang="en-US" sz="750" spc="-1" strike="noStrike">
              <a:solidFill>
                <a:srgbClr val="e8a020"/>
              </a:solidFill>
              <a:latin typeface="IBM Plex Mono"/>
              <a:ea typeface="IBM Plex Mono"/>
            </a:endParaRPr>
          </a:p>
        </p:txBody>
      </p:sp>
      <p:sp>
        <p:nvSpPr>
          <p:cNvPr id="50" name="fig01-text-43"/>
          <p:cNvSpPr txBox="1"/>
          <p:nvPr/>
        </p:nvSpPr>
        <p:spPr>
          <a:xfrm>
            <a:off x="714240" y="3986280"/>
            <a:ext cx="10001160" cy="421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zh-CN" sz="1130" spc="-1" strike="noStrike">
                <a:solidFill>
                  <a:srgbClr val="161a25"/>
                </a:solidFill>
                <a:latin typeface="PingFang SC"/>
              </a:rPr>
              <a:t>未来 </a:t>
            </a:r>
            <a:r>
              <a:rPr b="1" lang="en-US" sz="1130" spc="-1" strike="noStrike">
                <a:solidFill>
                  <a:srgbClr val="161a25"/>
                </a:solidFill>
                <a:latin typeface="PingFang SC"/>
              </a:rPr>
              <a:t>04 </a:t>
            </a:r>
            <a:r>
              <a:rPr b="1" lang="zh-CN" sz="1130" spc="-1" strike="noStrike">
                <a:solidFill>
                  <a:srgbClr val="161a25"/>
                </a:solidFill>
                <a:latin typeface="PingFang SC"/>
              </a:rPr>
              <a:t>系统专项接口</a:t>
            </a:r>
            <a:endParaRPr b="1" lang="en-US" sz="1130" spc="-1" strike="noStrike">
              <a:solidFill>
                <a:srgbClr val="161a25"/>
              </a:solidFill>
              <a:latin typeface="PingFang SC"/>
              <a:ea typeface="PingFang SC"/>
            </a:endParaRPr>
          </a:p>
        </p:txBody>
      </p:sp>
      <p:sp>
        <p:nvSpPr>
          <p:cNvPr id="51" name="fig01-text-44"/>
          <p:cNvSpPr txBox="1"/>
          <p:nvPr/>
        </p:nvSpPr>
        <p:spPr>
          <a:xfrm>
            <a:off x="723960" y="4311720"/>
            <a:ext cx="4957560" cy="752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zh-CN" sz="900" spc="-1" strike="noStrike">
                <a:solidFill>
                  <a:srgbClr val="667085"/>
                </a:solidFill>
                <a:latin typeface="PingFang SC"/>
              </a:rPr>
              <a:t>承接经业务审核后的技术架构、数据模型、接口、权限与 </a:t>
            </a:r>
            <a:r>
              <a:rPr b="0" lang="en-US" sz="900" spc="-1" strike="noStrike">
                <a:solidFill>
                  <a:srgbClr val="667085"/>
                </a:solidFill>
                <a:latin typeface="PingFang SC"/>
              </a:rPr>
              <a:t>MVP </a:t>
            </a:r>
            <a:r>
              <a:rPr b="0" lang="zh-CN" sz="900" spc="-1" strike="noStrike">
                <a:solidFill>
                  <a:srgbClr val="667085"/>
                </a:solidFill>
                <a:latin typeface="PingFang SC"/>
              </a:rPr>
              <a:t>设计；本轮仅预留接口。</a:t>
            </a:r>
            <a:endParaRPr b="0" lang="en-US" sz="900" spc="-1" strike="noStrike">
              <a:solidFill>
                <a:srgbClr val="667085"/>
              </a:solidFill>
              <a:latin typeface="PingFang SC"/>
              <a:ea typeface="PingFang SC"/>
            </a:endParaRPr>
          </a:p>
        </p:txBody>
      </p:sp>
      <p:sp>
        <p:nvSpPr>
          <p:cNvPr id="52" name="fig01-card"/>
          <p:cNvSpPr/>
          <p:nvPr/>
        </p:nvSpPr>
        <p:spPr>
          <a:xfrm>
            <a:off x="571680" y="4524480"/>
            <a:ext cx="47520" cy="209520"/>
          </a:xfrm>
          <a:prstGeom prst="roundRect">
            <a:avLst/>
          </a:prstGeom>
          <a:solidFill>
            <a:srgbClr val="4f46e5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3" name="fig01-text-46"/>
          <p:cNvSpPr txBox="1"/>
          <p:nvPr/>
        </p:nvSpPr>
        <p:spPr>
          <a:xfrm>
            <a:off x="743040" y="4604400"/>
            <a:ext cx="236520" cy="85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750" spc="-1" strike="noStrike">
                <a:solidFill>
                  <a:srgbClr val="4f46e5"/>
                </a:solidFill>
                <a:latin typeface="IBM Plex Mono"/>
              </a:rPr>
              <a:t>01B</a:t>
            </a:r>
            <a:endParaRPr b="1" lang="en-US" sz="750" spc="-1" strike="noStrike">
              <a:solidFill>
                <a:srgbClr val="4f46e5"/>
              </a:solidFill>
              <a:latin typeface="IBM Plex Mono"/>
              <a:ea typeface="IBM Plex Mono"/>
            </a:endParaRPr>
          </a:p>
        </p:txBody>
      </p:sp>
      <p:sp>
        <p:nvSpPr>
          <p:cNvPr id="54" name="fig01-text-47"/>
          <p:cNvSpPr txBox="1"/>
          <p:nvPr/>
        </p:nvSpPr>
        <p:spPr>
          <a:xfrm>
            <a:off x="1428840" y="4555080"/>
            <a:ext cx="2986200" cy="752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zh-CN" sz="1200" spc="-1" strike="noStrike">
                <a:solidFill>
                  <a:srgbClr val="161a25"/>
                </a:solidFill>
                <a:latin typeface="PingFang SC"/>
              </a:rPr>
              <a:t>双数智引擎与共用业务对象 </a:t>
            </a:r>
            <a:r>
              <a:rPr b="1" lang="en-US" sz="1200" spc="-1" strike="noStrike">
                <a:solidFill>
                  <a:srgbClr val="161a25"/>
                </a:solidFill>
                <a:latin typeface="PingFang SC"/>
              </a:rPr>
              <a:t>/ </a:t>
            </a:r>
            <a:r>
              <a:rPr b="1" lang="zh-CN" sz="1200" spc="-1" strike="noStrike">
                <a:solidFill>
                  <a:srgbClr val="161a25"/>
                </a:solidFill>
                <a:latin typeface="PingFang SC"/>
              </a:rPr>
              <a:t>规则体系</a:t>
            </a:r>
            <a:endParaRPr b="1" lang="en-US" sz="1200" spc="-1" strike="noStrike">
              <a:solidFill>
                <a:srgbClr val="161a25"/>
              </a:solidFill>
              <a:latin typeface="PingFang SC"/>
              <a:ea typeface="PingFang SC"/>
            </a:endParaRPr>
          </a:p>
        </p:txBody>
      </p:sp>
      <p:sp>
        <p:nvSpPr>
          <p:cNvPr id="55" name="fig01-text-48"/>
          <p:cNvSpPr txBox="1"/>
          <p:nvPr/>
        </p:nvSpPr>
        <p:spPr>
          <a:xfrm>
            <a:off x="9418680" y="4597920"/>
            <a:ext cx="1439640" cy="1082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algn="r"/>
            <a:r>
              <a:rPr b="0" lang="zh-CN" sz="810" spc="-1" strike="noStrike">
                <a:solidFill>
                  <a:srgbClr val="667085"/>
                </a:solidFill>
                <a:latin typeface="PingFang SC"/>
              </a:rPr>
              <a:t>两个引擎协同，不互相替代</a:t>
            </a:r>
            <a:endParaRPr b="0" lang="en-US" sz="810" spc="-1" strike="noStrike">
              <a:solidFill>
                <a:srgbClr val="667085"/>
              </a:solidFill>
              <a:latin typeface="PingFang SC"/>
              <a:ea typeface="PingFang SC"/>
            </a:endParaRPr>
          </a:p>
        </p:txBody>
      </p:sp>
      <p:sp>
        <p:nvSpPr>
          <p:cNvPr id="56" name="fig01-card"/>
          <p:cNvSpPr/>
          <p:nvPr/>
        </p:nvSpPr>
        <p:spPr>
          <a:xfrm>
            <a:off x="571680" y="4952880"/>
            <a:ext cx="4762440" cy="2762280"/>
          </a:xfrm>
          <a:prstGeom prst="roundRect">
            <a:avLst/>
          </a:prstGeom>
          <a:solidFill>
            <a:srgbClr val="eef6ff"/>
          </a:solidFill>
          <a:ln w="11520">
            <a:solidFill>
              <a:srgbClr val="2d8eff"/>
            </a:solidFill>
            <a:round/>
          </a:ln>
        </p:spPr>
        <p:txBody>
          <a:bodyPr lIns="95760" rIns="95760" tIns="50760" bIns="5076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" name="fig01-card"/>
          <p:cNvSpPr/>
          <p:nvPr/>
        </p:nvSpPr>
        <p:spPr>
          <a:xfrm>
            <a:off x="704880" y="5086440"/>
            <a:ext cx="2356560" cy="190440"/>
          </a:xfrm>
          <a:prstGeom prst="roundRect">
            <a:avLst/>
          </a:prstGeom>
          <a:solidFill>
            <a:srgbClr val="e6f1ff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" name="fig01-text-51"/>
          <p:cNvSpPr txBox="1"/>
          <p:nvPr/>
        </p:nvSpPr>
        <p:spPr>
          <a:xfrm>
            <a:off x="790560" y="5137920"/>
            <a:ext cx="1770480" cy="85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750" spc="-1" strike="noStrike">
                <a:solidFill>
                  <a:srgbClr val="2d8eff"/>
                </a:solidFill>
                <a:latin typeface="IBM Plex Mono"/>
              </a:rPr>
              <a:t>ENGINE A · EXISTING + CANDIDATE</a:t>
            </a:r>
            <a:endParaRPr b="1" lang="en-US" sz="750" spc="-1" strike="noStrike">
              <a:solidFill>
                <a:srgbClr val="2d8eff"/>
              </a:solidFill>
              <a:latin typeface="IBM Plex Mono"/>
              <a:ea typeface="IBM Plex Mono"/>
            </a:endParaRPr>
          </a:p>
        </p:txBody>
      </p:sp>
      <p:sp>
        <p:nvSpPr>
          <p:cNvPr id="59" name="fig01-text-52"/>
          <p:cNvSpPr txBox="1"/>
          <p:nvPr/>
        </p:nvSpPr>
        <p:spPr>
          <a:xfrm>
            <a:off x="714240" y="5300640"/>
            <a:ext cx="4476600" cy="421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zh-CN" sz="1130" spc="-1" strike="noStrike">
                <a:solidFill>
                  <a:srgbClr val="161a25"/>
                </a:solidFill>
                <a:latin typeface="PingFang SC"/>
              </a:rPr>
              <a:t>经营数据数智引擎</a:t>
            </a:r>
            <a:endParaRPr b="1" lang="en-US" sz="1130" spc="-1" strike="noStrike">
              <a:solidFill>
                <a:srgbClr val="161a25"/>
              </a:solidFill>
              <a:latin typeface="PingFang SC"/>
              <a:ea typeface="PingFang SC"/>
            </a:endParaRPr>
          </a:p>
        </p:txBody>
      </p:sp>
      <p:sp>
        <p:nvSpPr>
          <p:cNvPr id="60" name="fig01-text-53"/>
          <p:cNvSpPr txBox="1"/>
          <p:nvPr/>
        </p:nvSpPr>
        <p:spPr>
          <a:xfrm>
            <a:off x="714240" y="5511960"/>
            <a:ext cx="4476600" cy="2075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zh-CN" sz="900" spc="-1" strike="noStrike">
                <a:solidFill>
                  <a:srgbClr val="667085"/>
                </a:solidFill>
                <a:latin typeface="PingFang SC"/>
              </a:rPr>
              <a:t>原始事实采集 → 标准化 → 对账 → 计算与追溯 → 经营分析</a:t>
            </a:r>
            <a:endParaRPr b="0" lang="en-US" sz="900" spc="-1" strike="noStrike">
              <a:solidFill>
                <a:srgbClr val="667085"/>
              </a:solidFill>
              <a:latin typeface="PingFang SC"/>
              <a:ea typeface="PingFang SC"/>
            </a:endParaRPr>
          </a:p>
          <a:p>
            <a:r>
              <a:rPr b="0" lang="zh-CN" sz="900" spc="-1" strike="noStrike">
                <a:solidFill>
                  <a:srgbClr val="667085"/>
                </a:solidFill>
                <a:latin typeface="PingFang SC"/>
              </a:rPr>
              <a:t>保留：来源、时间、处理批次、责任源、差异原因与数据血缘</a:t>
            </a:r>
            <a:endParaRPr b="0" lang="en-US" sz="900" spc="-1" strike="noStrike">
              <a:solidFill>
                <a:srgbClr val="667085"/>
              </a:solidFill>
              <a:latin typeface="PingFang SC"/>
              <a:ea typeface="PingFang SC"/>
            </a:endParaRPr>
          </a:p>
          <a:p>
            <a:r>
              <a:rPr b="0" lang="zh-CN" sz="900" spc="-1" strike="noStrike">
                <a:solidFill>
                  <a:srgbClr val="667085"/>
                </a:solidFill>
                <a:latin typeface="PingFang SC"/>
              </a:rPr>
              <a:t>边界：不覆盖原始事实；分析指标不反向充当订单 </a:t>
            </a:r>
            <a:r>
              <a:rPr b="0" lang="en-US" sz="900" spc="-1" strike="noStrike">
                <a:solidFill>
                  <a:srgbClr val="667085"/>
                </a:solidFill>
                <a:latin typeface="PingFang SC"/>
              </a:rPr>
              <a:t>/ </a:t>
            </a:r>
            <a:r>
              <a:rPr b="0" lang="zh-CN" sz="900" spc="-1" strike="noStrike">
                <a:solidFill>
                  <a:srgbClr val="667085"/>
                </a:solidFill>
                <a:latin typeface="PingFang SC"/>
              </a:rPr>
              <a:t>库存 </a:t>
            </a:r>
            <a:r>
              <a:rPr b="0" lang="en-US" sz="900" spc="-1" strike="noStrike">
                <a:solidFill>
                  <a:srgbClr val="667085"/>
                </a:solidFill>
                <a:latin typeface="PingFang SC"/>
              </a:rPr>
              <a:t>/ </a:t>
            </a:r>
            <a:r>
              <a:rPr b="0" lang="zh-CN" sz="900" spc="-1" strike="noStrike">
                <a:solidFill>
                  <a:srgbClr val="667085"/>
                </a:solidFill>
                <a:latin typeface="PingFang SC"/>
              </a:rPr>
              <a:t>批次事实</a:t>
            </a:r>
            <a:endParaRPr b="0" lang="en-US" sz="900" spc="-1" strike="noStrike">
              <a:solidFill>
                <a:srgbClr val="667085"/>
              </a:solidFill>
              <a:latin typeface="PingFang SC"/>
              <a:ea typeface="PingFang SC"/>
            </a:endParaRPr>
          </a:p>
        </p:txBody>
      </p:sp>
      <p:sp>
        <p:nvSpPr>
          <p:cNvPr id="61" name="fig01-card"/>
          <p:cNvSpPr/>
          <p:nvPr/>
        </p:nvSpPr>
        <p:spPr>
          <a:xfrm>
            <a:off x="743040" y="6715080"/>
            <a:ext cx="1219320" cy="209520"/>
          </a:xfrm>
          <a:prstGeom prst="roundRect">
            <a:avLst/>
          </a:prstGeom>
          <a:solidFill>
            <a:srgbClr val="fcfeff"/>
          </a:solidFill>
          <a:ln w="7560">
            <a:solidFill>
              <a:srgbClr val="2d8eff"/>
            </a:solidFill>
            <a:round/>
          </a:ln>
        </p:spPr>
        <p:txBody>
          <a:bodyPr lIns="93600" rIns="93600" tIns="48600" bIns="4860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" name="fig01-text-55"/>
          <p:cNvSpPr txBox="1"/>
          <p:nvPr/>
        </p:nvSpPr>
        <p:spPr>
          <a:xfrm>
            <a:off x="1110600" y="6775920"/>
            <a:ext cx="483840" cy="1413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algn="ctr"/>
            <a:r>
              <a:rPr b="1" lang="zh-CN" sz="750" spc="-1" strike="noStrike">
                <a:solidFill>
                  <a:srgbClr val="2d8eff"/>
                </a:solidFill>
                <a:latin typeface="IBM Plex Mono"/>
              </a:rPr>
              <a:t>原始事实</a:t>
            </a:r>
            <a:endParaRPr b="1" lang="en-US" sz="750" spc="-1" strike="noStrike">
              <a:solidFill>
                <a:srgbClr val="2d8eff"/>
              </a:solidFill>
              <a:latin typeface="IBM Plex Mono"/>
              <a:ea typeface="IBM Plex Mono"/>
            </a:endParaRPr>
          </a:p>
        </p:txBody>
      </p:sp>
      <p:sp>
        <p:nvSpPr>
          <p:cNvPr id="63" name="fig01-card"/>
          <p:cNvSpPr/>
          <p:nvPr/>
        </p:nvSpPr>
        <p:spPr>
          <a:xfrm>
            <a:off x="2124000" y="6715080"/>
            <a:ext cx="1219320" cy="209520"/>
          </a:xfrm>
          <a:prstGeom prst="roundRect">
            <a:avLst/>
          </a:prstGeom>
          <a:solidFill>
            <a:srgbClr val="fcfeff"/>
          </a:solidFill>
          <a:ln w="7560">
            <a:solidFill>
              <a:srgbClr val="2d8eff"/>
            </a:solidFill>
            <a:round/>
          </a:ln>
        </p:spPr>
        <p:txBody>
          <a:bodyPr lIns="93600" rIns="93600" tIns="48600" bIns="4860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" name="fig01-text-57"/>
          <p:cNvSpPr txBox="1"/>
          <p:nvPr/>
        </p:nvSpPr>
        <p:spPr>
          <a:xfrm>
            <a:off x="2438280" y="6775920"/>
            <a:ext cx="590400" cy="1744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algn="ctr"/>
            <a:r>
              <a:rPr b="1" lang="zh-CN" sz="750" spc="-1" strike="noStrike">
                <a:solidFill>
                  <a:srgbClr val="2d8eff"/>
                </a:solidFill>
                <a:latin typeface="IBM Plex Mono"/>
              </a:rPr>
              <a:t>标准化事实</a:t>
            </a:r>
            <a:endParaRPr b="1" lang="en-US" sz="750" spc="-1" strike="noStrike">
              <a:solidFill>
                <a:srgbClr val="2d8eff"/>
              </a:solidFill>
              <a:latin typeface="IBM Plex Mono"/>
              <a:ea typeface="IBM Plex Mono"/>
            </a:endParaRPr>
          </a:p>
        </p:txBody>
      </p:sp>
      <p:sp>
        <p:nvSpPr>
          <p:cNvPr id="65" name="fig01-card"/>
          <p:cNvSpPr/>
          <p:nvPr/>
        </p:nvSpPr>
        <p:spPr>
          <a:xfrm>
            <a:off x="3505320" y="6715080"/>
            <a:ext cx="1219320" cy="209520"/>
          </a:xfrm>
          <a:prstGeom prst="roundRect">
            <a:avLst/>
          </a:prstGeom>
          <a:solidFill>
            <a:srgbClr val="fcfeff"/>
          </a:solidFill>
          <a:ln w="7560">
            <a:solidFill>
              <a:srgbClr val="2d8eff"/>
            </a:solidFill>
            <a:round/>
          </a:ln>
        </p:spPr>
        <p:txBody>
          <a:bodyPr lIns="93600" rIns="93600" tIns="48600" bIns="4860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" name="fig01-text-59"/>
          <p:cNvSpPr txBox="1"/>
          <p:nvPr/>
        </p:nvSpPr>
        <p:spPr>
          <a:xfrm>
            <a:off x="3872880" y="6775920"/>
            <a:ext cx="483840" cy="1413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algn="ctr"/>
            <a:r>
              <a:rPr b="1" lang="zh-CN" sz="750" spc="-1" strike="noStrike">
                <a:solidFill>
                  <a:srgbClr val="2d8eff"/>
                </a:solidFill>
                <a:latin typeface="IBM Plex Mono"/>
              </a:rPr>
              <a:t>对账差异</a:t>
            </a:r>
            <a:endParaRPr b="1" lang="en-US" sz="750" spc="-1" strike="noStrike">
              <a:solidFill>
                <a:srgbClr val="2d8eff"/>
              </a:solidFill>
              <a:latin typeface="IBM Plex Mono"/>
              <a:ea typeface="IBM Plex Mono"/>
            </a:endParaRPr>
          </a:p>
        </p:txBody>
      </p:sp>
      <p:sp>
        <p:nvSpPr>
          <p:cNvPr id="67" name="fig01-card"/>
          <p:cNvSpPr/>
          <p:nvPr/>
        </p:nvSpPr>
        <p:spPr>
          <a:xfrm>
            <a:off x="743040" y="7048440"/>
            <a:ext cx="1219320" cy="209520"/>
          </a:xfrm>
          <a:prstGeom prst="roundRect">
            <a:avLst/>
          </a:prstGeom>
          <a:solidFill>
            <a:srgbClr val="fcfeff"/>
          </a:solidFill>
          <a:ln w="7560">
            <a:solidFill>
              <a:srgbClr val="2d8eff"/>
            </a:solidFill>
            <a:round/>
          </a:ln>
        </p:spPr>
        <p:txBody>
          <a:bodyPr lIns="93600" rIns="93600" tIns="48600" bIns="4860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" name="fig01-text-61"/>
          <p:cNvSpPr txBox="1"/>
          <p:nvPr/>
        </p:nvSpPr>
        <p:spPr>
          <a:xfrm>
            <a:off x="1110600" y="7109280"/>
            <a:ext cx="483840" cy="1413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algn="ctr"/>
            <a:r>
              <a:rPr b="1" lang="zh-CN" sz="750" spc="-1" strike="noStrike">
                <a:solidFill>
                  <a:srgbClr val="2d8eff"/>
                </a:solidFill>
                <a:latin typeface="IBM Plex Mono"/>
              </a:rPr>
              <a:t>计算结果</a:t>
            </a:r>
            <a:endParaRPr b="1" lang="en-US" sz="750" spc="-1" strike="noStrike">
              <a:solidFill>
                <a:srgbClr val="2d8eff"/>
              </a:solidFill>
              <a:latin typeface="IBM Plex Mono"/>
              <a:ea typeface="IBM Plex Mono"/>
            </a:endParaRPr>
          </a:p>
        </p:txBody>
      </p:sp>
      <p:sp>
        <p:nvSpPr>
          <p:cNvPr id="69" name="fig01-card"/>
          <p:cNvSpPr/>
          <p:nvPr/>
        </p:nvSpPr>
        <p:spPr>
          <a:xfrm>
            <a:off x="2124000" y="7048440"/>
            <a:ext cx="1219320" cy="209520"/>
          </a:xfrm>
          <a:prstGeom prst="roundRect">
            <a:avLst/>
          </a:prstGeom>
          <a:solidFill>
            <a:srgbClr val="fcfeff"/>
          </a:solidFill>
          <a:ln w="7560">
            <a:solidFill>
              <a:srgbClr val="2d8eff"/>
            </a:solidFill>
            <a:round/>
          </a:ln>
        </p:spPr>
        <p:txBody>
          <a:bodyPr lIns="93600" rIns="93600" tIns="48600" bIns="4860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" name="fig01-text-63"/>
          <p:cNvSpPr txBox="1"/>
          <p:nvPr/>
        </p:nvSpPr>
        <p:spPr>
          <a:xfrm>
            <a:off x="2491920" y="7109280"/>
            <a:ext cx="483840" cy="1413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algn="ctr"/>
            <a:r>
              <a:rPr b="1" lang="zh-CN" sz="750" spc="-1" strike="noStrike">
                <a:solidFill>
                  <a:srgbClr val="2d8eff"/>
                </a:solidFill>
                <a:latin typeface="IBM Plex Mono"/>
              </a:rPr>
              <a:t>经营洞察</a:t>
            </a:r>
            <a:endParaRPr b="1" lang="en-US" sz="750" spc="-1" strike="noStrike">
              <a:solidFill>
                <a:srgbClr val="2d8eff"/>
              </a:solidFill>
              <a:latin typeface="IBM Plex Mono"/>
              <a:ea typeface="IBM Plex Mono"/>
            </a:endParaRPr>
          </a:p>
        </p:txBody>
      </p:sp>
      <p:sp>
        <p:nvSpPr>
          <p:cNvPr id="71" name="fig01-card"/>
          <p:cNvSpPr/>
          <p:nvPr/>
        </p:nvSpPr>
        <p:spPr>
          <a:xfrm>
            <a:off x="6095880" y="4952880"/>
            <a:ext cx="4762440" cy="2762280"/>
          </a:xfrm>
          <a:prstGeom prst="roundRect">
            <a:avLst/>
          </a:prstGeom>
          <a:solidFill>
            <a:srgbClr val="f5f1ff"/>
          </a:solidFill>
          <a:ln w="11520">
            <a:solidFill>
              <a:srgbClr val="8b5aca"/>
            </a:solidFill>
            <a:round/>
          </a:ln>
        </p:spPr>
        <p:txBody>
          <a:bodyPr lIns="95760" rIns="95760" tIns="50760" bIns="5076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" name="fig01-card"/>
          <p:cNvSpPr/>
          <p:nvPr/>
        </p:nvSpPr>
        <p:spPr>
          <a:xfrm>
            <a:off x="6229440" y="5086440"/>
            <a:ext cx="1581120" cy="190440"/>
          </a:xfrm>
          <a:prstGeom prst="roundRect">
            <a:avLst/>
          </a:prstGeom>
          <a:solidFill>
            <a:srgbClr val="f1ebf9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" name="fig01-text-66"/>
          <p:cNvSpPr txBox="1"/>
          <p:nvPr/>
        </p:nvSpPr>
        <p:spPr>
          <a:xfrm>
            <a:off x="6315120" y="5137920"/>
            <a:ext cx="1168920" cy="1114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750" spc="-1" strike="noStrike">
                <a:solidFill>
                  <a:srgbClr val="8b5aca"/>
                </a:solidFill>
                <a:latin typeface="IBM Plex Mono"/>
              </a:rPr>
              <a:t>ENGINE B · CANDIDATE</a:t>
            </a:r>
            <a:endParaRPr b="1" lang="en-US" sz="750" spc="-1" strike="noStrike">
              <a:solidFill>
                <a:srgbClr val="8b5aca"/>
              </a:solidFill>
              <a:latin typeface="IBM Plex Mono"/>
              <a:ea typeface="IBM Plex Mono"/>
            </a:endParaRPr>
          </a:p>
        </p:txBody>
      </p:sp>
      <p:sp>
        <p:nvSpPr>
          <p:cNvPr id="74" name="fig01-text-67"/>
          <p:cNvSpPr txBox="1"/>
          <p:nvPr/>
        </p:nvSpPr>
        <p:spPr>
          <a:xfrm>
            <a:off x="6238800" y="5300640"/>
            <a:ext cx="4476600" cy="421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zh-CN" sz="1130" spc="-1" strike="noStrike">
                <a:solidFill>
                  <a:srgbClr val="161a25"/>
                </a:solidFill>
                <a:latin typeface="PingFang SC"/>
              </a:rPr>
              <a:t>菜单与运营数智引擎</a:t>
            </a:r>
            <a:endParaRPr b="1" lang="en-US" sz="1130" spc="-1" strike="noStrike">
              <a:solidFill>
                <a:srgbClr val="161a25"/>
              </a:solidFill>
              <a:latin typeface="PingFang SC"/>
              <a:ea typeface="PingFang SC"/>
            </a:endParaRPr>
          </a:p>
        </p:txBody>
      </p:sp>
      <p:sp>
        <p:nvSpPr>
          <p:cNvPr id="75" name="fig01-text-68"/>
          <p:cNvSpPr txBox="1"/>
          <p:nvPr/>
        </p:nvSpPr>
        <p:spPr>
          <a:xfrm>
            <a:off x="6238800" y="5511960"/>
            <a:ext cx="4476600" cy="2406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zh-CN" sz="900" spc="-1" strike="noStrike">
                <a:solidFill>
                  <a:srgbClr val="667085"/>
                </a:solidFill>
                <a:latin typeface="PingFang SC"/>
              </a:rPr>
              <a:t>场景菜单 → 产品组合 → 预测 </a:t>
            </a:r>
            <a:r>
              <a:rPr b="0" lang="en-US" sz="900" spc="-1" strike="noStrike">
                <a:solidFill>
                  <a:srgbClr val="667085"/>
                </a:solidFill>
                <a:latin typeface="PingFang SC"/>
              </a:rPr>
              <a:t>/ </a:t>
            </a:r>
            <a:r>
              <a:rPr b="0" lang="zh-CN" sz="900" spc="-1" strike="noStrike">
                <a:solidFill>
                  <a:srgbClr val="667085"/>
                </a:solidFill>
                <a:latin typeface="PingFang SC"/>
              </a:rPr>
              <a:t>确认需求 → 采购 </a:t>
            </a:r>
            <a:r>
              <a:rPr b="0" lang="en-US" sz="900" spc="-1" strike="noStrike">
                <a:solidFill>
                  <a:srgbClr val="667085"/>
                </a:solidFill>
                <a:latin typeface="PingFang SC"/>
              </a:rPr>
              <a:t>/ </a:t>
            </a:r>
            <a:r>
              <a:rPr b="0" lang="zh-CN" sz="900" spc="-1" strike="noStrike">
                <a:solidFill>
                  <a:srgbClr val="667085"/>
                </a:solidFill>
                <a:latin typeface="PingFang SC"/>
              </a:rPr>
              <a:t>库存 → 生产 </a:t>
            </a:r>
            <a:r>
              <a:rPr b="0" lang="en-US" sz="900" spc="-1" strike="noStrike">
                <a:solidFill>
                  <a:srgbClr val="667085"/>
                </a:solidFill>
                <a:latin typeface="PingFang SC"/>
              </a:rPr>
              <a:t>/ </a:t>
            </a:r>
            <a:r>
              <a:rPr b="0" lang="zh-CN" sz="900" spc="-1" strike="noStrike">
                <a:solidFill>
                  <a:srgbClr val="667085"/>
                </a:solidFill>
                <a:latin typeface="PingFang SC"/>
              </a:rPr>
              <a:t>排工 → 配送 </a:t>
            </a:r>
            <a:r>
              <a:rPr b="0" lang="en-US" sz="900" spc="-1" strike="noStrike">
                <a:solidFill>
                  <a:srgbClr val="667085"/>
                </a:solidFill>
                <a:latin typeface="PingFang SC"/>
              </a:rPr>
              <a:t>/ </a:t>
            </a:r>
            <a:r>
              <a:rPr b="0" lang="zh-CN" sz="900" spc="-1" strike="noStrike">
                <a:solidFill>
                  <a:srgbClr val="667085"/>
                </a:solidFill>
                <a:latin typeface="PingFang SC"/>
              </a:rPr>
              <a:t>反馈</a:t>
            </a:r>
            <a:endParaRPr b="0" lang="en-US" sz="900" spc="-1" strike="noStrike">
              <a:solidFill>
                <a:srgbClr val="667085"/>
              </a:solidFill>
              <a:latin typeface="PingFang SC"/>
              <a:ea typeface="PingFang SC"/>
            </a:endParaRPr>
          </a:p>
          <a:p>
            <a:r>
              <a:rPr b="0" lang="zh-CN" sz="900" spc="-1" strike="noStrike">
                <a:solidFill>
                  <a:srgbClr val="667085"/>
                </a:solidFill>
                <a:latin typeface="PingFang SC"/>
              </a:rPr>
              <a:t>形成：菜单版本、需求计划、生产计划、</a:t>
            </a:r>
            <a:r>
              <a:rPr b="0" lang="en-US" sz="900" spc="-1" strike="noStrike">
                <a:solidFill>
                  <a:srgbClr val="667085"/>
                </a:solidFill>
                <a:latin typeface="PingFang SC"/>
              </a:rPr>
              <a:t>MRP</a:t>
            </a:r>
            <a:r>
              <a:rPr b="0" lang="zh-CN" sz="900" spc="-1" strike="noStrike">
                <a:solidFill>
                  <a:srgbClr val="667085"/>
                </a:solidFill>
                <a:latin typeface="PingFang SC"/>
              </a:rPr>
              <a:t>、执行任务与履约反馈</a:t>
            </a:r>
            <a:endParaRPr b="0" lang="en-US" sz="900" spc="-1" strike="noStrike">
              <a:solidFill>
                <a:srgbClr val="667085"/>
              </a:solidFill>
              <a:latin typeface="PingFang SC"/>
              <a:ea typeface="PingFang SC"/>
            </a:endParaRPr>
          </a:p>
          <a:p>
            <a:r>
              <a:rPr b="0" lang="zh-CN" sz="900" spc="-1" strike="noStrike">
                <a:solidFill>
                  <a:srgbClr val="667085"/>
                </a:solidFill>
                <a:latin typeface="PingFang SC"/>
              </a:rPr>
              <a:t>边界：系统规则辅助判断；不替代专业审核、授权或异常裁决</a:t>
            </a:r>
            <a:endParaRPr b="0" lang="en-US" sz="900" spc="-1" strike="noStrike">
              <a:solidFill>
                <a:srgbClr val="667085"/>
              </a:solidFill>
              <a:latin typeface="PingFang SC"/>
              <a:ea typeface="PingFang SC"/>
            </a:endParaRPr>
          </a:p>
        </p:txBody>
      </p:sp>
      <p:sp>
        <p:nvSpPr>
          <p:cNvPr id="76" name="fig01-card"/>
          <p:cNvSpPr/>
          <p:nvPr/>
        </p:nvSpPr>
        <p:spPr>
          <a:xfrm>
            <a:off x="6267600" y="6715080"/>
            <a:ext cx="1219320" cy="209520"/>
          </a:xfrm>
          <a:prstGeom prst="roundRect">
            <a:avLst/>
          </a:prstGeom>
          <a:solidFill>
            <a:srgbClr val="fdfdff"/>
          </a:solidFill>
          <a:ln w="7560">
            <a:solidFill>
              <a:srgbClr val="8b5aca"/>
            </a:solidFill>
            <a:round/>
          </a:ln>
        </p:spPr>
        <p:txBody>
          <a:bodyPr lIns="93600" rIns="93600" tIns="48600" bIns="4860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" name="fig01-text-70"/>
          <p:cNvSpPr txBox="1"/>
          <p:nvPr/>
        </p:nvSpPr>
        <p:spPr>
          <a:xfrm>
            <a:off x="6635160" y="6775920"/>
            <a:ext cx="483840" cy="1413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algn="ctr"/>
            <a:r>
              <a:rPr b="1" lang="zh-CN" sz="750" spc="-1" strike="noStrike">
                <a:solidFill>
                  <a:srgbClr val="8b5aca"/>
                </a:solidFill>
                <a:latin typeface="IBM Plex Mono"/>
              </a:rPr>
              <a:t>场景菜单</a:t>
            </a:r>
            <a:endParaRPr b="1" lang="en-US" sz="750" spc="-1" strike="noStrike">
              <a:solidFill>
                <a:srgbClr val="8b5aca"/>
              </a:solidFill>
              <a:latin typeface="IBM Plex Mono"/>
              <a:ea typeface="IBM Plex Mono"/>
            </a:endParaRPr>
          </a:p>
        </p:txBody>
      </p:sp>
      <p:sp>
        <p:nvSpPr>
          <p:cNvPr id="78" name="fig01-card"/>
          <p:cNvSpPr/>
          <p:nvPr/>
        </p:nvSpPr>
        <p:spPr>
          <a:xfrm>
            <a:off x="7648560" y="6715080"/>
            <a:ext cx="1219320" cy="209520"/>
          </a:xfrm>
          <a:prstGeom prst="roundRect">
            <a:avLst/>
          </a:prstGeom>
          <a:solidFill>
            <a:srgbClr val="fdfdff"/>
          </a:solidFill>
          <a:ln w="7560">
            <a:solidFill>
              <a:srgbClr val="8b5aca"/>
            </a:solidFill>
            <a:round/>
          </a:ln>
        </p:spPr>
        <p:txBody>
          <a:bodyPr lIns="93600" rIns="93600" tIns="48600" bIns="4860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9" name="fig01-text-72"/>
          <p:cNvSpPr txBox="1"/>
          <p:nvPr/>
        </p:nvSpPr>
        <p:spPr>
          <a:xfrm>
            <a:off x="8016120" y="6775920"/>
            <a:ext cx="483840" cy="1413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algn="ctr"/>
            <a:r>
              <a:rPr b="1" lang="zh-CN" sz="750" spc="-1" strike="noStrike">
                <a:solidFill>
                  <a:srgbClr val="8b5aca"/>
                </a:solidFill>
                <a:latin typeface="IBM Plex Mono"/>
              </a:rPr>
              <a:t>需求计划</a:t>
            </a:r>
            <a:endParaRPr b="1" lang="en-US" sz="750" spc="-1" strike="noStrike">
              <a:solidFill>
                <a:srgbClr val="8b5aca"/>
              </a:solidFill>
              <a:latin typeface="IBM Plex Mono"/>
              <a:ea typeface="IBM Plex Mono"/>
            </a:endParaRPr>
          </a:p>
        </p:txBody>
      </p:sp>
      <p:sp>
        <p:nvSpPr>
          <p:cNvPr id="80" name="fig01-card"/>
          <p:cNvSpPr/>
          <p:nvPr/>
        </p:nvSpPr>
        <p:spPr>
          <a:xfrm>
            <a:off x="9029520" y="6715080"/>
            <a:ext cx="1219320" cy="209520"/>
          </a:xfrm>
          <a:prstGeom prst="roundRect">
            <a:avLst/>
          </a:prstGeom>
          <a:solidFill>
            <a:srgbClr val="fdfdff"/>
          </a:solidFill>
          <a:ln w="7560">
            <a:solidFill>
              <a:srgbClr val="8b5aca"/>
            </a:solidFill>
            <a:round/>
          </a:ln>
        </p:spPr>
        <p:txBody>
          <a:bodyPr lIns="93600" rIns="93600" tIns="48600" bIns="4860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1" name="fig01-text-74"/>
          <p:cNvSpPr txBox="1"/>
          <p:nvPr/>
        </p:nvSpPr>
        <p:spPr>
          <a:xfrm>
            <a:off x="9397440" y="6775920"/>
            <a:ext cx="483840" cy="1413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algn="ctr"/>
            <a:r>
              <a:rPr b="1" lang="zh-CN" sz="750" spc="-1" strike="noStrike">
                <a:solidFill>
                  <a:srgbClr val="8b5aca"/>
                </a:solidFill>
                <a:latin typeface="IBM Plex Mono"/>
              </a:rPr>
              <a:t>生产计划</a:t>
            </a:r>
            <a:endParaRPr b="1" lang="en-US" sz="750" spc="-1" strike="noStrike">
              <a:solidFill>
                <a:srgbClr val="8b5aca"/>
              </a:solidFill>
              <a:latin typeface="IBM Plex Mono"/>
              <a:ea typeface="IBM Plex Mono"/>
            </a:endParaRPr>
          </a:p>
        </p:txBody>
      </p:sp>
      <p:sp>
        <p:nvSpPr>
          <p:cNvPr id="82" name="fig01-card"/>
          <p:cNvSpPr/>
          <p:nvPr/>
        </p:nvSpPr>
        <p:spPr>
          <a:xfrm>
            <a:off x="6267600" y="7048440"/>
            <a:ext cx="1219320" cy="209520"/>
          </a:xfrm>
          <a:prstGeom prst="roundRect">
            <a:avLst/>
          </a:prstGeom>
          <a:solidFill>
            <a:srgbClr val="fdfdff"/>
          </a:solidFill>
          <a:ln w="7560">
            <a:solidFill>
              <a:srgbClr val="8b5aca"/>
            </a:solidFill>
            <a:round/>
          </a:ln>
        </p:spPr>
        <p:txBody>
          <a:bodyPr lIns="93600" rIns="93600" tIns="48600" bIns="4860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3" name="fig01-text-76"/>
          <p:cNvSpPr txBox="1"/>
          <p:nvPr/>
        </p:nvSpPr>
        <p:spPr>
          <a:xfrm>
            <a:off x="6635160" y="7109280"/>
            <a:ext cx="483840" cy="1413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algn="ctr"/>
            <a:r>
              <a:rPr b="1" lang="zh-CN" sz="750" spc="-1" strike="noStrike">
                <a:solidFill>
                  <a:srgbClr val="8b5aca"/>
                </a:solidFill>
                <a:latin typeface="IBM Plex Mono"/>
              </a:rPr>
              <a:t>采购库存</a:t>
            </a:r>
            <a:endParaRPr b="1" lang="en-US" sz="750" spc="-1" strike="noStrike">
              <a:solidFill>
                <a:srgbClr val="8b5aca"/>
              </a:solidFill>
              <a:latin typeface="IBM Plex Mono"/>
              <a:ea typeface="IBM Plex Mono"/>
            </a:endParaRPr>
          </a:p>
        </p:txBody>
      </p:sp>
      <p:sp>
        <p:nvSpPr>
          <p:cNvPr id="84" name="fig01-card"/>
          <p:cNvSpPr/>
          <p:nvPr/>
        </p:nvSpPr>
        <p:spPr>
          <a:xfrm>
            <a:off x="7648560" y="7048440"/>
            <a:ext cx="1219320" cy="209520"/>
          </a:xfrm>
          <a:prstGeom prst="roundRect">
            <a:avLst/>
          </a:prstGeom>
          <a:solidFill>
            <a:srgbClr val="fdfdff"/>
          </a:solidFill>
          <a:ln w="7560">
            <a:solidFill>
              <a:srgbClr val="8b5aca"/>
            </a:solidFill>
            <a:round/>
          </a:ln>
        </p:spPr>
        <p:txBody>
          <a:bodyPr lIns="93600" rIns="93600" tIns="48600" bIns="4860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5" name="fig01-text-78"/>
          <p:cNvSpPr txBox="1"/>
          <p:nvPr/>
        </p:nvSpPr>
        <p:spPr>
          <a:xfrm>
            <a:off x="8016120" y="7109280"/>
            <a:ext cx="483840" cy="1413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algn="ctr"/>
            <a:r>
              <a:rPr b="1" lang="zh-CN" sz="750" spc="-1" strike="noStrike">
                <a:solidFill>
                  <a:srgbClr val="8b5aca"/>
                </a:solidFill>
                <a:latin typeface="IBM Plex Mono"/>
              </a:rPr>
              <a:t>履约反馈</a:t>
            </a:r>
            <a:endParaRPr b="1" lang="en-US" sz="750" spc="-1" strike="noStrike">
              <a:solidFill>
                <a:srgbClr val="8b5aca"/>
              </a:solidFill>
              <a:latin typeface="IBM Plex Mono"/>
              <a:ea typeface="IBM Plex Mono"/>
            </a:endParaRPr>
          </a:p>
        </p:txBody>
      </p:sp>
      <p:sp>
        <p:nvSpPr>
          <p:cNvPr id="86" name="fig01-card"/>
          <p:cNvSpPr/>
          <p:nvPr/>
        </p:nvSpPr>
        <p:spPr>
          <a:xfrm>
            <a:off x="3476520" y="7886880"/>
            <a:ext cx="4476600" cy="1066680"/>
          </a:xfrm>
          <a:prstGeom prst="roundRect">
            <a:avLst/>
          </a:prstGeom>
          <a:solidFill>
            <a:srgbClr val="f0f1ff"/>
          </a:solidFill>
          <a:ln w="11520">
            <a:solidFill>
              <a:srgbClr val="4f46e5"/>
            </a:solidFill>
            <a:round/>
          </a:ln>
        </p:spPr>
        <p:txBody>
          <a:bodyPr lIns="95760" rIns="95760" tIns="50760" bIns="5076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7" name="fig01-card"/>
          <p:cNvSpPr/>
          <p:nvPr/>
        </p:nvSpPr>
        <p:spPr>
          <a:xfrm>
            <a:off x="3610080" y="8020080"/>
            <a:ext cx="1792440" cy="190440"/>
          </a:xfrm>
          <a:prstGeom prst="roundRect">
            <a:avLst/>
          </a:prstGeom>
          <a:solidFill>
            <a:srgbClr val="eae9fc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8" name="fig01-text-81"/>
          <p:cNvSpPr txBox="1"/>
          <p:nvPr/>
        </p:nvSpPr>
        <p:spPr>
          <a:xfrm>
            <a:off x="3695760" y="8071560"/>
            <a:ext cx="1347840" cy="1114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750" spc="-1" strike="noStrike">
                <a:solidFill>
                  <a:srgbClr val="4f46e5"/>
                </a:solidFill>
                <a:latin typeface="IBM Plex Mono"/>
              </a:rPr>
              <a:t>SHARED CORE · CANDIDATE</a:t>
            </a:r>
            <a:endParaRPr b="1" lang="en-US" sz="750" spc="-1" strike="noStrike">
              <a:solidFill>
                <a:srgbClr val="4f46e5"/>
              </a:solidFill>
              <a:latin typeface="IBM Plex Mono"/>
              <a:ea typeface="IBM Plex Mono"/>
            </a:endParaRPr>
          </a:p>
        </p:txBody>
      </p:sp>
      <p:sp>
        <p:nvSpPr>
          <p:cNvPr id="89" name="fig01-text-82"/>
          <p:cNvSpPr txBox="1"/>
          <p:nvPr/>
        </p:nvSpPr>
        <p:spPr>
          <a:xfrm>
            <a:off x="3619440" y="8234280"/>
            <a:ext cx="4191120" cy="421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zh-CN" sz="1130" spc="-1" strike="noStrike">
                <a:solidFill>
                  <a:srgbClr val="161a25"/>
                </a:solidFill>
                <a:latin typeface="PingFang SC"/>
              </a:rPr>
              <a:t>共用业务对象与规则体系</a:t>
            </a:r>
            <a:endParaRPr b="1" lang="en-US" sz="1130" spc="-1" strike="noStrike">
              <a:solidFill>
                <a:srgbClr val="161a25"/>
              </a:solidFill>
              <a:latin typeface="PingFang SC"/>
              <a:ea typeface="PingFang SC"/>
            </a:endParaRPr>
          </a:p>
        </p:txBody>
      </p:sp>
      <p:sp>
        <p:nvSpPr>
          <p:cNvPr id="90" name="fig01-text-83"/>
          <p:cNvSpPr txBox="1"/>
          <p:nvPr/>
        </p:nvSpPr>
        <p:spPr>
          <a:xfrm>
            <a:off x="3619440" y="8445960"/>
            <a:ext cx="4191120" cy="1775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860" spc="-1" strike="noStrike">
                <a:solidFill>
                  <a:srgbClr val="667085"/>
                </a:solidFill>
                <a:latin typeface="PingFang SC"/>
              </a:rPr>
              <a:t>Scene / Menu Slot / Product / Variant / SKU / Recipe / BOM / SOP /</a:t>
            </a:r>
            <a:endParaRPr b="0" lang="en-US" sz="860" spc="-1" strike="noStrike">
              <a:solidFill>
                <a:srgbClr val="667085"/>
              </a:solidFill>
              <a:latin typeface="PingFang SC"/>
              <a:ea typeface="PingFang SC"/>
            </a:endParaRPr>
          </a:p>
          <a:p>
            <a:r>
              <a:rPr b="0" lang="en-US" sz="860" spc="-1" strike="noStrike">
                <a:solidFill>
                  <a:srgbClr val="667085"/>
                </a:solidFill>
                <a:latin typeface="PingFang SC"/>
              </a:rPr>
              <a:t> </a:t>
            </a:r>
            <a:r>
              <a:rPr b="0" lang="en-US" sz="860" spc="-1" strike="noStrike">
                <a:solidFill>
                  <a:srgbClr val="667085"/>
                </a:solidFill>
                <a:latin typeface="PingFang SC"/>
              </a:rPr>
              <a:t>Ingredient / Supplier / Plan / Batch / Inventory / PO</a:t>
            </a:r>
            <a:endParaRPr b="0" lang="en-US" sz="860" spc="-1" strike="noStrike">
              <a:solidFill>
                <a:srgbClr val="667085"/>
              </a:solidFill>
              <a:latin typeface="PingFang SC"/>
              <a:ea typeface="PingFang SC"/>
            </a:endParaRPr>
          </a:p>
          <a:p>
            <a:r>
              <a:rPr b="0" lang="zh-CN" sz="860" spc="-1" strike="noStrike">
                <a:solidFill>
                  <a:srgbClr val="667085"/>
                </a:solidFill>
                <a:latin typeface="PingFang SC"/>
              </a:rPr>
              <a:t>范围配置 </a:t>
            </a:r>
            <a:r>
              <a:rPr b="0" lang="en-US" sz="860" spc="-1" strike="noStrike">
                <a:solidFill>
                  <a:srgbClr val="667085"/>
                </a:solidFill>
                <a:latin typeface="PingFang SC"/>
              </a:rPr>
              <a:t>· </a:t>
            </a:r>
            <a:r>
              <a:rPr b="0" lang="zh-CN" sz="860" spc="-1" strike="noStrike">
                <a:solidFill>
                  <a:srgbClr val="667085"/>
                </a:solidFill>
                <a:latin typeface="PingFang SC"/>
              </a:rPr>
              <a:t>继承—覆盖—禁用 </a:t>
            </a:r>
            <a:r>
              <a:rPr b="0" lang="en-US" sz="860" spc="-1" strike="noStrike">
                <a:solidFill>
                  <a:srgbClr val="667085"/>
                </a:solidFill>
                <a:latin typeface="PingFang SC"/>
              </a:rPr>
              <a:t>· </a:t>
            </a:r>
            <a:r>
              <a:rPr b="0" lang="zh-CN" sz="860" spc="-1" strike="noStrike">
                <a:solidFill>
                  <a:srgbClr val="667085"/>
                </a:solidFill>
                <a:latin typeface="PingFang SC"/>
              </a:rPr>
              <a:t>版本 </a:t>
            </a:r>
            <a:r>
              <a:rPr b="0" lang="en-US" sz="860" spc="-1" strike="noStrike">
                <a:solidFill>
                  <a:srgbClr val="667085"/>
                </a:solidFill>
                <a:latin typeface="PingFang SC"/>
              </a:rPr>
              <a:t>/ </a:t>
            </a:r>
            <a:r>
              <a:rPr b="0" lang="zh-CN" sz="860" spc="-1" strike="noStrike">
                <a:solidFill>
                  <a:srgbClr val="667085"/>
                </a:solidFill>
                <a:latin typeface="PingFang SC"/>
              </a:rPr>
              <a:t>生效期 </a:t>
            </a:r>
            <a:r>
              <a:rPr b="0" lang="en-US" sz="860" spc="-1" strike="noStrike">
                <a:solidFill>
                  <a:srgbClr val="667085"/>
                </a:solidFill>
                <a:latin typeface="PingFang SC"/>
              </a:rPr>
              <a:t>/ </a:t>
            </a:r>
            <a:r>
              <a:rPr b="0" lang="zh-CN" sz="860" spc="-1" strike="noStrike">
                <a:solidFill>
                  <a:srgbClr val="667085"/>
                </a:solidFill>
                <a:latin typeface="PingFang SC"/>
              </a:rPr>
              <a:t>审批 </a:t>
            </a:r>
            <a:r>
              <a:rPr b="0" lang="en-US" sz="860" spc="-1" strike="noStrike">
                <a:solidFill>
                  <a:srgbClr val="667085"/>
                </a:solidFill>
                <a:latin typeface="PingFang SC"/>
              </a:rPr>
              <a:t>/ </a:t>
            </a:r>
            <a:r>
              <a:rPr b="0" lang="zh-CN" sz="860" spc="-1" strike="noStrike">
                <a:solidFill>
                  <a:srgbClr val="667085"/>
                </a:solidFill>
                <a:latin typeface="PingFang SC"/>
              </a:rPr>
              <a:t>审计</a:t>
            </a:r>
            <a:endParaRPr b="0" lang="en-US" sz="860" spc="-1" strike="noStrike">
              <a:solidFill>
                <a:srgbClr val="667085"/>
              </a:solidFill>
              <a:latin typeface="PingFang SC"/>
              <a:ea typeface="PingFang SC"/>
            </a:endParaRPr>
          </a:p>
        </p:txBody>
      </p:sp>
      <p:sp>
        <p:nvSpPr>
          <p:cNvPr id="91" name="fig01-engine-link"/>
          <p:cNvSpPr/>
          <p:nvPr/>
        </p:nvSpPr>
        <p:spPr>
          <a:xfrm>
            <a:off x="5334120" y="6238800"/>
            <a:ext cx="761760" cy="0"/>
          </a:xfrm>
          <a:custGeom>
            <a:avLst/>
            <a:gdLst/>
            <a:ahLst/>
            <a:rect l="0" t="0" r="r" b="b"/>
            <a:pathLst>
              <a:path fill="none" w="2116" h="0">
                <a:moveTo>
                  <a:pt x="0" y="0"/>
                </a:moveTo>
                <a:lnTo>
                  <a:pt x="168" y="0"/>
                </a:lnTo>
                <a:lnTo>
                  <a:pt x="340" y="0"/>
                </a:lnTo>
                <a:lnTo>
                  <a:pt x="516" y="0"/>
                </a:lnTo>
                <a:lnTo>
                  <a:pt x="695" y="0"/>
                </a:lnTo>
                <a:lnTo>
                  <a:pt x="876" y="0"/>
                </a:lnTo>
                <a:lnTo>
                  <a:pt x="1058" y="0"/>
                </a:lnTo>
                <a:lnTo>
                  <a:pt x="1240" y="0"/>
                </a:lnTo>
                <a:lnTo>
                  <a:pt x="1421" y="0"/>
                </a:lnTo>
                <a:lnTo>
                  <a:pt x="1600" y="0"/>
                </a:lnTo>
                <a:lnTo>
                  <a:pt x="1776" y="0"/>
                </a:lnTo>
                <a:lnTo>
                  <a:pt x="1948" y="0"/>
                </a:lnTo>
                <a:lnTo>
                  <a:pt x="2116" y="0"/>
                </a:lnTo>
              </a:path>
            </a:pathLst>
          </a:custGeom>
          <a:ln w="16200">
            <a:solidFill>
              <a:srgbClr val="4f46e5"/>
            </a:solidFill>
            <a:round/>
          </a:ln>
        </p:spPr>
        <p:txBody>
          <a:bodyPr lIns="97920" rIns="97920" tIns="-52920" bIns="-5292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2" name="fig01-engine-link-head"/>
          <p:cNvSpPr/>
          <p:nvPr/>
        </p:nvSpPr>
        <p:spPr>
          <a:xfrm>
            <a:off x="6010200" y="6202800"/>
            <a:ext cx="85680" cy="72000"/>
          </a:xfrm>
          <a:custGeom>
            <a:avLst/>
            <a:gdLst/>
            <a:ahLst/>
            <a:rect l="0" t="0" r="r" b="b"/>
            <a:pathLst>
              <a:path w="238" h="200">
                <a:moveTo>
                  <a:pt x="238" y="100"/>
                </a:moveTo>
                <a:lnTo>
                  <a:pt x="0" y="200"/>
                </a:lnTo>
                <a:lnTo>
                  <a:pt x="0" y="0"/>
                </a:lnTo>
                <a:lnTo>
                  <a:pt x="238" y="100"/>
                </a:lnTo>
                <a:close/>
              </a:path>
            </a:pathLst>
          </a:custGeom>
          <a:solidFill>
            <a:srgbClr val="4f46e5"/>
          </a:solidFill>
          <a:ln w="0">
            <a:noFill/>
          </a:ln>
        </p:spPr>
        <p:txBody>
          <a:bodyPr lIns="90000" rIns="90000" tIns="27000" bIns="27000" anchor="ctr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3" name="fig01-85-chip"/>
          <p:cNvSpPr/>
          <p:nvPr/>
        </p:nvSpPr>
        <p:spPr>
          <a:xfrm>
            <a:off x="5247360" y="6042600"/>
            <a:ext cx="935280" cy="171360"/>
          </a:xfrm>
          <a:prstGeom prst="roundRect">
            <a:avLst/>
          </a:prstGeom>
          <a:solidFill>
            <a:srgbClr val="ffffff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4" name="fig01-text-85"/>
          <p:cNvSpPr txBox="1"/>
          <p:nvPr/>
        </p:nvSpPr>
        <p:spPr>
          <a:xfrm>
            <a:off x="5304600" y="6061680"/>
            <a:ext cx="820800" cy="1413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algn="ctr"/>
            <a:r>
              <a:rPr b="1" lang="zh-CN" sz="750" spc="-1" strike="noStrike">
                <a:solidFill>
                  <a:srgbClr val="4f46e5"/>
                </a:solidFill>
                <a:latin typeface="PingFang SC"/>
              </a:rPr>
              <a:t>事实 ↔ 执行实绩</a:t>
            </a:r>
            <a:endParaRPr b="1" lang="en-US" sz="750" spc="-1" strike="noStrike">
              <a:solidFill>
                <a:srgbClr val="4f46e5"/>
              </a:solidFill>
              <a:latin typeface="PingFang SC"/>
              <a:ea typeface="PingFang SC"/>
            </a:endParaRPr>
          </a:p>
        </p:txBody>
      </p:sp>
      <p:sp>
        <p:nvSpPr>
          <p:cNvPr id="95" name="fig01-data-to-core"/>
          <p:cNvSpPr/>
          <p:nvPr/>
        </p:nvSpPr>
        <p:spPr>
          <a:xfrm>
            <a:off x="2952720" y="7715160"/>
            <a:ext cx="1905120" cy="171720"/>
          </a:xfrm>
          <a:prstGeom prst="line">
            <a:avLst/>
          </a:prstGeom>
          <a:ln w="16200">
            <a:solidFill>
              <a:srgbClr val="2d8e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7920" rIns="97920" tIns="52920" bIns="5292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6" name="fig01-data-to-core-head"/>
          <p:cNvSpPr/>
          <p:nvPr/>
        </p:nvSpPr>
        <p:spPr>
          <a:xfrm>
            <a:off x="4769280" y="7843320"/>
            <a:ext cx="88560" cy="71640"/>
          </a:xfrm>
          <a:custGeom>
            <a:avLst/>
            <a:gdLst/>
            <a:ahLst/>
            <a:rect l="0" t="0" r="r" b="b"/>
            <a:pathLst>
              <a:path w="246" h="199">
                <a:moveTo>
                  <a:pt x="246" y="121"/>
                </a:moveTo>
                <a:lnTo>
                  <a:pt x="0" y="199"/>
                </a:lnTo>
                <a:lnTo>
                  <a:pt x="18" y="0"/>
                </a:lnTo>
                <a:lnTo>
                  <a:pt x="246" y="121"/>
                </a:lnTo>
                <a:close/>
              </a:path>
            </a:pathLst>
          </a:custGeom>
          <a:solidFill>
            <a:srgbClr val="2d8eff"/>
          </a:solidFill>
          <a:ln w="0">
            <a:noFill/>
          </a:ln>
        </p:spPr>
        <p:txBody>
          <a:bodyPr lIns="90000" rIns="90000" tIns="26640" bIns="26640" anchor="ctr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7" name="fig01-text-87"/>
          <p:cNvSpPr txBox="1"/>
          <p:nvPr/>
        </p:nvSpPr>
        <p:spPr>
          <a:xfrm>
            <a:off x="714240" y="5983920"/>
            <a:ext cx="4476600" cy="421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algn="ctr"/>
            <a:r>
              <a:rPr b="1" lang="zh-CN" sz="750" spc="-1" strike="noStrike">
                <a:solidFill>
                  <a:srgbClr val="667085"/>
                </a:solidFill>
                <a:latin typeface="PingFang SC"/>
              </a:rPr>
              <a:t>标准事实 </a:t>
            </a:r>
            <a:r>
              <a:rPr b="1" lang="en-US" sz="750" spc="-1" strike="noStrike">
                <a:solidFill>
                  <a:srgbClr val="667085"/>
                </a:solidFill>
                <a:latin typeface="PingFang SC"/>
              </a:rPr>
              <a:t>/ </a:t>
            </a:r>
            <a:r>
              <a:rPr b="1" lang="zh-CN" sz="750" spc="-1" strike="noStrike">
                <a:solidFill>
                  <a:srgbClr val="667085"/>
                </a:solidFill>
                <a:latin typeface="PingFang SC"/>
              </a:rPr>
              <a:t>洞察</a:t>
            </a:r>
            <a:endParaRPr b="1" lang="en-US" sz="750" spc="-1" strike="noStrike">
              <a:solidFill>
                <a:srgbClr val="667085"/>
              </a:solidFill>
              <a:latin typeface="PingFang SC"/>
              <a:ea typeface="PingFang SC"/>
            </a:endParaRPr>
          </a:p>
        </p:txBody>
      </p:sp>
      <p:sp>
        <p:nvSpPr>
          <p:cNvPr id="98" name="fig01-ops-to-core"/>
          <p:cNvSpPr/>
          <p:nvPr/>
        </p:nvSpPr>
        <p:spPr>
          <a:xfrm flipH="1">
            <a:off x="6572160" y="7715160"/>
            <a:ext cx="1905120" cy="171720"/>
          </a:xfrm>
          <a:prstGeom prst="line">
            <a:avLst/>
          </a:prstGeom>
          <a:ln w="16200">
            <a:solidFill>
              <a:srgbClr val="8b5ac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7920" rIns="97920" tIns="52920" bIns="5292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9" name="fig01-ops-to-core-head"/>
          <p:cNvSpPr/>
          <p:nvPr/>
        </p:nvSpPr>
        <p:spPr>
          <a:xfrm>
            <a:off x="6572160" y="7843320"/>
            <a:ext cx="88560" cy="71640"/>
          </a:xfrm>
          <a:custGeom>
            <a:avLst/>
            <a:gdLst/>
            <a:ahLst/>
            <a:rect l="0" t="0" r="r" b="b"/>
            <a:pathLst>
              <a:path w="246" h="199">
                <a:moveTo>
                  <a:pt x="0" y="121"/>
                </a:moveTo>
                <a:lnTo>
                  <a:pt x="228" y="0"/>
                </a:lnTo>
                <a:lnTo>
                  <a:pt x="246" y="199"/>
                </a:lnTo>
                <a:lnTo>
                  <a:pt x="0" y="121"/>
                </a:lnTo>
                <a:close/>
              </a:path>
            </a:pathLst>
          </a:custGeom>
          <a:solidFill>
            <a:srgbClr val="8b5aca"/>
          </a:solidFill>
          <a:ln w="0">
            <a:noFill/>
          </a:ln>
        </p:spPr>
        <p:txBody>
          <a:bodyPr lIns="90000" rIns="90000" tIns="26640" bIns="26640" anchor="ctr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0" name="fig01-text-89"/>
          <p:cNvSpPr txBox="1"/>
          <p:nvPr/>
        </p:nvSpPr>
        <p:spPr>
          <a:xfrm>
            <a:off x="6238800" y="5983920"/>
            <a:ext cx="4476600" cy="421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algn="ctr"/>
            <a:r>
              <a:rPr b="1" lang="zh-CN" sz="750" spc="-1" strike="noStrike">
                <a:solidFill>
                  <a:srgbClr val="667085"/>
                </a:solidFill>
                <a:latin typeface="PingFang SC"/>
              </a:rPr>
              <a:t>规则引用 </a:t>
            </a:r>
            <a:r>
              <a:rPr b="1" lang="en-US" sz="750" spc="-1" strike="noStrike">
                <a:solidFill>
                  <a:srgbClr val="667085"/>
                </a:solidFill>
                <a:latin typeface="PingFang SC"/>
              </a:rPr>
              <a:t>/ </a:t>
            </a:r>
            <a:r>
              <a:rPr b="1" lang="zh-CN" sz="750" spc="-1" strike="noStrike">
                <a:solidFill>
                  <a:srgbClr val="667085"/>
                </a:solidFill>
                <a:latin typeface="PingFang SC"/>
              </a:rPr>
              <a:t>版本</a:t>
            </a:r>
            <a:endParaRPr b="1" lang="en-US" sz="750" spc="-1" strike="noStrike">
              <a:solidFill>
                <a:srgbClr val="667085"/>
              </a:solidFill>
              <a:latin typeface="PingFang SC"/>
              <a:ea typeface="PingFang SC"/>
            </a:endParaRPr>
          </a:p>
        </p:txBody>
      </p:sp>
      <p:sp>
        <p:nvSpPr>
          <p:cNvPr id="101" name="fig01-card"/>
          <p:cNvSpPr/>
          <p:nvPr/>
        </p:nvSpPr>
        <p:spPr>
          <a:xfrm>
            <a:off x="571680" y="9286920"/>
            <a:ext cx="47520" cy="209520"/>
          </a:xfrm>
          <a:prstGeom prst="roundRect">
            <a:avLst/>
          </a:prstGeom>
          <a:solidFill>
            <a:srgbClr val="4f46e5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2" name="fig01-text-91"/>
          <p:cNvSpPr txBox="1"/>
          <p:nvPr/>
        </p:nvSpPr>
        <p:spPr>
          <a:xfrm>
            <a:off x="743040" y="9366840"/>
            <a:ext cx="236520" cy="85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750" spc="-1" strike="noStrike">
                <a:solidFill>
                  <a:srgbClr val="4f46e5"/>
                </a:solidFill>
                <a:latin typeface="IBM Plex Mono"/>
              </a:rPr>
              <a:t>01C</a:t>
            </a:r>
            <a:endParaRPr b="1" lang="en-US" sz="750" spc="-1" strike="noStrike">
              <a:solidFill>
                <a:srgbClr val="4f46e5"/>
              </a:solidFill>
              <a:latin typeface="IBM Plex Mono"/>
              <a:ea typeface="IBM Plex Mono"/>
            </a:endParaRPr>
          </a:p>
        </p:txBody>
      </p:sp>
      <p:sp>
        <p:nvSpPr>
          <p:cNvPr id="103" name="fig01-text-92"/>
          <p:cNvSpPr txBox="1"/>
          <p:nvPr/>
        </p:nvSpPr>
        <p:spPr>
          <a:xfrm>
            <a:off x="1428840" y="9317880"/>
            <a:ext cx="2132640" cy="752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zh-CN" sz="1200" spc="-1" strike="noStrike">
                <a:solidFill>
                  <a:srgbClr val="161a25"/>
                </a:solidFill>
                <a:latin typeface="PingFang SC"/>
              </a:rPr>
              <a:t>四大业务域 </a:t>
            </a:r>
            <a:r>
              <a:rPr b="1" lang="en-US" sz="1200" spc="-1" strike="noStrike">
                <a:solidFill>
                  <a:srgbClr val="161a25"/>
                </a:solidFill>
                <a:latin typeface="PingFang SC"/>
              </a:rPr>
              <a:t>× </a:t>
            </a:r>
            <a:r>
              <a:rPr b="1" lang="zh-CN" sz="1200" spc="-1" strike="noStrike">
                <a:solidFill>
                  <a:srgbClr val="161a25"/>
                </a:solidFill>
                <a:latin typeface="PingFang SC"/>
              </a:rPr>
              <a:t>六层系统能力</a:t>
            </a:r>
            <a:endParaRPr b="1" lang="en-US" sz="1200" spc="-1" strike="noStrike">
              <a:solidFill>
                <a:srgbClr val="161a25"/>
              </a:solidFill>
              <a:latin typeface="PingFang SC"/>
              <a:ea typeface="PingFang SC"/>
            </a:endParaRPr>
          </a:p>
        </p:txBody>
      </p:sp>
      <p:sp>
        <p:nvSpPr>
          <p:cNvPr id="104" name="fig01-text-93"/>
          <p:cNvSpPr txBox="1"/>
          <p:nvPr/>
        </p:nvSpPr>
        <p:spPr>
          <a:xfrm>
            <a:off x="8612280" y="9360360"/>
            <a:ext cx="2246400" cy="1082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algn="r"/>
            <a:r>
              <a:rPr b="0" lang="zh-CN" sz="810" spc="-1" strike="noStrike">
                <a:solidFill>
                  <a:srgbClr val="667085"/>
                </a:solidFill>
                <a:latin typeface="PingFang SC"/>
              </a:rPr>
              <a:t>业务域贯穿六层能力，不等于独立系统孤岛</a:t>
            </a:r>
            <a:endParaRPr b="0" lang="en-US" sz="810" spc="-1" strike="noStrike">
              <a:solidFill>
                <a:srgbClr val="667085"/>
              </a:solidFill>
              <a:latin typeface="PingFang SC"/>
              <a:ea typeface="PingFang SC"/>
            </a:endParaRPr>
          </a:p>
        </p:txBody>
      </p:sp>
      <p:sp>
        <p:nvSpPr>
          <p:cNvPr id="105" name="fig01-card"/>
          <p:cNvSpPr/>
          <p:nvPr/>
        </p:nvSpPr>
        <p:spPr>
          <a:xfrm>
            <a:off x="571680" y="9734400"/>
            <a:ext cx="2381400" cy="1066680"/>
          </a:xfrm>
          <a:prstGeom prst="roundRect">
            <a:avLst/>
          </a:prstGeom>
          <a:solidFill>
            <a:srgbClr val="eef6ff"/>
          </a:solidFill>
          <a:ln w="11520">
            <a:solidFill>
              <a:srgbClr val="2d8eff"/>
            </a:solidFill>
            <a:round/>
          </a:ln>
        </p:spPr>
        <p:txBody>
          <a:bodyPr lIns="95760" rIns="95760" tIns="50760" bIns="5076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6" name="fig01-card"/>
          <p:cNvSpPr/>
          <p:nvPr/>
        </p:nvSpPr>
        <p:spPr>
          <a:xfrm>
            <a:off x="704880" y="9867960"/>
            <a:ext cx="1228680" cy="190440"/>
          </a:xfrm>
          <a:prstGeom prst="roundRect">
            <a:avLst/>
          </a:prstGeom>
          <a:solidFill>
            <a:srgbClr val="e6f1ff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7" name="fig01-text-96"/>
          <p:cNvSpPr txBox="1"/>
          <p:nvPr/>
        </p:nvSpPr>
        <p:spPr>
          <a:xfrm>
            <a:off x="790560" y="9919440"/>
            <a:ext cx="925560" cy="1114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750" spc="-1" strike="noStrike">
                <a:solidFill>
                  <a:srgbClr val="2d8eff"/>
                </a:solidFill>
                <a:latin typeface="IBM Plex Mono"/>
              </a:rPr>
              <a:t>BUSINESS DOMAIN</a:t>
            </a:r>
            <a:endParaRPr b="1" lang="en-US" sz="750" spc="-1" strike="noStrike">
              <a:solidFill>
                <a:srgbClr val="2d8eff"/>
              </a:solidFill>
              <a:latin typeface="IBM Plex Mono"/>
              <a:ea typeface="IBM Plex Mono"/>
            </a:endParaRPr>
          </a:p>
        </p:txBody>
      </p:sp>
      <p:sp>
        <p:nvSpPr>
          <p:cNvPr id="108" name="fig01-text-97"/>
          <p:cNvSpPr txBox="1"/>
          <p:nvPr/>
        </p:nvSpPr>
        <p:spPr>
          <a:xfrm>
            <a:off x="714240" y="10082160"/>
            <a:ext cx="2095560" cy="421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zh-CN" sz="1130" spc="-1" strike="noStrike">
                <a:solidFill>
                  <a:srgbClr val="161a25"/>
                </a:solidFill>
                <a:latin typeface="PingFang SC"/>
              </a:rPr>
              <a:t>需求与产品</a:t>
            </a:r>
            <a:endParaRPr b="1" lang="en-US" sz="1130" spc="-1" strike="noStrike">
              <a:solidFill>
                <a:srgbClr val="161a25"/>
              </a:solidFill>
              <a:latin typeface="PingFang SC"/>
              <a:ea typeface="PingFang SC"/>
            </a:endParaRPr>
          </a:p>
        </p:txBody>
      </p:sp>
      <p:sp>
        <p:nvSpPr>
          <p:cNvPr id="109" name="fig01-text-98"/>
          <p:cNvSpPr txBox="1"/>
          <p:nvPr/>
        </p:nvSpPr>
        <p:spPr>
          <a:xfrm>
            <a:off x="714240" y="10293840"/>
            <a:ext cx="2095560" cy="752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900" spc="-1" strike="noStrike">
                <a:solidFill>
                  <a:srgbClr val="667085"/>
                </a:solidFill>
                <a:latin typeface="PingFang SC"/>
              </a:rPr>
              <a:t>Scene · </a:t>
            </a:r>
            <a:r>
              <a:rPr b="0" lang="zh-CN" sz="900" spc="-1" strike="noStrike">
                <a:solidFill>
                  <a:srgbClr val="667085"/>
                </a:solidFill>
                <a:latin typeface="PingFang SC"/>
              </a:rPr>
              <a:t>菜单 </a:t>
            </a:r>
            <a:r>
              <a:rPr b="0" lang="en-US" sz="900" spc="-1" strike="noStrike">
                <a:solidFill>
                  <a:srgbClr val="667085"/>
                </a:solidFill>
                <a:latin typeface="PingFang SC"/>
              </a:rPr>
              <a:t>· </a:t>
            </a:r>
            <a:r>
              <a:rPr b="0" lang="zh-CN" sz="900" spc="-1" strike="noStrike">
                <a:solidFill>
                  <a:srgbClr val="667085"/>
                </a:solidFill>
                <a:latin typeface="PingFang SC"/>
              </a:rPr>
              <a:t>产品 </a:t>
            </a:r>
            <a:r>
              <a:rPr b="0" lang="en-US" sz="900" spc="-1" strike="noStrike">
                <a:solidFill>
                  <a:srgbClr val="667085"/>
                </a:solidFill>
                <a:latin typeface="PingFang SC"/>
              </a:rPr>
              <a:t>· </a:t>
            </a:r>
            <a:r>
              <a:rPr b="0" lang="zh-CN" sz="900" spc="-1" strike="noStrike">
                <a:solidFill>
                  <a:srgbClr val="667085"/>
                </a:solidFill>
                <a:latin typeface="PingFang SC"/>
              </a:rPr>
              <a:t>组合 </a:t>
            </a:r>
            <a:r>
              <a:rPr b="0" lang="en-US" sz="900" spc="-1" strike="noStrike">
                <a:solidFill>
                  <a:srgbClr val="667085"/>
                </a:solidFill>
                <a:latin typeface="PingFang SC"/>
              </a:rPr>
              <a:t>· </a:t>
            </a:r>
            <a:r>
              <a:rPr b="0" lang="zh-CN" sz="900" spc="-1" strike="noStrike">
                <a:solidFill>
                  <a:srgbClr val="667085"/>
                </a:solidFill>
                <a:latin typeface="PingFang SC"/>
              </a:rPr>
              <a:t>需求</a:t>
            </a:r>
            <a:endParaRPr b="0" lang="en-US" sz="900" spc="-1" strike="noStrike">
              <a:solidFill>
                <a:srgbClr val="667085"/>
              </a:solidFill>
              <a:latin typeface="PingFang SC"/>
              <a:ea typeface="PingFang SC"/>
            </a:endParaRPr>
          </a:p>
        </p:txBody>
      </p:sp>
      <p:sp>
        <p:nvSpPr>
          <p:cNvPr id="110" name="fig01-card"/>
          <p:cNvSpPr/>
          <p:nvPr/>
        </p:nvSpPr>
        <p:spPr>
          <a:xfrm>
            <a:off x="3143160" y="9734400"/>
            <a:ext cx="2381400" cy="1066680"/>
          </a:xfrm>
          <a:prstGeom prst="roundRect">
            <a:avLst/>
          </a:prstGeom>
          <a:solidFill>
            <a:srgbClr val="fff8e7"/>
          </a:solidFill>
          <a:ln w="11520">
            <a:solidFill>
              <a:srgbClr val="e8a020"/>
            </a:solidFill>
            <a:round/>
          </a:ln>
        </p:spPr>
        <p:txBody>
          <a:bodyPr lIns="95760" rIns="95760" tIns="50760" bIns="5076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1" name="fig01-card"/>
          <p:cNvSpPr/>
          <p:nvPr/>
        </p:nvSpPr>
        <p:spPr>
          <a:xfrm>
            <a:off x="3276720" y="9867960"/>
            <a:ext cx="1228680" cy="190440"/>
          </a:xfrm>
          <a:prstGeom prst="roundRect">
            <a:avLst/>
          </a:prstGeom>
          <a:solidFill>
            <a:srgbClr val="fcf4e4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2" name="fig01-text-101"/>
          <p:cNvSpPr txBox="1"/>
          <p:nvPr/>
        </p:nvSpPr>
        <p:spPr>
          <a:xfrm>
            <a:off x="3362400" y="9919440"/>
            <a:ext cx="925560" cy="1114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750" spc="-1" strike="noStrike">
                <a:solidFill>
                  <a:srgbClr val="e8a020"/>
                </a:solidFill>
                <a:latin typeface="IBM Plex Mono"/>
              </a:rPr>
              <a:t>BUSINESS DOMAIN</a:t>
            </a:r>
            <a:endParaRPr b="1" lang="en-US" sz="750" spc="-1" strike="noStrike">
              <a:solidFill>
                <a:srgbClr val="e8a020"/>
              </a:solidFill>
              <a:latin typeface="IBM Plex Mono"/>
              <a:ea typeface="IBM Plex Mono"/>
            </a:endParaRPr>
          </a:p>
        </p:txBody>
      </p:sp>
      <p:sp>
        <p:nvSpPr>
          <p:cNvPr id="113" name="fig01-text-102"/>
          <p:cNvSpPr txBox="1"/>
          <p:nvPr/>
        </p:nvSpPr>
        <p:spPr>
          <a:xfrm>
            <a:off x="3286080" y="10082160"/>
            <a:ext cx="2095560" cy="421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zh-CN" sz="1130" spc="-1" strike="noStrike">
                <a:solidFill>
                  <a:srgbClr val="161a25"/>
                </a:solidFill>
                <a:latin typeface="PingFang SC"/>
              </a:rPr>
              <a:t>采购与生产</a:t>
            </a:r>
            <a:endParaRPr b="1" lang="en-US" sz="1130" spc="-1" strike="noStrike">
              <a:solidFill>
                <a:srgbClr val="161a25"/>
              </a:solidFill>
              <a:latin typeface="PingFang SC"/>
              <a:ea typeface="PingFang SC"/>
            </a:endParaRPr>
          </a:p>
        </p:txBody>
      </p:sp>
      <p:sp>
        <p:nvSpPr>
          <p:cNvPr id="114" name="fig01-text-103"/>
          <p:cNvSpPr txBox="1"/>
          <p:nvPr/>
        </p:nvSpPr>
        <p:spPr>
          <a:xfrm>
            <a:off x="3286080" y="10293840"/>
            <a:ext cx="2095560" cy="752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900" spc="-1" strike="noStrike">
                <a:solidFill>
                  <a:srgbClr val="667085"/>
                </a:solidFill>
                <a:latin typeface="PingFang SC"/>
              </a:rPr>
              <a:t>BOM · </a:t>
            </a:r>
            <a:r>
              <a:rPr b="0" lang="zh-CN" sz="900" spc="-1" strike="noStrike">
                <a:solidFill>
                  <a:srgbClr val="667085"/>
                </a:solidFill>
                <a:latin typeface="PingFang SC"/>
              </a:rPr>
              <a:t>库存 </a:t>
            </a:r>
            <a:r>
              <a:rPr b="0" lang="en-US" sz="900" spc="-1" strike="noStrike">
                <a:solidFill>
                  <a:srgbClr val="667085"/>
                </a:solidFill>
                <a:latin typeface="PingFang SC"/>
              </a:rPr>
              <a:t>· </a:t>
            </a:r>
            <a:r>
              <a:rPr b="0" lang="zh-CN" sz="900" spc="-1" strike="noStrike">
                <a:solidFill>
                  <a:srgbClr val="667085"/>
                </a:solidFill>
                <a:latin typeface="PingFang SC"/>
              </a:rPr>
              <a:t>采购 </a:t>
            </a:r>
            <a:r>
              <a:rPr b="0" lang="en-US" sz="900" spc="-1" strike="noStrike">
                <a:solidFill>
                  <a:srgbClr val="667085"/>
                </a:solidFill>
                <a:latin typeface="PingFang SC"/>
              </a:rPr>
              <a:t>· </a:t>
            </a:r>
            <a:r>
              <a:rPr b="0" lang="zh-CN" sz="900" spc="-1" strike="noStrike">
                <a:solidFill>
                  <a:srgbClr val="667085"/>
                </a:solidFill>
                <a:latin typeface="PingFang SC"/>
              </a:rPr>
              <a:t>批次 </a:t>
            </a:r>
            <a:r>
              <a:rPr b="0" lang="en-US" sz="900" spc="-1" strike="noStrike">
                <a:solidFill>
                  <a:srgbClr val="667085"/>
                </a:solidFill>
                <a:latin typeface="PingFang SC"/>
              </a:rPr>
              <a:t>· </a:t>
            </a:r>
            <a:r>
              <a:rPr b="0" lang="zh-CN" sz="900" spc="-1" strike="noStrike">
                <a:solidFill>
                  <a:srgbClr val="667085"/>
                </a:solidFill>
                <a:latin typeface="PingFang SC"/>
              </a:rPr>
              <a:t>排工</a:t>
            </a:r>
            <a:endParaRPr b="0" lang="en-US" sz="900" spc="-1" strike="noStrike">
              <a:solidFill>
                <a:srgbClr val="667085"/>
              </a:solidFill>
              <a:latin typeface="PingFang SC"/>
              <a:ea typeface="PingFang SC"/>
            </a:endParaRPr>
          </a:p>
        </p:txBody>
      </p:sp>
      <p:sp>
        <p:nvSpPr>
          <p:cNvPr id="115" name="fig01-card"/>
          <p:cNvSpPr/>
          <p:nvPr/>
        </p:nvSpPr>
        <p:spPr>
          <a:xfrm>
            <a:off x="5715000" y="9734400"/>
            <a:ext cx="2381400" cy="1066680"/>
          </a:xfrm>
          <a:prstGeom prst="roundRect">
            <a:avLst/>
          </a:prstGeom>
          <a:solidFill>
            <a:srgbClr val="ecfbf4"/>
          </a:solidFill>
          <a:ln w="11520">
            <a:solidFill>
              <a:srgbClr val="28cc83"/>
            </a:solidFill>
            <a:round/>
          </a:ln>
        </p:spPr>
        <p:txBody>
          <a:bodyPr lIns="95760" rIns="95760" tIns="50760" bIns="5076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6" name="fig01-card"/>
          <p:cNvSpPr/>
          <p:nvPr/>
        </p:nvSpPr>
        <p:spPr>
          <a:xfrm>
            <a:off x="5848200" y="9867960"/>
            <a:ext cx="1228680" cy="190440"/>
          </a:xfrm>
          <a:prstGeom prst="roundRect">
            <a:avLst/>
          </a:prstGeom>
          <a:solidFill>
            <a:srgbClr val="e5f9f0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7" name="fig01-text-106"/>
          <p:cNvSpPr txBox="1"/>
          <p:nvPr/>
        </p:nvSpPr>
        <p:spPr>
          <a:xfrm>
            <a:off x="5934240" y="9919440"/>
            <a:ext cx="925560" cy="1114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750" spc="-1" strike="noStrike">
                <a:solidFill>
                  <a:srgbClr val="28cc83"/>
                </a:solidFill>
                <a:latin typeface="IBM Plex Mono"/>
              </a:rPr>
              <a:t>BUSINESS DOMAIN</a:t>
            </a:r>
            <a:endParaRPr b="1" lang="en-US" sz="750" spc="-1" strike="noStrike">
              <a:solidFill>
                <a:srgbClr val="28cc83"/>
              </a:solidFill>
              <a:latin typeface="IBM Plex Mono"/>
              <a:ea typeface="IBM Plex Mono"/>
            </a:endParaRPr>
          </a:p>
        </p:txBody>
      </p:sp>
      <p:sp>
        <p:nvSpPr>
          <p:cNvPr id="118" name="fig01-text-107"/>
          <p:cNvSpPr txBox="1"/>
          <p:nvPr/>
        </p:nvSpPr>
        <p:spPr>
          <a:xfrm>
            <a:off x="5857920" y="10082160"/>
            <a:ext cx="2095560" cy="421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zh-CN" sz="1130" spc="-1" strike="noStrike">
                <a:solidFill>
                  <a:srgbClr val="161a25"/>
                </a:solidFill>
                <a:latin typeface="PingFang SC"/>
              </a:rPr>
              <a:t>履约与服务</a:t>
            </a:r>
            <a:endParaRPr b="1" lang="en-US" sz="1130" spc="-1" strike="noStrike">
              <a:solidFill>
                <a:srgbClr val="161a25"/>
              </a:solidFill>
              <a:latin typeface="PingFang SC"/>
              <a:ea typeface="PingFang SC"/>
            </a:endParaRPr>
          </a:p>
        </p:txBody>
      </p:sp>
      <p:sp>
        <p:nvSpPr>
          <p:cNvPr id="119" name="fig01-text-108"/>
          <p:cNvSpPr txBox="1"/>
          <p:nvPr/>
        </p:nvSpPr>
        <p:spPr>
          <a:xfrm>
            <a:off x="5857920" y="10293840"/>
            <a:ext cx="2095560" cy="752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zh-CN" sz="900" spc="-1" strike="noStrike">
                <a:solidFill>
                  <a:srgbClr val="667085"/>
                </a:solidFill>
                <a:latin typeface="PingFang SC"/>
              </a:rPr>
              <a:t>订单 </a:t>
            </a:r>
            <a:r>
              <a:rPr b="0" lang="en-US" sz="900" spc="-1" strike="noStrike">
                <a:solidFill>
                  <a:srgbClr val="667085"/>
                </a:solidFill>
                <a:latin typeface="PingFang SC"/>
              </a:rPr>
              <a:t>· </a:t>
            </a:r>
            <a:r>
              <a:rPr b="0" lang="zh-CN" sz="900" spc="-1" strike="noStrike">
                <a:solidFill>
                  <a:srgbClr val="667085"/>
                </a:solidFill>
                <a:latin typeface="PingFang SC"/>
              </a:rPr>
              <a:t>配送 </a:t>
            </a:r>
            <a:r>
              <a:rPr b="0" lang="en-US" sz="900" spc="-1" strike="noStrike">
                <a:solidFill>
                  <a:srgbClr val="667085"/>
                </a:solidFill>
                <a:latin typeface="PingFang SC"/>
              </a:rPr>
              <a:t>· </a:t>
            </a:r>
            <a:r>
              <a:rPr b="0" lang="zh-CN" sz="900" spc="-1" strike="noStrike">
                <a:solidFill>
                  <a:srgbClr val="667085"/>
                </a:solidFill>
                <a:latin typeface="PingFang SC"/>
              </a:rPr>
              <a:t>标签 </a:t>
            </a:r>
            <a:r>
              <a:rPr b="0" lang="en-US" sz="900" spc="-1" strike="noStrike">
                <a:solidFill>
                  <a:srgbClr val="667085"/>
                </a:solidFill>
                <a:latin typeface="PingFang SC"/>
              </a:rPr>
              <a:t>· </a:t>
            </a:r>
            <a:r>
              <a:rPr b="0" lang="zh-CN" sz="900" spc="-1" strike="noStrike">
                <a:solidFill>
                  <a:srgbClr val="667085"/>
                </a:solidFill>
                <a:latin typeface="PingFang SC"/>
              </a:rPr>
              <a:t>交接 </a:t>
            </a:r>
            <a:r>
              <a:rPr b="0" lang="en-US" sz="900" spc="-1" strike="noStrike">
                <a:solidFill>
                  <a:srgbClr val="667085"/>
                </a:solidFill>
                <a:latin typeface="PingFang SC"/>
              </a:rPr>
              <a:t>· </a:t>
            </a:r>
            <a:r>
              <a:rPr b="0" lang="zh-CN" sz="900" spc="-1" strike="noStrike">
                <a:solidFill>
                  <a:srgbClr val="667085"/>
                </a:solidFill>
                <a:latin typeface="PingFang SC"/>
              </a:rPr>
              <a:t>反馈</a:t>
            </a:r>
            <a:endParaRPr b="0" lang="en-US" sz="900" spc="-1" strike="noStrike">
              <a:solidFill>
                <a:srgbClr val="667085"/>
              </a:solidFill>
              <a:latin typeface="PingFang SC"/>
              <a:ea typeface="PingFang SC"/>
            </a:endParaRPr>
          </a:p>
        </p:txBody>
      </p:sp>
      <p:sp>
        <p:nvSpPr>
          <p:cNvPr id="120" name="fig01-card"/>
          <p:cNvSpPr/>
          <p:nvPr/>
        </p:nvSpPr>
        <p:spPr>
          <a:xfrm>
            <a:off x="8286840" y="9734400"/>
            <a:ext cx="2381400" cy="1066680"/>
          </a:xfrm>
          <a:prstGeom prst="roundRect">
            <a:avLst/>
          </a:prstGeom>
          <a:solidFill>
            <a:srgbClr val="f0f1ff"/>
          </a:solidFill>
          <a:ln w="11520">
            <a:solidFill>
              <a:srgbClr val="4f46e5"/>
            </a:solidFill>
            <a:round/>
          </a:ln>
        </p:spPr>
        <p:txBody>
          <a:bodyPr lIns="95760" rIns="95760" tIns="50760" bIns="5076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1" name="fig01-card"/>
          <p:cNvSpPr/>
          <p:nvPr/>
        </p:nvSpPr>
        <p:spPr>
          <a:xfrm>
            <a:off x="8420040" y="9867960"/>
            <a:ext cx="1228680" cy="190440"/>
          </a:xfrm>
          <a:prstGeom prst="roundRect">
            <a:avLst/>
          </a:prstGeom>
          <a:solidFill>
            <a:srgbClr val="eae9fc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2" name="fig01-text-111"/>
          <p:cNvSpPr txBox="1"/>
          <p:nvPr/>
        </p:nvSpPr>
        <p:spPr>
          <a:xfrm>
            <a:off x="8505720" y="9919440"/>
            <a:ext cx="925560" cy="1114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750" spc="-1" strike="noStrike">
                <a:solidFill>
                  <a:srgbClr val="4f46e5"/>
                </a:solidFill>
                <a:latin typeface="IBM Plex Mono"/>
              </a:rPr>
              <a:t>BUSINESS DOMAIN</a:t>
            </a:r>
            <a:endParaRPr b="1" lang="en-US" sz="750" spc="-1" strike="noStrike">
              <a:solidFill>
                <a:srgbClr val="4f46e5"/>
              </a:solidFill>
              <a:latin typeface="IBM Plex Mono"/>
              <a:ea typeface="IBM Plex Mono"/>
            </a:endParaRPr>
          </a:p>
        </p:txBody>
      </p:sp>
      <p:sp>
        <p:nvSpPr>
          <p:cNvPr id="123" name="fig01-text-112"/>
          <p:cNvSpPr txBox="1"/>
          <p:nvPr/>
        </p:nvSpPr>
        <p:spPr>
          <a:xfrm>
            <a:off x="8429760" y="10082160"/>
            <a:ext cx="2095560" cy="421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zh-CN" sz="1130" spc="-1" strike="noStrike">
                <a:solidFill>
                  <a:srgbClr val="161a25"/>
                </a:solidFill>
                <a:latin typeface="PingFang SC"/>
              </a:rPr>
              <a:t>财务与经营</a:t>
            </a:r>
            <a:endParaRPr b="1" lang="en-US" sz="1130" spc="-1" strike="noStrike">
              <a:solidFill>
                <a:srgbClr val="161a25"/>
              </a:solidFill>
              <a:latin typeface="PingFang SC"/>
              <a:ea typeface="PingFang SC"/>
            </a:endParaRPr>
          </a:p>
        </p:txBody>
      </p:sp>
      <p:sp>
        <p:nvSpPr>
          <p:cNvPr id="124" name="fig01-text-113"/>
          <p:cNvSpPr txBox="1"/>
          <p:nvPr/>
        </p:nvSpPr>
        <p:spPr>
          <a:xfrm>
            <a:off x="8429760" y="10293840"/>
            <a:ext cx="2095560" cy="752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zh-CN" sz="900" spc="-1" strike="noStrike">
                <a:solidFill>
                  <a:srgbClr val="667085"/>
                </a:solidFill>
                <a:latin typeface="PingFang SC"/>
              </a:rPr>
              <a:t>对账 </a:t>
            </a:r>
            <a:r>
              <a:rPr b="0" lang="en-US" sz="900" spc="-1" strike="noStrike">
                <a:solidFill>
                  <a:srgbClr val="667085"/>
                </a:solidFill>
                <a:latin typeface="PingFang SC"/>
              </a:rPr>
              <a:t>· </a:t>
            </a:r>
            <a:r>
              <a:rPr b="0" lang="zh-CN" sz="900" spc="-1" strike="noStrike">
                <a:solidFill>
                  <a:srgbClr val="667085"/>
                </a:solidFill>
                <a:latin typeface="PingFang SC"/>
              </a:rPr>
              <a:t>成本 </a:t>
            </a:r>
            <a:r>
              <a:rPr b="0" lang="en-US" sz="900" spc="-1" strike="noStrike">
                <a:solidFill>
                  <a:srgbClr val="667085"/>
                </a:solidFill>
                <a:latin typeface="PingFang SC"/>
              </a:rPr>
              <a:t>· </a:t>
            </a:r>
            <a:r>
              <a:rPr b="0" lang="zh-CN" sz="900" spc="-1" strike="noStrike">
                <a:solidFill>
                  <a:srgbClr val="667085"/>
                </a:solidFill>
                <a:latin typeface="PingFang SC"/>
              </a:rPr>
              <a:t>损益 </a:t>
            </a:r>
            <a:r>
              <a:rPr b="0" lang="en-US" sz="900" spc="-1" strike="noStrike">
                <a:solidFill>
                  <a:srgbClr val="667085"/>
                </a:solidFill>
                <a:latin typeface="PingFang SC"/>
              </a:rPr>
              <a:t>· </a:t>
            </a:r>
            <a:r>
              <a:rPr b="0" lang="zh-CN" sz="900" spc="-1" strike="noStrike">
                <a:solidFill>
                  <a:srgbClr val="667085"/>
                </a:solidFill>
                <a:latin typeface="PingFang SC"/>
              </a:rPr>
              <a:t>洞察 </a:t>
            </a:r>
            <a:r>
              <a:rPr b="0" lang="en-US" sz="900" spc="-1" strike="noStrike">
                <a:solidFill>
                  <a:srgbClr val="667085"/>
                </a:solidFill>
                <a:latin typeface="PingFang SC"/>
              </a:rPr>
              <a:t>· </a:t>
            </a:r>
            <a:r>
              <a:rPr b="0" lang="zh-CN" sz="900" spc="-1" strike="noStrike">
                <a:solidFill>
                  <a:srgbClr val="667085"/>
                </a:solidFill>
                <a:latin typeface="PingFang SC"/>
              </a:rPr>
              <a:t>复盘</a:t>
            </a:r>
            <a:endParaRPr b="0" lang="en-US" sz="900" spc="-1" strike="noStrike">
              <a:solidFill>
                <a:srgbClr val="667085"/>
              </a:solidFill>
              <a:latin typeface="PingFang SC"/>
              <a:ea typeface="PingFang SC"/>
            </a:endParaRPr>
          </a:p>
        </p:txBody>
      </p:sp>
      <p:sp>
        <p:nvSpPr>
          <p:cNvPr id="125" name="fig01-card"/>
          <p:cNvSpPr/>
          <p:nvPr/>
        </p:nvSpPr>
        <p:spPr>
          <a:xfrm>
            <a:off x="571680" y="11049120"/>
            <a:ext cx="3191040" cy="838080"/>
          </a:xfrm>
          <a:prstGeom prst="roundRect">
            <a:avLst/>
          </a:prstGeom>
          <a:solidFill>
            <a:srgbClr val="ffffff"/>
          </a:solidFill>
          <a:ln w="11520">
            <a:solidFill>
              <a:srgbClr val="161a25"/>
            </a:solidFill>
            <a:round/>
          </a:ln>
        </p:spPr>
        <p:txBody>
          <a:bodyPr lIns="95760" rIns="95760" tIns="50760" bIns="5076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6" name="fig01-card"/>
          <p:cNvSpPr/>
          <p:nvPr/>
        </p:nvSpPr>
        <p:spPr>
          <a:xfrm>
            <a:off x="704880" y="11182320"/>
            <a:ext cx="857160" cy="190440"/>
          </a:xfrm>
          <a:prstGeom prst="roundRect">
            <a:avLst/>
          </a:prstGeom>
          <a:solidFill>
            <a:srgbClr val="e3e4e5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7" name="fig01-text-116"/>
          <p:cNvSpPr txBox="1"/>
          <p:nvPr/>
        </p:nvSpPr>
        <p:spPr>
          <a:xfrm>
            <a:off x="790560" y="11233800"/>
            <a:ext cx="176760" cy="602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750" spc="-1" strike="noStrike">
                <a:solidFill>
                  <a:srgbClr val="161a25"/>
                </a:solidFill>
                <a:latin typeface="IBM Plex Mono"/>
              </a:rPr>
              <a:t>L1</a:t>
            </a:r>
            <a:endParaRPr b="1" lang="en-US" sz="750" spc="-1" strike="noStrike">
              <a:solidFill>
                <a:srgbClr val="161a25"/>
              </a:solidFill>
              <a:latin typeface="IBM Plex Mono"/>
              <a:ea typeface="IBM Plex Mono"/>
            </a:endParaRPr>
          </a:p>
        </p:txBody>
      </p:sp>
      <p:sp>
        <p:nvSpPr>
          <p:cNvPr id="128" name="fig01-text-117"/>
          <p:cNvSpPr txBox="1"/>
          <p:nvPr/>
        </p:nvSpPr>
        <p:spPr>
          <a:xfrm>
            <a:off x="714240" y="11396520"/>
            <a:ext cx="2905200" cy="421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zh-CN" sz="1130" spc="-1" strike="noStrike">
                <a:solidFill>
                  <a:srgbClr val="161a25"/>
                </a:solidFill>
                <a:latin typeface="PingFang SC"/>
              </a:rPr>
              <a:t>数据接入</a:t>
            </a:r>
            <a:endParaRPr b="1" lang="en-US" sz="1130" spc="-1" strike="noStrike">
              <a:solidFill>
                <a:srgbClr val="161a25"/>
              </a:solidFill>
              <a:latin typeface="PingFang SC"/>
              <a:ea typeface="PingFang SC"/>
            </a:endParaRPr>
          </a:p>
        </p:txBody>
      </p:sp>
      <p:sp>
        <p:nvSpPr>
          <p:cNvPr id="129" name="fig01-text-118"/>
          <p:cNvSpPr txBox="1"/>
          <p:nvPr/>
        </p:nvSpPr>
        <p:spPr>
          <a:xfrm>
            <a:off x="714240" y="11594880"/>
            <a:ext cx="2905200" cy="752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900" spc="-1" strike="noStrike">
                <a:solidFill>
                  <a:srgbClr val="667085"/>
                </a:solidFill>
                <a:latin typeface="PingFang SC"/>
              </a:rPr>
              <a:t>POS / </a:t>
            </a:r>
            <a:r>
              <a:rPr b="0" lang="zh-CN" sz="900" spc="-1" strike="noStrike">
                <a:solidFill>
                  <a:srgbClr val="667085"/>
                </a:solidFill>
                <a:latin typeface="PingFang SC"/>
              </a:rPr>
              <a:t>订单 </a:t>
            </a:r>
            <a:r>
              <a:rPr b="0" lang="en-US" sz="900" spc="-1" strike="noStrike">
                <a:solidFill>
                  <a:srgbClr val="667085"/>
                </a:solidFill>
                <a:latin typeface="PingFang SC"/>
              </a:rPr>
              <a:t>/ </a:t>
            </a:r>
            <a:r>
              <a:rPr b="0" lang="zh-CN" sz="900" spc="-1" strike="noStrike">
                <a:solidFill>
                  <a:srgbClr val="667085"/>
                </a:solidFill>
                <a:latin typeface="PingFang SC"/>
              </a:rPr>
              <a:t>采购 </a:t>
            </a:r>
            <a:r>
              <a:rPr b="0" lang="en-US" sz="900" spc="-1" strike="noStrike">
                <a:solidFill>
                  <a:srgbClr val="667085"/>
                </a:solidFill>
                <a:latin typeface="PingFang SC"/>
              </a:rPr>
              <a:t>/ </a:t>
            </a:r>
            <a:r>
              <a:rPr b="0" lang="zh-CN" sz="900" spc="-1" strike="noStrike">
                <a:solidFill>
                  <a:srgbClr val="667085"/>
                </a:solidFill>
                <a:latin typeface="PingFang SC"/>
              </a:rPr>
              <a:t>库存 </a:t>
            </a:r>
            <a:r>
              <a:rPr b="0" lang="en-US" sz="900" spc="-1" strike="noStrike">
                <a:solidFill>
                  <a:srgbClr val="667085"/>
                </a:solidFill>
                <a:latin typeface="PingFang SC"/>
              </a:rPr>
              <a:t>/ </a:t>
            </a:r>
            <a:r>
              <a:rPr b="0" lang="zh-CN" sz="900" spc="-1" strike="noStrike">
                <a:solidFill>
                  <a:srgbClr val="667085"/>
                </a:solidFill>
                <a:latin typeface="PingFang SC"/>
              </a:rPr>
              <a:t>生产 </a:t>
            </a:r>
            <a:r>
              <a:rPr b="0" lang="en-US" sz="900" spc="-1" strike="noStrike">
                <a:solidFill>
                  <a:srgbClr val="667085"/>
                </a:solidFill>
                <a:latin typeface="PingFang SC"/>
              </a:rPr>
              <a:t>/ </a:t>
            </a:r>
            <a:r>
              <a:rPr b="0" lang="zh-CN" sz="900" spc="-1" strike="noStrike">
                <a:solidFill>
                  <a:srgbClr val="667085"/>
                </a:solidFill>
                <a:latin typeface="PingFang SC"/>
              </a:rPr>
              <a:t>配送 </a:t>
            </a:r>
            <a:r>
              <a:rPr b="0" lang="en-US" sz="900" spc="-1" strike="noStrike">
                <a:solidFill>
                  <a:srgbClr val="667085"/>
                </a:solidFill>
                <a:latin typeface="PingFang SC"/>
              </a:rPr>
              <a:t>/ </a:t>
            </a:r>
            <a:r>
              <a:rPr b="0" lang="zh-CN" sz="900" spc="-1" strike="noStrike">
                <a:solidFill>
                  <a:srgbClr val="667085"/>
                </a:solidFill>
                <a:latin typeface="PingFang SC"/>
              </a:rPr>
              <a:t>财务</a:t>
            </a:r>
            <a:endParaRPr b="0" lang="en-US" sz="900" spc="-1" strike="noStrike">
              <a:solidFill>
                <a:srgbClr val="667085"/>
              </a:solidFill>
              <a:latin typeface="PingFang SC"/>
              <a:ea typeface="PingFang SC"/>
            </a:endParaRPr>
          </a:p>
        </p:txBody>
      </p:sp>
      <p:sp>
        <p:nvSpPr>
          <p:cNvPr id="130" name="fig01-card"/>
          <p:cNvSpPr/>
          <p:nvPr/>
        </p:nvSpPr>
        <p:spPr>
          <a:xfrm>
            <a:off x="4000320" y="11049120"/>
            <a:ext cx="3191040" cy="838080"/>
          </a:xfrm>
          <a:prstGeom prst="roundRect">
            <a:avLst/>
          </a:prstGeom>
          <a:solidFill>
            <a:srgbClr val="ffffff"/>
          </a:solidFill>
          <a:ln w="11520">
            <a:solidFill>
              <a:srgbClr val="161a25"/>
            </a:solidFill>
            <a:round/>
          </a:ln>
        </p:spPr>
        <p:txBody>
          <a:bodyPr lIns="95760" rIns="95760" tIns="50760" bIns="5076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1" name="fig01-card"/>
          <p:cNvSpPr/>
          <p:nvPr/>
        </p:nvSpPr>
        <p:spPr>
          <a:xfrm>
            <a:off x="4133880" y="11182320"/>
            <a:ext cx="857160" cy="190440"/>
          </a:xfrm>
          <a:prstGeom prst="roundRect">
            <a:avLst/>
          </a:prstGeom>
          <a:solidFill>
            <a:srgbClr val="e3e4e5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2" name="fig01-text-121"/>
          <p:cNvSpPr txBox="1"/>
          <p:nvPr/>
        </p:nvSpPr>
        <p:spPr>
          <a:xfrm>
            <a:off x="4219560" y="11233800"/>
            <a:ext cx="176760" cy="602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750" spc="-1" strike="noStrike">
                <a:solidFill>
                  <a:srgbClr val="161a25"/>
                </a:solidFill>
                <a:latin typeface="IBM Plex Mono"/>
              </a:rPr>
              <a:t>L2</a:t>
            </a:r>
            <a:endParaRPr b="1" lang="en-US" sz="750" spc="-1" strike="noStrike">
              <a:solidFill>
                <a:srgbClr val="161a25"/>
              </a:solidFill>
              <a:latin typeface="IBM Plex Mono"/>
              <a:ea typeface="IBM Plex Mono"/>
            </a:endParaRPr>
          </a:p>
        </p:txBody>
      </p:sp>
      <p:sp>
        <p:nvSpPr>
          <p:cNvPr id="133" name="fig01-text-122"/>
          <p:cNvSpPr txBox="1"/>
          <p:nvPr/>
        </p:nvSpPr>
        <p:spPr>
          <a:xfrm>
            <a:off x="4143240" y="11396520"/>
            <a:ext cx="2905200" cy="421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zh-CN" sz="1130" spc="-1" strike="noStrike">
                <a:solidFill>
                  <a:srgbClr val="161a25"/>
                </a:solidFill>
                <a:latin typeface="PingFang SC"/>
              </a:rPr>
              <a:t>主数据与规则</a:t>
            </a:r>
            <a:endParaRPr b="1" lang="en-US" sz="1130" spc="-1" strike="noStrike">
              <a:solidFill>
                <a:srgbClr val="161a25"/>
              </a:solidFill>
              <a:latin typeface="PingFang SC"/>
              <a:ea typeface="PingFang SC"/>
            </a:endParaRPr>
          </a:p>
        </p:txBody>
      </p:sp>
      <p:sp>
        <p:nvSpPr>
          <p:cNvPr id="134" name="fig01-text-123"/>
          <p:cNvSpPr txBox="1"/>
          <p:nvPr/>
        </p:nvSpPr>
        <p:spPr>
          <a:xfrm>
            <a:off x="4143240" y="11594880"/>
            <a:ext cx="2905200" cy="752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zh-CN" sz="900" spc="-1" strike="noStrike">
                <a:solidFill>
                  <a:srgbClr val="667085"/>
                </a:solidFill>
                <a:latin typeface="PingFang SC"/>
              </a:rPr>
              <a:t>对象、版本、范围、专业主源、规则校验</a:t>
            </a:r>
            <a:endParaRPr b="0" lang="en-US" sz="900" spc="-1" strike="noStrike">
              <a:solidFill>
                <a:srgbClr val="667085"/>
              </a:solidFill>
              <a:latin typeface="PingFang SC"/>
              <a:ea typeface="PingFang SC"/>
            </a:endParaRPr>
          </a:p>
        </p:txBody>
      </p:sp>
      <p:sp>
        <p:nvSpPr>
          <p:cNvPr id="135" name="fig01-card"/>
          <p:cNvSpPr/>
          <p:nvPr/>
        </p:nvSpPr>
        <p:spPr>
          <a:xfrm>
            <a:off x="7429680" y="11049120"/>
            <a:ext cx="3191040" cy="838080"/>
          </a:xfrm>
          <a:prstGeom prst="roundRect">
            <a:avLst/>
          </a:prstGeom>
          <a:solidFill>
            <a:srgbClr val="ffffff"/>
          </a:solidFill>
          <a:ln w="11520">
            <a:solidFill>
              <a:srgbClr val="161a25"/>
            </a:solidFill>
            <a:round/>
          </a:ln>
        </p:spPr>
        <p:txBody>
          <a:bodyPr lIns="95760" rIns="95760" tIns="50760" bIns="5076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6" name="fig01-card"/>
          <p:cNvSpPr/>
          <p:nvPr/>
        </p:nvSpPr>
        <p:spPr>
          <a:xfrm>
            <a:off x="7562880" y="11182320"/>
            <a:ext cx="857160" cy="190440"/>
          </a:xfrm>
          <a:prstGeom prst="roundRect">
            <a:avLst/>
          </a:prstGeom>
          <a:solidFill>
            <a:srgbClr val="e3e4e5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7" name="fig01-text-126"/>
          <p:cNvSpPr txBox="1"/>
          <p:nvPr/>
        </p:nvSpPr>
        <p:spPr>
          <a:xfrm>
            <a:off x="7648560" y="11233800"/>
            <a:ext cx="176760" cy="602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750" spc="-1" strike="noStrike">
                <a:solidFill>
                  <a:srgbClr val="161a25"/>
                </a:solidFill>
                <a:latin typeface="IBM Plex Mono"/>
              </a:rPr>
              <a:t>L3</a:t>
            </a:r>
            <a:endParaRPr b="1" lang="en-US" sz="750" spc="-1" strike="noStrike">
              <a:solidFill>
                <a:srgbClr val="161a25"/>
              </a:solidFill>
              <a:latin typeface="IBM Plex Mono"/>
              <a:ea typeface="IBM Plex Mono"/>
            </a:endParaRPr>
          </a:p>
        </p:txBody>
      </p:sp>
      <p:sp>
        <p:nvSpPr>
          <p:cNvPr id="138" name="fig01-text-127"/>
          <p:cNvSpPr txBox="1"/>
          <p:nvPr/>
        </p:nvSpPr>
        <p:spPr>
          <a:xfrm>
            <a:off x="7572240" y="11396520"/>
            <a:ext cx="2905200" cy="421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zh-CN" sz="1130" spc="-1" strike="noStrike">
                <a:solidFill>
                  <a:srgbClr val="161a25"/>
                </a:solidFill>
                <a:latin typeface="PingFang SC"/>
              </a:rPr>
              <a:t>事实与计划</a:t>
            </a:r>
            <a:endParaRPr b="1" lang="en-US" sz="1130" spc="-1" strike="noStrike">
              <a:solidFill>
                <a:srgbClr val="161a25"/>
              </a:solidFill>
              <a:latin typeface="PingFang SC"/>
              <a:ea typeface="PingFang SC"/>
            </a:endParaRPr>
          </a:p>
        </p:txBody>
      </p:sp>
      <p:sp>
        <p:nvSpPr>
          <p:cNvPr id="139" name="fig01-text-128"/>
          <p:cNvSpPr txBox="1"/>
          <p:nvPr/>
        </p:nvSpPr>
        <p:spPr>
          <a:xfrm>
            <a:off x="7572240" y="11594880"/>
            <a:ext cx="2905200" cy="752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zh-CN" sz="900" spc="-1" strike="noStrike">
                <a:solidFill>
                  <a:srgbClr val="667085"/>
                </a:solidFill>
                <a:latin typeface="PingFang SC"/>
              </a:rPr>
              <a:t>事实、预测、需求、生产、物料、排班计划</a:t>
            </a:r>
            <a:endParaRPr b="0" lang="en-US" sz="900" spc="-1" strike="noStrike">
              <a:solidFill>
                <a:srgbClr val="667085"/>
              </a:solidFill>
              <a:latin typeface="PingFang SC"/>
              <a:ea typeface="PingFang SC"/>
            </a:endParaRPr>
          </a:p>
        </p:txBody>
      </p:sp>
      <p:sp>
        <p:nvSpPr>
          <p:cNvPr id="140" name="fig01-card"/>
          <p:cNvSpPr/>
          <p:nvPr/>
        </p:nvSpPr>
        <p:spPr>
          <a:xfrm>
            <a:off x="571680" y="12115800"/>
            <a:ext cx="3191040" cy="838080"/>
          </a:xfrm>
          <a:prstGeom prst="roundRect">
            <a:avLst/>
          </a:prstGeom>
          <a:solidFill>
            <a:srgbClr val="ffffff"/>
          </a:solidFill>
          <a:ln w="11520">
            <a:solidFill>
              <a:srgbClr val="161a25"/>
            </a:solidFill>
            <a:round/>
          </a:ln>
        </p:spPr>
        <p:txBody>
          <a:bodyPr lIns="95760" rIns="95760" tIns="50760" bIns="5076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1" name="fig01-card"/>
          <p:cNvSpPr/>
          <p:nvPr/>
        </p:nvSpPr>
        <p:spPr>
          <a:xfrm>
            <a:off x="704880" y="12249000"/>
            <a:ext cx="857160" cy="190440"/>
          </a:xfrm>
          <a:prstGeom prst="roundRect">
            <a:avLst/>
          </a:prstGeom>
          <a:solidFill>
            <a:srgbClr val="e3e4e5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2" name="fig01-text-131"/>
          <p:cNvSpPr txBox="1"/>
          <p:nvPr/>
        </p:nvSpPr>
        <p:spPr>
          <a:xfrm>
            <a:off x="790560" y="12300480"/>
            <a:ext cx="176760" cy="602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750" spc="-1" strike="noStrike">
                <a:solidFill>
                  <a:srgbClr val="161a25"/>
                </a:solidFill>
                <a:latin typeface="IBM Plex Mono"/>
              </a:rPr>
              <a:t>L4</a:t>
            </a:r>
            <a:endParaRPr b="1" lang="en-US" sz="750" spc="-1" strike="noStrike">
              <a:solidFill>
                <a:srgbClr val="161a25"/>
              </a:solidFill>
              <a:latin typeface="IBM Plex Mono"/>
              <a:ea typeface="IBM Plex Mono"/>
            </a:endParaRPr>
          </a:p>
        </p:txBody>
      </p:sp>
      <p:sp>
        <p:nvSpPr>
          <p:cNvPr id="143" name="fig01-text-132"/>
          <p:cNvSpPr txBox="1"/>
          <p:nvPr/>
        </p:nvSpPr>
        <p:spPr>
          <a:xfrm>
            <a:off x="714240" y="12463560"/>
            <a:ext cx="2905200" cy="421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zh-CN" sz="1130" spc="-1" strike="noStrike">
                <a:solidFill>
                  <a:srgbClr val="161a25"/>
                </a:solidFill>
                <a:latin typeface="PingFang SC"/>
              </a:rPr>
              <a:t>业务执行</a:t>
            </a:r>
            <a:endParaRPr b="1" lang="en-US" sz="1130" spc="-1" strike="noStrike">
              <a:solidFill>
                <a:srgbClr val="161a25"/>
              </a:solidFill>
              <a:latin typeface="PingFang SC"/>
              <a:ea typeface="PingFang SC"/>
            </a:endParaRPr>
          </a:p>
        </p:txBody>
      </p:sp>
      <p:sp>
        <p:nvSpPr>
          <p:cNvPr id="144" name="fig01-text-133"/>
          <p:cNvSpPr txBox="1"/>
          <p:nvPr/>
        </p:nvSpPr>
        <p:spPr>
          <a:xfrm>
            <a:off x="714240" y="12661560"/>
            <a:ext cx="2905200" cy="752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zh-CN" sz="900" spc="-1" strike="noStrike">
                <a:solidFill>
                  <a:srgbClr val="667085"/>
                </a:solidFill>
                <a:latin typeface="PingFang SC"/>
              </a:rPr>
              <a:t>采购、收货、领料、生产、质检、配送、结算</a:t>
            </a:r>
            <a:endParaRPr b="0" lang="en-US" sz="900" spc="-1" strike="noStrike">
              <a:solidFill>
                <a:srgbClr val="667085"/>
              </a:solidFill>
              <a:latin typeface="PingFang SC"/>
              <a:ea typeface="PingFang SC"/>
            </a:endParaRPr>
          </a:p>
        </p:txBody>
      </p:sp>
      <p:sp>
        <p:nvSpPr>
          <p:cNvPr id="145" name="fig01-card"/>
          <p:cNvSpPr/>
          <p:nvPr/>
        </p:nvSpPr>
        <p:spPr>
          <a:xfrm>
            <a:off x="4000320" y="12115800"/>
            <a:ext cx="3191040" cy="838080"/>
          </a:xfrm>
          <a:prstGeom prst="roundRect">
            <a:avLst/>
          </a:prstGeom>
          <a:solidFill>
            <a:srgbClr val="ffffff"/>
          </a:solidFill>
          <a:ln w="11520">
            <a:solidFill>
              <a:srgbClr val="161a25"/>
            </a:solidFill>
            <a:round/>
          </a:ln>
        </p:spPr>
        <p:txBody>
          <a:bodyPr lIns="95760" rIns="95760" tIns="50760" bIns="5076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6" name="fig01-card"/>
          <p:cNvSpPr/>
          <p:nvPr/>
        </p:nvSpPr>
        <p:spPr>
          <a:xfrm>
            <a:off x="4133880" y="12249000"/>
            <a:ext cx="857160" cy="190440"/>
          </a:xfrm>
          <a:prstGeom prst="roundRect">
            <a:avLst/>
          </a:prstGeom>
          <a:solidFill>
            <a:srgbClr val="e3e4e5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7" name="fig01-text-136"/>
          <p:cNvSpPr txBox="1"/>
          <p:nvPr/>
        </p:nvSpPr>
        <p:spPr>
          <a:xfrm>
            <a:off x="4219560" y="12300480"/>
            <a:ext cx="176760" cy="602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750" spc="-1" strike="noStrike">
                <a:solidFill>
                  <a:srgbClr val="161a25"/>
                </a:solidFill>
                <a:latin typeface="IBM Plex Mono"/>
              </a:rPr>
              <a:t>L5</a:t>
            </a:r>
            <a:endParaRPr b="1" lang="en-US" sz="750" spc="-1" strike="noStrike">
              <a:solidFill>
                <a:srgbClr val="161a25"/>
              </a:solidFill>
              <a:latin typeface="IBM Plex Mono"/>
              <a:ea typeface="IBM Plex Mono"/>
            </a:endParaRPr>
          </a:p>
        </p:txBody>
      </p:sp>
      <p:sp>
        <p:nvSpPr>
          <p:cNvPr id="148" name="fig01-text-137"/>
          <p:cNvSpPr txBox="1"/>
          <p:nvPr/>
        </p:nvSpPr>
        <p:spPr>
          <a:xfrm>
            <a:off x="4143240" y="12463560"/>
            <a:ext cx="2905200" cy="421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zh-CN" sz="1130" spc="-1" strike="noStrike">
                <a:solidFill>
                  <a:srgbClr val="161a25"/>
                </a:solidFill>
                <a:latin typeface="PingFang SC"/>
              </a:rPr>
              <a:t>智能分析</a:t>
            </a:r>
            <a:endParaRPr b="1" lang="en-US" sz="1130" spc="-1" strike="noStrike">
              <a:solidFill>
                <a:srgbClr val="161a25"/>
              </a:solidFill>
              <a:latin typeface="PingFang SC"/>
              <a:ea typeface="PingFang SC"/>
            </a:endParaRPr>
          </a:p>
        </p:txBody>
      </p:sp>
      <p:sp>
        <p:nvSpPr>
          <p:cNvPr id="149" name="fig01-text-138"/>
          <p:cNvSpPr txBox="1"/>
          <p:nvPr/>
        </p:nvSpPr>
        <p:spPr>
          <a:xfrm>
            <a:off x="4143240" y="12661560"/>
            <a:ext cx="2905200" cy="752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zh-CN" sz="900" spc="-1" strike="noStrike">
                <a:solidFill>
                  <a:srgbClr val="667085"/>
                </a:solidFill>
                <a:latin typeface="PingFang SC"/>
              </a:rPr>
              <a:t>对账、成本、产能、风险、经营洞察、优化候选</a:t>
            </a:r>
            <a:endParaRPr b="0" lang="en-US" sz="900" spc="-1" strike="noStrike">
              <a:solidFill>
                <a:srgbClr val="667085"/>
              </a:solidFill>
              <a:latin typeface="PingFang SC"/>
              <a:ea typeface="PingFang SC"/>
            </a:endParaRPr>
          </a:p>
        </p:txBody>
      </p:sp>
      <p:sp>
        <p:nvSpPr>
          <p:cNvPr id="150" name="fig01-card"/>
          <p:cNvSpPr/>
          <p:nvPr/>
        </p:nvSpPr>
        <p:spPr>
          <a:xfrm>
            <a:off x="7429680" y="12115800"/>
            <a:ext cx="3191040" cy="838080"/>
          </a:xfrm>
          <a:prstGeom prst="roundRect">
            <a:avLst/>
          </a:prstGeom>
          <a:solidFill>
            <a:srgbClr val="ffffff"/>
          </a:solidFill>
          <a:ln w="11520">
            <a:solidFill>
              <a:srgbClr val="161a25"/>
            </a:solidFill>
            <a:round/>
          </a:ln>
        </p:spPr>
        <p:txBody>
          <a:bodyPr lIns="95760" rIns="95760" tIns="50760" bIns="5076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1" name="fig01-card"/>
          <p:cNvSpPr/>
          <p:nvPr/>
        </p:nvSpPr>
        <p:spPr>
          <a:xfrm>
            <a:off x="7562880" y="12249000"/>
            <a:ext cx="857160" cy="190440"/>
          </a:xfrm>
          <a:prstGeom prst="roundRect">
            <a:avLst/>
          </a:prstGeom>
          <a:solidFill>
            <a:srgbClr val="e3e4e5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2" name="fig01-text-141"/>
          <p:cNvSpPr txBox="1"/>
          <p:nvPr/>
        </p:nvSpPr>
        <p:spPr>
          <a:xfrm>
            <a:off x="7648560" y="12300480"/>
            <a:ext cx="176760" cy="602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750" spc="-1" strike="noStrike">
                <a:solidFill>
                  <a:srgbClr val="161a25"/>
                </a:solidFill>
                <a:latin typeface="IBM Plex Mono"/>
              </a:rPr>
              <a:t>L6</a:t>
            </a:r>
            <a:endParaRPr b="1" lang="en-US" sz="750" spc="-1" strike="noStrike">
              <a:solidFill>
                <a:srgbClr val="161a25"/>
              </a:solidFill>
              <a:latin typeface="IBM Plex Mono"/>
              <a:ea typeface="IBM Plex Mono"/>
            </a:endParaRPr>
          </a:p>
        </p:txBody>
      </p:sp>
      <p:sp>
        <p:nvSpPr>
          <p:cNvPr id="153" name="fig01-text-142"/>
          <p:cNvSpPr txBox="1"/>
          <p:nvPr/>
        </p:nvSpPr>
        <p:spPr>
          <a:xfrm>
            <a:off x="7572240" y="12463560"/>
            <a:ext cx="2905200" cy="421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zh-CN" sz="1130" spc="-1" strike="noStrike">
                <a:solidFill>
                  <a:srgbClr val="161a25"/>
                </a:solidFill>
                <a:latin typeface="PingFang SC"/>
              </a:rPr>
              <a:t>人机交互</a:t>
            </a:r>
            <a:endParaRPr b="1" lang="en-US" sz="1130" spc="-1" strike="noStrike">
              <a:solidFill>
                <a:srgbClr val="161a25"/>
              </a:solidFill>
              <a:latin typeface="PingFang SC"/>
              <a:ea typeface="PingFang SC"/>
            </a:endParaRPr>
          </a:p>
        </p:txBody>
      </p:sp>
      <p:sp>
        <p:nvSpPr>
          <p:cNvPr id="154" name="fig01-text-143"/>
          <p:cNvSpPr txBox="1"/>
          <p:nvPr/>
        </p:nvSpPr>
        <p:spPr>
          <a:xfrm>
            <a:off x="7572240" y="12661560"/>
            <a:ext cx="2905200" cy="752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zh-CN" sz="900" spc="-1" strike="noStrike">
                <a:solidFill>
                  <a:srgbClr val="667085"/>
                </a:solidFill>
                <a:latin typeface="PingFang SC"/>
              </a:rPr>
              <a:t>任务、审批、例外、看板、告警、反馈、审计</a:t>
            </a:r>
            <a:endParaRPr b="0" lang="en-US" sz="900" spc="-1" strike="noStrike">
              <a:solidFill>
                <a:srgbClr val="667085"/>
              </a:solidFill>
              <a:latin typeface="PingFang SC"/>
              <a:ea typeface="PingFang SC"/>
            </a:endParaRPr>
          </a:p>
        </p:txBody>
      </p:sp>
      <p:sp>
        <p:nvSpPr>
          <p:cNvPr id="155" name="fig01-card"/>
          <p:cNvSpPr/>
          <p:nvPr/>
        </p:nvSpPr>
        <p:spPr>
          <a:xfrm>
            <a:off x="571680" y="13220640"/>
            <a:ext cx="47520" cy="209520"/>
          </a:xfrm>
          <a:prstGeom prst="roundRect">
            <a:avLst/>
          </a:prstGeom>
          <a:solidFill>
            <a:srgbClr val="4f46e5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6" name="fig01-text-145"/>
          <p:cNvSpPr txBox="1"/>
          <p:nvPr/>
        </p:nvSpPr>
        <p:spPr>
          <a:xfrm>
            <a:off x="743040" y="13300560"/>
            <a:ext cx="236520" cy="85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750" spc="-1" strike="noStrike">
                <a:solidFill>
                  <a:srgbClr val="4f46e5"/>
                </a:solidFill>
                <a:latin typeface="IBM Plex Mono"/>
              </a:rPr>
              <a:t>01D</a:t>
            </a:r>
            <a:endParaRPr b="1" lang="en-US" sz="750" spc="-1" strike="noStrike">
              <a:solidFill>
                <a:srgbClr val="4f46e5"/>
              </a:solidFill>
              <a:latin typeface="IBM Plex Mono"/>
              <a:ea typeface="IBM Plex Mono"/>
            </a:endParaRPr>
          </a:p>
        </p:txBody>
      </p:sp>
      <p:sp>
        <p:nvSpPr>
          <p:cNvPr id="157" name="fig01-text-146"/>
          <p:cNvSpPr txBox="1"/>
          <p:nvPr/>
        </p:nvSpPr>
        <p:spPr>
          <a:xfrm>
            <a:off x="1428840" y="13251600"/>
            <a:ext cx="2275920" cy="752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zh-CN" sz="1200" spc="-1" strike="noStrike">
                <a:solidFill>
                  <a:srgbClr val="161a25"/>
                </a:solidFill>
                <a:latin typeface="PingFang SC"/>
              </a:rPr>
              <a:t>三项横贯能力与人机受控进化</a:t>
            </a:r>
            <a:endParaRPr b="1" lang="en-US" sz="1200" spc="-1" strike="noStrike">
              <a:solidFill>
                <a:srgbClr val="161a25"/>
              </a:solidFill>
              <a:latin typeface="PingFang SC"/>
              <a:ea typeface="PingFang SC"/>
            </a:endParaRPr>
          </a:p>
        </p:txBody>
      </p:sp>
      <p:sp>
        <p:nvSpPr>
          <p:cNvPr id="158" name="fig01-text-147"/>
          <p:cNvSpPr txBox="1"/>
          <p:nvPr/>
        </p:nvSpPr>
        <p:spPr>
          <a:xfrm>
            <a:off x="7921080" y="13294080"/>
            <a:ext cx="2937600" cy="1082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algn="r"/>
            <a:r>
              <a:rPr b="0" lang="zh-CN" sz="810" spc="-1" strike="noStrike">
                <a:solidFill>
                  <a:srgbClr val="667085"/>
                </a:solidFill>
                <a:latin typeface="PingFang SC"/>
              </a:rPr>
              <a:t>横贯能力不是外挂模块，而是每个对象和工作节点的约束</a:t>
            </a:r>
            <a:endParaRPr b="0" lang="en-US" sz="810" spc="-1" strike="noStrike">
              <a:solidFill>
                <a:srgbClr val="667085"/>
              </a:solidFill>
              <a:latin typeface="PingFang SC"/>
              <a:ea typeface="PingFang SC"/>
            </a:endParaRPr>
          </a:p>
        </p:txBody>
      </p:sp>
      <p:sp>
        <p:nvSpPr>
          <p:cNvPr id="159" name="fig01-card"/>
          <p:cNvSpPr/>
          <p:nvPr/>
        </p:nvSpPr>
        <p:spPr>
          <a:xfrm>
            <a:off x="571680" y="13668480"/>
            <a:ext cx="10287000" cy="609480"/>
          </a:xfrm>
          <a:prstGeom prst="roundRect">
            <a:avLst/>
          </a:prstGeom>
          <a:solidFill>
            <a:srgbClr val="eef6ff"/>
          </a:solidFill>
          <a:ln w="11520">
            <a:solidFill>
              <a:srgbClr val="2d8eff"/>
            </a:solidFill>
            <a:round/>
          </a:ln>
        </p:spPr>
        <p:txBody>
          <a:bodyPr lIns="95760" rIns="95760" tIns="50760" bIns="5076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0" name="fig01-card"/>
          <p:cNvSpPr/>
          <p:nvPr/>
        </p:nvSpPr>
        <p:spPr>
          <a:xfrm>
            <a:off x="704880" y="13801680"/>
            <a:ext cx="1087920" cy="190440"/>
          </a:xfrm>
          <a:prstGeom prst="roundRect">
            <a:avLst/>
          </a:prstGeom>
          <a:solidFill>
            <a:srgbClr val="e6f1ff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1" name="fig01-text-150"/>
          <p:cNvSpPr txBox="1"/>
          <p:nvPr/>
        </p:nvSpPr>
        <p:spPr>
          <a:xfrm>
            <a:off x="790560" y="13853160"/>
            <a:ext cx="833760" cy="1114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750" spc="-1" strike="noStrike">
                <a:solidFill>
                  <a:srgbClr val="2d8eff"/>
                </a:solidFill>
                <a:latin typeface="IBM Plex Mono"/>
              </a:rPr>
              <a:t>CROSS-CUTTING</a:t>
            </a:r>
            <a:endParaRPr b="1" lang="en-US" sz="750" spc="-1" strike="noStrike">
              <a:solidFill>
                <a:srgbClr val="2d8eff"/>
              </a:solidFill>
              <a:latin typeface="IBM Plex Mono"/>
              <a:ea typeface="IBM Plex Mono"/>
            </a:endParaRPr>
          </a:p>
        </p:txBody>
      </p:sp>
      <p:sp>
        <p:nvSpPr>
          <p:cNvPr id="162" name="fig01-text-151"/>
          <p:cNvSpPr txBox="1"/>
          <p:nvPr/>
        </p:nvSpPr>
        <p:spPr>
          <a:xfrm>
            <a:off x="714240" y="14015880"/>
            <a:ext cx="10001160" cy="421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zh-CN" sz="1130" spc="-1" strike="noStrike">
                <a:solidFill>
                  <a:srgbClr val="161a25"/>
                </a:solidFill>
                <a:latin typeface="PingFang SC"/>
              </a:rPr>
              <a:t>数据治理与血缘</a:t>
            </a:r>
            <a:endParaRPr b="1" lang="en-US" sz="1130" spc="-1" strike="noStrike">
              <a:solidFill>
                <a:srgbClr val="161a25"/>
              </a:solidFill>
              <a:latin typeface="PingFang SC"/>
              <a:ea typeface="PingFang SC"/>
            </a:endParaRPr>
          </a:p>
        </p:txBody>
      </p:sp>
      <p:sp>
        <p:nvSpPr>
          <p:cNvPr id="163" name="fig01-text-152"/>
          <p:cNvSpPr txBox="1"/>
          <p:nvPr/>
        </p:nvSpPr>
        <p:spPr>
          <a:xfrm>
            <a:off x="723960" y="14341680"/>
            <a:ext cx="2935080" cy="752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zh-CN" sz="900" spc="-1" strike="noStrike">
                <a:solidFill>
                  <a:srgbClr val="667085"/>
                </a:solidFill>
                <a:latin typeface="PingFang SC"/>
              </a:rPr>
              <a:t>原始值不可覆盖 </a:t>
            </a:r>
            <a:r>
              <a:rPr b="0" lang="en-US" sz="900" spc="-1" strike="noStrike">
                <a:solidFill>
                  <a:srgbClr val="667085"/>
                </a:solidFill>
                <a:latin typeface="PingFang SC"/>
              </a:rPr>
              <a:t>· </a:t>
            </a:r>
            <a:r>
              <a:rPr b="0" lang="zh-CN" sz="900" spc="-1" strike="noStrike">
                <a:solidFill>
                  <a:srgbClr val="667085"/>
                </a:solidFill>
                <a:latin typeface="PingFang SC"/>
              </a:rPr>
              <a:t>责任源 </a:t>
            </a:r>
            <a:r>
              <a:rPr b="0" lang="en-US" sz="900" spc="-1" strike="noStrike">
                <a:solidFill>
                  <a:srgbClr val="667085"/>
                </a:solidFill>
                <a:latin typeface="PingFang SC"/>
              </a:rPr>
              <a:t>· </a:t>
            </a:r>
            <a:r>
              <a:rPr b="0" lang="zh-CN" sz="900" spc="-1" strike="noStrike">
                <a:solidFill>
                  <a:srgbClr val="667085"/>
                </a:solidFill>
                <a:latin typeface="PingFang SC"/>
              </a:rPr>
              <a:t>对账差异 </a:t>
            </a:r>
            <a:r>
              <a:rPr b="0" lang="en-US" sz="900" spc="-1" strike="noStrike">
                <a:solidFill>
                  <a:srgbClr val="667085"/>
                </a:solidFill>
                <a:latin typeface="PingFang SC"/>
              </a:rPr>
              <a:t>· </a:t>
            </a:r>
            <a:r>
              <a:rPr b="0" lang="zh-CN" sz="900" spc="-1" strike="noStrike">
                <a:solidFill>
                  <a:srgbClr val="667085"/>
                </a:solidFill>
                <a:latin typeface="PingFang SC"/>
              </a:rPr>
              <a:t>可重跑计算</a:t>
            </a:r>
            <a:endParaRPr b="0" lang="en-US" sz="900" spc="-1" strike="noStrike">
              <a:solidFill>
                <a:srgbClr val="667085"/>
              </a:solidFill>
              <a:latin typeface="PingFang SC"/>
              <a:ea typeface="PingFang SC"/>
            </a:endParaRPr>
          </a:p>
        </p:txBody>
      </p:sp>
      <p:sp>
        <p:nvSpPr>
          <p:cNvPr id="164" name="fig01-card"/>
          <p:cNvSpPr/>
          <p:nvPr/>
        </p:nvSpPr>
        <p:spPr>
          <a:xfrm>
            <a:off x="571680" y="14449320"/>
            <a:ext cx="10287000" cy="609480"/>
          </a:xfrm>
          <a:prstGeom prst="roundRect">
            <a:avLst/>
          </a:prstGeom>
          <a:solidFill>
            <a:srgbClr val="fff1f2"/>
          </a:solidFill>
          <a:ln w="11520">
            <a:solidFill>
              <a:srgbClr val="e60012"/>
            </a:solidFill>
            <a:round/>
          </a:ln>
        </p:spPr>
        <p:txBody>
          <a:bodyPr lIns="95760" rIns="95760" tIns="50760" bIns="5076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5" name="fig01-card"/>
          <p:cNvSpPr/>
          <p:nvPr/>
        </p:nvSpPr>
        <p:spPr>
          <a:xfrm>
            <a:off x="704880" y="14582880"/>
            <a:ext cx="1087920" cy="190440"/>
          </a:xfrm>
          <a:prstGeom prst="roundRect">
            <a:avLst/>
          </a:prstGeom>
          <a:solidFill>
            <a:srgbClr val="fce0e3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6" name="fig01-text-155"/>
          <p:cNvSpPr txBox="1"/>
          <p:nvPr/>
        </p:nvSpPr>
        <p:spPr>
          <a:xfrm>
            <a:off x="790560" y="14634360"/>
            <a:ext cx="833760" cy="1114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750" spc="-1" strike="noStrike">
                <a:solidFill>
                  <a:srgbClr val="e60012"/>
                </a:solidFill>
                <a:latin typeface="IBM Plex Mono"/>
              </a:rPr>
              <a:t>CROSS-CUTTING</a:t>
            </a:r>
            <a:endParaRPr b="1" lang="en-US" sz="750" spc="-1" strike="noStrike">
              <a:solidFill>
                <a:srgbClr val="e60012"/>
              </a:solidFill>
              <a:latin typeface="IBM Plex Mono"/>
              <a:ea typeface="IBM Plex Mono"/>
            </a:endParaRPr>
          </a:p>
        </p:txBody>
      </p:sp>
      <p:sp>
        <p:nvSpPr>
          <p:cNvPr id="167" name="fig01-text-156"/>
          <p:cNvSpPr txBox="1"/>
          <p:nvPr/>
        </p:nvSpPr>
        <p:spPr>
          <a:xfrm>
            <a:off x="714240" y="14797080"/>
            <a:ext cx="10001160" cy="421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zh-CN" sz="1130" spc="-1" strike="noStrike">
                <a:solidFill>
                  <a:srgbClr val="161a25"/>
                </a:solidFill>
                <a:latin typeface="PingFang SC"/>
              </a:rPr>
              <a:t>权限、版本与审计</a:t>
            </a:r>
            <a:endParaRPr b="1" lang="en-US" sz="1130" spc="-1" strike="noStrike">
              <a:solidFill>
                <a:srgbClr val="161a25"/>
              </a:solidFill>
              <a:latin typeface="PingFang SC"/>
              <a:ea typeface="PingFang SC"/>
            </a:endParaRPr>
          </a:p>
        </p:txBody>
      </p:sp>
      <p:sp>
        <p:nvSpPr>
          <p:cNvPr id="168" name="fig01-text-157"/>
          <p:cNvSpPr txBox="1"/>
          <p:nvPr/>
        </p:nvSpPr>
        <p:spPr>
          <a:xfrm>
            <a:off x="723960" y="15122520"/>
            <a:ext cx="3252600" cy="752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zh-CN" sz="900" spc="-1" strike="noStrike">
                <a:solidFill>
                  <a:srgbClr val="667085"/>
                </a:solidFill>
                <a:latin typeface="PingFang SC"/>
              </a:rPr>
              <a:t>审批 </a:t>
            </a:r>
            <a:r>
              <a:rPr b="0" lang="en-US" sz="900" spc="-1" strike="noStrike">
                <a:solidFill>
                  <a:srgbClr val="667085"/>
                </a:solidFill>
                <a:latin typeface="PingFang SC"/>
              </a:rPr>
              <a:t>/ </a:t>
            </a:r>
            <a:r>
              <a:rPr b="0" lang="zh-CN" sz="900" spc="-1" strike="noStrike">
                <a:solidFill>
                  <a:srgbClr val="667085"/>
                </a:solidFill>
                <a:latin typeface="PingFang SC"/>
              </a:rPr>
              <a:t>生效 </a:t>
            </a:r>
            <a:r>
              <a:rPr b="0" lang="en-US" sz="900" spc="-1" strike="noStrike">
                <a:solidFill>
                  <a:srgbClr val="667085"/>
                </a:solidFill>
                <a:latin typeface="PingFang SC"/>
              </a:rPr>
              <a:t>/ </a:t>
            </a:r>
            <a:r>
              <a:rPr b="0" lang="zh-CN" sz="900" spc="-1" strike="noStrike">
                <a:solidFill>
                  <a:srgbClr val="667085"/>
                </a:solidFill>
                <a:latin typeface="PingFang SC"/>
              </a:rPr>
              <a:t>冻结 </a:t>
            </a:r>
            <a:r>
              <a:rPr b="0" lang="en-US" sz="900" spc="-1" strike="noStrike">
                <a:solidFill>
                  <a:srgbClr val="667085"/>
                </a:solidFill>
                <a:latin typeface="PingFang SC"/>
              </a:rPr>
              <a:t>/ </a:t>
            </a:r>
            <a:r>
              <a:rPr b="0" lang="zh-CN" sz="900" spc="-1" strike="noStrike">
                <a:solidFill>
                  <a:srgbClr val="667085"/>
                </a:solidFill>
                <a:latin typeface="PingFang SC"/>
              </a:rPr>
              <a:t>变更 </a:t>
            </a:r>
            <a:r>
              <a:rPr b="0" lang="en-US" sz="900" spc="-1" strike="noStrike">
                <a:solidFill>
                  <a:srgbClr val="667085"/>
                </a:solidFill>
                <a:latin typeface="PingFang SC"/>
              </a:rPr>
              <a:t>/ </a:t>
            </a:r>
            <a:r>
              <a:rPr b="0" lang="zh-CN" sz="900" spc="-1" strike="noStrike">
                <a:solidFill>
                  <a:srgbClr val="667085"/>
                </a:solidFill>
                <a:latin typeface="PingFang SC"/>
              </a:rPr>
              <a:t>作废 </a:t>
            </a:r>
            <a:r>
              <a:rPr b="0" lang="en-US" sz="900" spc="-1" strike="noStrike">
                <a:solidFill>
                  <a:srgbClr val="667085"/>
                </a:solidFill>
                <a:latin typeface="PingFang SC"/>
              </a:rPr>
              <a:t>· </a:t>
            </a:r>
            <a:r>
              <a:rPr b="0" lang="zh-CN" sz="900" spc="-1" strike="noStrike">
                <a:solidFill>
                  <a:srgbClr val="667085"/>
                </a:solidFill>
                <a:latin typeface="PingFang SC"/>
              </a:rPr>
              <a:t>历史快照 </a:t>
            </a:r>
            <a:r>
              <a:rPr b="0" lang="en-US" sz="900" spc="-1" strike="noStrike">
                <a:solidFill>
                  <a:srgbClr val="667085"/>
                </a:solidFill>
                <a:latin typeface="PingFang SC"/>
              </a:rPr>
              <a:t>· </a:t>
            </a:r>
            <a:r>
              <a:rPr b="0" lang="zh-CN" sz="900" spc="-1" strike="noStrike">
                <a:solidFill>
                  <a:srgbClr val="667085"/>
                </a:solidFill>
                <a:latin typeface="PingFang SC"/>
              </a:rPr>
              <a:t>审计日志</a:t>
            </a:r>
            <a:endParaRPr b="0" lang="en-US" sz="900" spc="-1" strike="noStrike">
              <a:solidFill>
                <a:srgbClr val="667085"/>
              </a:solidFill>
              <a:latin typeface="PingFang SC"/>
              <a:ea typeface="PingFang SC"/>
            </a:endParaRPr>
          </a:p>
        </p:txBody>
      </p:sp>
      <p:sp>
        <p:nvSpPr>
          <p:cNvPr id="169" name="fig01-card"/>
          <p:cNvSpPr/>
          <p:nvPr/>
        </p:nvSpPr>
        <p:spPr>
          <a:xfrm>
            <a:off x="571680" y="15230520"/>
            <a:ext cx="10287000" cy="609480"/>
          </a:xfrm>
          <a:prstGeom prst="roundRect">
            <a:avLst/>
          </a:prstGeom>
          <a:solidFill>
            <a:srgbClr val="f5f1ff"/>
          </a:solidFill>
          <a:ln w="11520">
            <a:solidFill>
              <a:srgbClr val="8b5aca"/>
            </a:solidFill>
            <a:round/>
          </a:ln>
        </p:spPr>
        <p:txBody>
          <a:bodyPr lIns="95760" rIns="95760" tIns="50760" bIns="5076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0" name="fig01-card"/>
          <p:cNvSpPr/>
          <p:nvPr/>
        </p:nvSpPr>
        <p:spPr>
          <a:xfrm>
            <a:off x="704880" y="15363720"/>
            <a:ext cx="1087920" cy="190440"/>
          </a:xfrm>
          <a:prstGeom prst="roundRect">
            <a:avLst/>
          </a:prstGeom>
          <a:solidFill>
            <a:srgbClr val="f1ebf9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1" name="fig01-text-160"/>
          <p:cNvSpPr txBox="1"/>
          <p:nvPr/>
        </p:nvSpPr>
        <p:spPr>
          <a:xfrm>
            <a:off x="790560" y="15415200"/>
            <a:ext cx="833760" cy="1114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750" spc="-1" strike="noStrike">
                <a:solidFill>
                  <a:srgbClr val="8b5aca"/>
                </a:solidFill>
                <a:latin typeface="IBM Plex Mono"/>
              </a:rPr>
              <a:t>CROSS-CUTTING</a:t>
            </a:r>
            <a:endParaRPr b="1" lang="en-US" sz="750" spc="-1" strike="noStrike">
              <a:solidFill>
                <a:srgbClr val="8b5aca"/>
              </a:solidFill>
              <a:latin typeface="IBM Plex Mono"/>
              <a:ea typeface="IBM Plex Mono"/>
            </a:endParaRPr>
          </a:p>
        </p:txBody>
      </p:sp>
      <p:sp>
        <p:nvSpPr>
          <p:cNvPr id="172" name="fig01-text-161"/>
          <p:cNvSpPr txBox="1"/>
          <p:nvPr/>
        </p:nvSpPr>
        <p:spPr>
          <a:xfrm>
            <a:off x="714240" y="15578280"/>
            <a:ext cx="10001160" cy="421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1130" spc="-1" strike="noStrike">
                <a:solidFill>
                  <a:srgbClr val="161a25"/>
                </a:solidFill>
                <a:latin typeface="PingFang SC"/>
              </a:rPr>
              <a:t>AI </a:t>
            </a:r>
            <a:r>
              <a:rPr b="1" lang="zh-CN" sz="1130" spc="-1" strike="noStrike">
                <a:solidFill>
                  <a:srgbClr val="161a25"/>
                </a:solidFill>
                <a:latin typeface="PingFang SC"/>
              </a:rPr>
              <a:t>协同与受控学习</a:t>
            </a:r>
            <a:endParaRPr b="1" lang="en-US" sz="1130" spc="-1" strike="noStrike">
              <a:solidFill>
                <a:srgbClr val="161a25"/>
              </a:solidFill>
              <a:latin typeface="PingFang SC"/>
              <a:ea typeface="PingFang SC"/>
            </a:endParaRPr>
          </a:p>
        </p:txBody>
      </p:sp>
      <p:sp>
        <p:nvSpPr>
          <p:cNvPr id="173" name="fig01-text-162"/>
          <p:cNvSpPr txBox="1"/>
          <p:nvPr/>
        </p:nvSpPr>
        <p:spPr>
          <a:xfrm>
            <a:off x="723960" y="15903720"/>
            <a:ext cx="3488040" cy="752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zh-CN" sz="900" spc="-1" strike="noStrike">
                <a:solidFill>
                  <a:srgbClr val="667085"/>
                </a:solidFill>
                <a:latin typeface="PingFang SC"/>
              </a:rPr>
              <a:t>事实整理 </a:t>
            </a:r>
            <a:r>
              <a:rPr b="0" lang="en-US" sz="900" spc="-1" strike="noStrike">
                <a:solidFill>
                  <a:srgbClr val="667085"/>
                </a:solidFill>
                <a:latin typeface="PingFang SC"/>
              </a:rPr>
              <a:t>/ </a:t>
            </a:r>
            <a:r>
              <a:rPr b="0" lang="zh-CN" sz="900" spc="-1" strike="noStrike">
                <a:solidFill>
                  <a:srgbClr val="667085"/>
                </a:solidFill>
                <a:latin typeface="PingFang SC"/>
              </a:rPr>
              <a:t>分析 </a:t>
            </a:r>
            <a:r>
              <a:rPr b="0" lang="en-US" sz="900" spc="-1" strike="noStrike">
                <a:solidFill>
                  <a:srgbClr val="667085"/>
                </a:solidFill>
                <a:latin typeface="PingFang SC"/>
              </a:rPr>
              <a:t>/ </a:t>
            </a:r>
            <a:r>
              <a:rPr b="0" lang="zh-CN" sz="900" spc="-1" strike="noStrike">
                <a:solidFill>
                  <a:srgbClr val="667085"/>
                </a:solidFill>
                <a:latin typeface="PingFang SC"/>
              </a:rPr>
              <a:t>建议 → 优化候选 → 人工审核 → 新版本草稿</a:t>
            </a:r>
            <a:endParaRPr b="0" lang="en-US" sz="900" spc="-1" strike="noStrike">
              <a:solidFill>
                <a:srgbClr val="667085"/>
              </a:solidFill>
              <a:latin typeface="PingFang SC"/>
              <a:ea typeface="PingFang SC"/>
            </a:endParaRPr>
          </a:p>
        </p:txBody>
      </p:sp>
      <p:sp>
        <p:nvSpPr>
          <p:cNvPr id="174" name="fig01-card"/>
          <p:cNvSpPr/>
          <p:nvPr/>
        </p:nvSpPr>
        <p:spPr>
          <a:xfrm>
            <a:off x="571680" y="16078320"/>
            <a:ext cx="47520" cy="209520"/>
          </a:xfrm>
          <a:prstGeom prst="roundRect">
            <a:avLst/>
          </a:prstGeom>
          <a:solidFill>
            <a:srgbClr val="4f46e5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5" name="fig01-text-164"/>
          <p:cNvSpPr txBox="1"/>
          <p:nvPr/>
        </p:nvSpPr>
        <p:spPr>
          <a:xfrm>
            <a:off x="743040" y="16158240"/>
            <a:ext cx="236520" cy="85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750" spc="-1" strike="noStrike">
                <a:solidFill>
                  <a:srgbClr val="4f46e5"/>
                </a:solidFill>
                <a:latin typeface="IBM Plex Mono"/>
              </a:rPr>
              <a:t>01E</a:t>
            </a:r>
            <a:endParaRPr b="1" lang="en-US" sz="750" spc="-1" strike="noStrike">
              <a:solidFill>
                <a:srgbClr val="4f46e5"/>
              </a:solidFill>
              <a:latin typeface="IBM Plex Mono"/>
              <a:ea typeface="IBM Plex Mono"/>
            </a:endParaRPr>
          </a:p>
        </p:txBody>
      </p:sp>
      <p:sp>
        <p:nvSpPr>
          <p:cNvPr id="176" name="fig01-text-165"/>
          <p:cNvSpPr txBox="1"/>
          <p:nvPr/>
        </p:nvSpPr>
        <p:spPr>
          <a:xfrm>
            <a:off x="1428840" y="16108920"/>
            <a:ext cx="1081440" cy="752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zh-CN" sz="1200" spc="-1" strike="noStrike">
                <a:solidFill>
                  <a:srgbClr val="161a25"/>
                </a:solidFill>
                <a:latin typeface="PingFang SC"/>
              </a:rPr>
              <a:t>关键责任边界</a:t>
            </a:r>
            <a:endParaRPr b="1" lang="en-US" sz="1200" spc="-1" strike="noStrike">
              <a:solidFill>
                <a:srgbClr val="161a25"/>
              </a:solidFill>
              <a:latin typeface="PingFang SC"/>
              <a:ea typeface="PingFang SC"/>
            </a:endParaRPr>
          </a:p>
        </p:txBody>
      </p:sp>
      <p:sp>
        <p:nvSpPr>
          <p:cNvPr id="177" name="fig01-text-166"/>
          <p:cNvSpPr txBox="1"/>
          <p:nvPr/>
        </p:nvSpPr>
        <p:spPr>
          <a:xfrm>
            <a:off x="9073080" y="16151760"/>
            <a:ext cx="1785240" cy="1082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algn="r"/>
            <a:r>
              <a:rPr b="0" lang="zh-CN" sz="810" spc="-1" strike="noStrike">
                <a:solidFill>
                  <a:srgbClr val="667085"/>
                </a:solidFill>
                <a:latin typeface="PingFang SC"/>
              </a:rPr>
              <a:t>专业人员与系统的边界必须可审计</a:t>
            </a:r>
            <a:endParaRPr b="0" lang="en-US" sz="810" spc="-1" strike="noStrike">
              <a:solidFill>
                <a:srgbClr val="667085"/>
              </a:solidFill>
              <a:latin typeface="PingFang SC"/>
              <a:ea typeface="PingFang SC"/>
            </a:endParaRPr>
          </a:p>
        </p:txBody>
      </p:sp>
      <p:sp>
        <p:nvSpPr>
          <p:cNvPr id="178" name="fig01-card"/>
          <p:cNvSpPr/>
          <p:nvPr/>
        </p:nvSpPr>
        <p:spPr>
          <a:xfrm>
            <a:off x="571680" y="16497360"/>
            <a:ext cx="4952880" cy="685800"/>
          </a:xfrm>
          <a:prstGeom prst="roundRect">
            <a:avLst/>
          </a:prstGeom>
          <a:solidFill>
            <a:srgbClr val="fff1f2"/>
          </a:solidFill>
          <a:ln w="11520">
            <a:solidFill>
              <a:srgbClr val="e60012"/>
            </a:solidFill>
            <a:round/>
          </a:ln>
        </p:spPr>
        <p:txBody>
          <a:bodyPr lIns="95760" rIns="95760" tIns="50760" bIns="5076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9" name="fig01-card"/>
          <p:cNvSpPr/>
          <p:nvPr/>
        </p:nvSpPr>
        <p:spPr>
          <a:xfrm>
            <a:off x="704880" y="16630560"/>
            <a:ext cx="1158120" cy="190440"/>
          </a:xfrm>
          <a:prstGeom prst="roundRect">
            <a:avLst/>
          </a:prstGeom>
          <a:solidFill>
            <a:srgbClr val="fce0e3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0" name="fig01-text-169"/>
          <p:cNvSpPr txBox="1"/>
          <p:nvPr/>
        </p:nvSpPr>
        <p:spPr>
          <a:xfrm>
            <a:off x="790560" y="16682040"/>
            <a:ext cx="865800" cy="1114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750" spc="-1" strike="noStrike">
                <a:solidFill>
                  <a:srgbClr val="e60012"/>
                </a:solidFill>
                <a:latin typeface="IBM Plex Mono"/>
              </a:rPr>
              <a:t>HUMAN APPROVAL</a:t>
            </a:r>
            <a:endParaRPr b="1" lang="en-US" sz="750" spc="-1" strike="noStrike">
              <a:solidFill>
                <a:srgbClr val="e60012"/>
              </a:solidFill>
              <a:latin typeface="IBM Plex Mono"/>
              <a:ea typeface="IBM Plex Mono"/>
            </a:endParaRPr>
          </a:p>
        </p:txBody>
      </p:sp>
      <p:sp>
        <p:nvSpPr>
          <p:cNvPr id="181" name="fig01-text-170"/>
          <p:cNvSpPr txBox="1"/>
          <p:nvPr/>
        </p:nvSpPr>
        <p:spPr>
          <a:xfrm>
            <a:off x="714240" y="16845120"/>
            <a:ext cx="4667400" cy="421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zh-CN" sz="1130" spc="-1" strike="noStrike">
                <a:solidFill>
                  <a:srgbClr val="161a25"/>
                </a:solidFill>
                <a:latin typeface="PingFang SC"/>
              </a:rPr>
              <a:t>人工必须确认 </a:t>
            </a:r>
            <a:r>
              <a:rPr b="1" lang="en-US" sz="1130" spc="-1" strike="noStrike">
                <a:solidFill>
                  <a:srgbClr val="161a25"/>
                </a:solidFill>
                <a:latin typeface="PingFang SC"/>
              </a:rPr>
              <a:t>/ </a:t>
            </a:r>
            <a:r>
              <a:rPr b="1" lang="zh-CN" sz="1130" spc="-1" strike="noStrike">
                <a:solidFill>
                  <a:srgbClr val="161a25"/>
                </a:solidFill>
                <a:latin typeface="PingFang SC"/>
              </a:rPr>
              <a:t>授权</a:t>
            </a:r>
            <a:endParaRPr b="1" lang="en-US" sz="1130" spc="-1" strike="noStrike">
              <a:solidFill>
                <a:srgbClr val="161a25"/>
              </a:solidFill>
              <a:latin typeface="PingFang SC"/>
              <a:ea typeface="PingFang SC"/>
            </a:endParaRPr>
          </a:p>
        </p:txBody>
      </p:sp>
      <p:sp>
        <p:nvSpPr>
          <p:cNvPr id="182" name="fig01-text-171"/>
          <p:cNvSpPr txBox="1"/>
          <p:nvPr/>
        </p:nvSpPr>
        <p:spPr>
          <a:xfrm>
            <a:off x="723960" y="17170560"/>
            <a:ext cx="4281840" cy="752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zh-CN" sz="900" spc="-1" strike="noStrike">
                <a:solidFill>
                  <a:srgbClr val="667085"/>
                </a:solidFill>
                <a:latin typeface="PingFang SC"/>
              </a:rPr>
              <a:t>专业规则、真实业务事实、例外处置、供应商资格、院方承诺、正式生效。</a:t>
            </a:r>
            <a:endParaRPr b="0" lang="en-US" sz="900" spc="-1" strike="noStrike">
              <a:solidFill>
                <a:srgbClr val="667085"/>
              </a:solidFill>
              <a:latin typeface="PingFang SC"/>
              <a:ea typeface="PingFang SC"/>
            </a:endParaRPr>
          </a:p>
        </p:txBody>
      </p:sp>
      <p:sp>
        <p:nvSpPr>
          <p:cNvPr id="183" name="fig01-card"/>
          <p:cNvSpPr/>
          <p:nvPr/>
        </p:nvSpPr>
        <p:spPr>
          <a:xfrm>
            <a:off x="5905440" y="16497360"/>
            <a:ext cx="4952880" cy="685800"/>
          </a:xfrm>
          <a:prstGeom prst="roundRect">
            <a:avLst/>
          </a:prstGeom>
          <a:solidFill>
            <a:srgbClr val="ecfbf4"/>
          </a:solidFill>
          <a:ln w="11520">
            <a:solidFill>
              <a:srgbClr val="28cc83"/>
            </a:solidFill>
            <a:round/>
          </a:ln>
        </p:spPr>
        <p:txBody>
          <a:bodyPr lIns="95760" rIns="95760" tIns="50760" bIns="5076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4" name="fig01-card"/>
          <p:cNvSpPr/>
          <p:nvPr/>
        </p:nvSpPr>
        <p:spPr>
          <a:xfrm>
            <a:off x="6039000" y="16630560"/>
            <a:ext cx="1087920" cy="190440"/>
          </a:xfrm>
          <a:prstGeom prst="roundRect">
            <a:avLst/>
          </a:prstGeom>
          <a:solidFill>
            <a:srgbClr val="e5f9f0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5" name="fig01-text-174"/>
          <p:cNvSpPr txBox="1"/>
          <p:nvPr/>
        </p:nvSpPr>
        <p:spPr>
          <a:xfrm>
            <a:off x="6124680" y="16682040"/>
            <a:ext cx="806040" cy="1114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750" spc="-1" strike="noStrike">
                <a:solidFill>
                  <a:srgbClr val="28cc83"/>
                </a:solidFill>
                <a:latin typeface="IBM Plex Mono"/>
              </a:rPr>
              <a:t>AI ASSISTANCE</a:t>
            </a:r>
            <a:endParaRPr b="1" lang="en-US" sz="750" spc="-1" strike="noStrike">
              <a:solidFill>
                <a:srgbClr val="28cc83"/>
              </a:solidFill>
              <a:latin typeface="IBM Plex Mono"/>
              <a:ea typeface="IBM Plex Mono"/>
            </a:endParaRPr>
          </a:p>
        </p:txBody>
      </p:sp>
      <p:sp>
        <p:nvSpPr>
          <p:cNvPr id="186" name="fig01-text-175"/>
          <p:cNvSpPr txBox="1"/>
          <p:nvPr/>
        </p:nvSpPr>
        <p:spPr>
          <a:xfrm>
            <a:off x="6048360" y="16845120"/>
            <a:ext cx="4667400" cy="421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zh-CN" sz="1130" spc="-1" strike="noStrike">
                <a:solidFill>
                  <a:srgbClr val="161a25"/>
                </a:solidFill>
                <a:latin typeface="PingFang SC"/>
              </a:rPr>
              <a:t>智能体可以辅助</a:t>
            </a:r>
            <a:endParaRPr b="1" lang="en-US" sz="1130" spc="-1" strike="noStrike">
              <a:solidFill>
                <a:srgbClr val="161a25"/>
              </a:solidFill>
              <a:latin typeface="PingFang SC"/>
              <a:ea typeface="PingFang SC"/>
            </a:endParaRPr>
          </a:p>
        </p:txBody>
      </p:sp>
      <p:sp>
        <p:nvSpPr>
          <p:cNvPr id="187" name="fig01-text-176"/>
          <p:cNvSpPr txBox="1"/>
          <p:nvPr/>
        </p:nvSpPr>
        <p:spPr>
          <a:xfrm>
            <a:off x="6058080" y="17170560"/>
            <a:ext cx="4025520" cy="752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zh-CN" sz="900" spc="-1" strike="noStrike">
                <a:solidFill>
                  <a:srgbClr val="667085"/>
                </a:solidFill>
                <a:latin typeface="PingFang SC"/>
              </a:rPr>
              <a:t>整理、核验、分析、生成候选、追踪任务、技术实现；不得自行放行。</a:t>
            </a:r>
            <a:endParaRPr b="0" lang="en-US" sz="900" spc="-1" strike="noStrike">
              <a:solidFill>
                <a:srgbClr val="667085"/>
              </a:solidFill>
              <a:latin typeface="PingFang SC"/>
              <a:ea typeface="PingFang SC"/>
            </a:endParaRPr>
          </a:p>
        </p:txBody>
      </p:sp>
      <p:sp>
        <p:nvSpPr>
          <p:cNvPr id="188" name="fig01-card"/>
          <p:cNvSpPr/>
          <p:nvPr/>
        </p:nvSpPr>
        <p:spPr>
          <a:xfrm>
            <a:off x="571680" y="17469000"/>
            <a:ext cx="10287000" cy="9360"/>
          </a:xfrm>
          <a:prstGeom prst="rect">
            <a:avLst/>
          </a:prstGeom>
          <a:solidFill>
            <a:srgbClr val="d9dee7"/>
          </a:solidFill>
          <a:ln w="0">
            <a:noFill/>
          </a:ln>
        </p:spPr>
        <p:txBody>
          <a:bodyPr lIns="90000" rIns="90000" tIns="-35640" bIns="-3564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9" name="fig01-text-178"/>
          <p:cNvSpPr txBox="1"/>
          <p:nvPr/>
        </p:nvSpPr>
        <p:spPr>
          <a:xfrm>
            <a:off x="571680" y="17647200"/>
            <a:ext cx="5435280" cy="1082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810" spc="-1" strike="noStrike">
                <a:solidFill>
                  <a:srgbClr val="667085"/>
                </a:solidFill>
                <a:latin typeface="IBM Plex Mono"/>
              </a:rPr>
              <a:t>SOURCE · </a:t>
            </a:r>
            <a:r>
              <a:rPr b="0" lang="zh-CN" sz="810" spc="-1" strike="noStrike">
                <a:solidFill>
                  <a:srgbClr val="667085"/>
                </a:solidFill>
                <a:latin typeface="IBM Plex Mono"/>
              </a:rPr>
              <a:t>用户任务书 </a:t>
            </a:r>
            <a:r>
              <a:rPr b="0" lang="en-US" sz="810" spc="-1" strike="noStrike">
                <a:solidFill>
                  <a:srgbClr val="667085"/>
                </a:solidFill>
                <a:latin typeface="IBM Plex Mono"/>
              </a:rPr>
              <a:t>+ </a:t>
            </a:r>
            <a:r>
              <a:rPr b="0" lang="zh-CN" sz="810" spc="-1" strike="noStrike">
                <a:solidFill>
                  <a:srgbClr val="667085"/>
                </a:solidFill>
                <a:latin typeface="IBM Plex Mono"/>
              </a:rPr>
              <a:t>番医总控台 </a:t>
            </a:r>
            <a:r>
              <a:rPr b="0" lang="en-US" sz="810" spc="-1" strike="noStrike">
                <a:solidFill>
                  <a:srgbClr val="667085"/>
                </a:solidFill>
                <a:latin typeface="IBM Plex Mono"/>
              </a:rPr>
              <a:t>V0.1.16 + </a:t>
            </a:r>
            <a:r>
              <a:rPr b="0" lang="zh-CN" sz="810" spc="-1" strike="noStrike">
                <a:solidFill>
                  <a:srgbClr val="667085"/>
                </a:solidFill>
                <a:latin typeface="IBM Plex Mono"/>
              </a:rPr>
              <a:t>餐食运营台 </a:t>
            </a:r>
            <a:r>
              <a:rPr b="0" lang="en-US" sz="810" spc="-1" strike="noStrike">
                <a:solidFill>
                  <a:srgbClr val="667085"/>
                </a:solidFill>
                <a:latin typeface="IBM Plex Mono"/>
              </a:rPr>
              <a:t>V0.1.12 + </a:t>
            </a:r>
            <a:r>
              <a:rPr b="0" lang="zh-CN" sz="810" spc="-1" strike="noStrike">
                <a:solidFill>
                  <a:srgbClr val="667085"/>
                </a:solidFill>
                <a:latin typeface="IBM Plex Mono"/>
              </a:rPr>
              <a:t>数据字典 </a:t>
            </a:r>
            <a:r>
              <a:rPr b="0" lang="en-US" sz="810" spc="-1" strike="noStrike">
                <a:solidFill>
                  <a:srgbClr val="667085"/>
                </a:solidFill>
                <a:latin typeface="IBM Plex Mono"/>
              </a:rPr>
              <a:t>v0.3 + </a:t>
            </a:r>
            <a:r>
              <a:rPr b="0" lang="zh-CN" sz="810" spc="-1" strike="noStrike">
                <a:solidFill>
                  <a:srgbClr val="667085"/>
                </a:solidFill>
                <a:latin typeface="IBM Plex Mono"/>
              </a:rPr>
              <a:t>人力管理台 </a:t>
            </a:r>
            <a:r>
              <a:rPr b="0" lang="en-US" sz="810" spc="-1" strike="noStrike">
                <a:solidFill>
                  <a:srgbClr val="667085"/>
                </a:solidFill>
                <a:latin typeface="IBM Plex Mono"/>
              </a:rPr>
              <a:t>V0.2</a:t>
            </a:r>
            <a:endParaRPr b="0" lang="en-US" sz="810" spc="-1" strike="noStrike">
              <a:solidFill>
                <a:srgbClr val="667085"/>
              </a:solidFill>
              <a:latin typeface="IBM Plex Mono"/>
              <a:ea typeface="IBM Plex Mono"/>
            </a:endParaRPr>
          </a:p>
        </p:txBody>
      </p:sp>
      <p:sp>
        <p:nvSpPr>
          <p:cNvPr id="190" name="fig01-text-179"/>
          <p:cNvSpPr txBox="1"/>
          <p:nvPr/>
        </p:nvSpPr>
        <p:spPr>
          <a:xfrm>
            <a:off x="8957880" y="17647200"/>
            <a:ext cx="1900440" cy="1082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algn="r"/>
            <a:r>
              <a:rPr b="0" lang="zh-CN" sz="810" spc="-1" strike="noStrike">
                <a:solidFill>
                  <a:srgbClr val="e60012"/>
                </a:solidFill>
                <a:latin typeface="PingFang SC"/>
              </a:rPr>
              <a:t>首批候选｜待业务审核｜非实施批准</a:t>
            </a:r>
            <a:endParaRPr b="0" lang="en-US" sz="810" spc="-1" strike="noStrike">
              <a:solidFill>
                <a:srgbClr val="e60012"/>
              </a:solidFill>
              <a:latin typeface="PingFang SC"/>
              <a:ea typeface="PingFang SC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fig02-text-2"/>
          <p:cNvSpPr txBox="1"/>
          <p:nvPr/>
        </p:nvSpPr>
        <p:spPr>
          <a:xfrm>
            <a:off x="571680" y="527760"/>
            <a:ext cx="2941920" cy="1114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750" spc="-1" strike="noStrike">
                <a:solidFill>
                  <a:srgbClr val="4f46e5"/>
                </a:solidFill>
                <a:latin typeface="IBM Plex Mono"/>
              </a:rPr>
              <a:t>PANYI · DUAL INTELLIGENCE · ARCHITECTURE PACK · V0.1</a:t>
            </a:r>
            <a:endParaRPr b="1" lang="en-US" sz="750" spc="-1" strike="noStrike">
              <a:solidFill>
                <a:srgbClr val="4f46e5"/>
              </a:solidFill>
              <a:latin typeface="IBM Plex Mono"/>
              <a:ea typeface="IBM Plex Mono"/>
            </a:endParaRPr>
          </a:p>
        </p:txBody>
      </p:sp>
      <p:sp>
        <p:nvSpPr>
          <p:cNvPr id="192" name="fig02-text-3"/>
          <p:cNvSpPr txBox="1"/>
          <p:nvPr/>
        </p:nvSpPr>
        <p:spPr>
          <a:xfrm>
            <a:off x="571680" y="783000"/>
            <a:ext cx="3667320" cy="421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zh-CN" sz="2250" spc="-1" strike="noStrike">
                <a:solidFill>
                  <a:srgbClr val="161a25"/>
                </a:solidFill>
                <a:latin typeface="PingFang SC"/>
              </a:rPr>
              <a:t>核心对象与 </a:t>
            </a:r>
            <a:r>
              <a:rPr b="1" lang="en-US" sz="2250" spc="-1" strike="noStrike">
                <a:solidFill>
                  <a:srgbClr val="161a25"/>
                </a:solidFill>
                <a:latin typeface="PingFang SC"/>
              </a:rPr>
              <a:t>SKU </a:t>
            </a:r>
            <a:r>
              <a:rPr b="1" lang="zh-CN" sz="2250" spc="-1" strike="noStrike">
                <a:solidFill>
                  <a:srgbClr val="161a25"/>
                </a:solidFill>
                <a:latin typeface="PingFang SC"/>
              </a:rPr>
              <a:t>关系架构</a:t>
            </a:r>
            <a:endParaRPr b="1" lang="en-US" sz="2250" spc="-1" strike="noStrike">
              <a:solidFill>
                <a:srgbClr val="161a25"/>
              </a:solidFill>
              <a:latin typeface="PingFang SC"/>
              <a:ea typeface="PingFang SC"/>
            </a:endParaRPr>
          </a:p>
        </p:txBody>
      </p:sp>
      <p:sp>
        <p:nvSpPr>
          <p:cNvPr id="193" name="fig02-text-4"/>
          <p:cNvSpPr txBox="1"/>
          <p:nvPr/>
        </p:nvSpPr>
        <p:spPr>
          <a:xfrm>
            <a:off x="571680" y="1180800"/>
            <a:ext cx="4507920" cy="602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050" spc="-1" strike="noStrike">
                <a:solidFill>
                  <a:srgbClr val="667085"/>
                </a:solidFill>
                <a:latin typeface="Space Grotesk"/>
              </a:rPr>
              <a:t>Core Objects, SKU &amp; Controlled Relationship Architecture</a:t>
            </a:r>
            <a:endParaRPr b="0" lang="en-US" sz="1050" spc="-1" strike="noStrike">
              <a:solidFill>
                <a:srgbClr val="667085"/>
              </a:solidFill>
              <a:latin typeface="Space Grotesk"/>
              <a:ea typeface="Space Grotesk"/>
            </a:endParaRPr>
          </a:p>
        </p:txBody>
      </p:sp>
      <p:sp>
        <p:nvSpPr>
          <p:cNvPr id="194" name="fig02-card"/>
          <p:cNvSpPr/>
          <p:nvPr/>
        </p:nvSpPr>
        <p:spPr>
          <a:xfrm>
            <a:off x="571680" y="1504800"/>
            <a:ext cx="10287000" cy="9360"/>
          </a:xfrm>
          <a:prstGeom prst="rect">
            <a:avLst/>
          </a:prstGeom>
          <a:solidFill>
            <a:srgbClr val="d9dee7"/>
          </a:solidFill>
          <a:ln w="0">
            <a:noFill/>
          </a:ln>
        </p:spPr>
        <p:txBody>
          <a:bodyPr lIns="90000" rIns="90000" tIns="-35640" bIns="-3564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5" name="fig02-card"/>
          <p:cNvSpPr/>
          <p:nvPr/>
        </p:nvSpPr>
        <p:spPr>
          <a:xfrm>
            <a:off x="571680" y="1657440"/>
            <a:ext cx="952560" cy="228600"/>
          </a:xfrm>
          <a:prstGeom prst="roundRect">
            <a:avLst/>
          </a:prstGeom>
          <a:solidFill>
            <a:srgbClr val="161a25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6" name="fig02-text-7"/>
          <p:cNvSpPr txBox="1"/>
          <p:nvPr/>
        </p:nvSpPr>
        <p:spPr>
          <a:xfrm>
            <a:off x="853920" y="1728000"/>
            <a:ext cx="387720" cy="1114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algn="ctr"/>
            <a:r>
              <a:rPr b="1" lang="en-US" sz="750" spc="-1" strike="noStrike">
                <a:solidFill>
                  <a:srgbClr val="ffffff"/>
                </a:solidFill>
                <a:latin typeface="IBM Plex Mono"/>
              </a:rPr>
              <a:t>FIG 02</a:t>
            </a:r>
            <a:endParaRPr b="1" lang="en-US" sz="750" spc="-1" strike="noStrike">
              <a:solidFill>
                <a:srgbClr val="ffffff"/>
              </a:solidFill>
              <a:latin typeface="IBM Plex Mono"/>
              <a:ea typeface="IBM Plex Mono"/>
            </a:endParaRPr>
          </a:p>
        </p:txBody>
      </p:sp>
      <p:sp>
        <p:nvSpPr>
          <p:cNvPr id="197" name="fig02-card"/>
          <p:cNvSpPr/>
          <p:nvPr/>
        </p:nvSpPr>
        <p:spPr>
          <a:xfrm>
            <a:off x="1619280" y="1657440"/>
            <a:ext cx="2381400" cy="228600"/>
          </a:xfrm>
          <a:prstGeom prst="roundRect">
            <a:avLst/>
          </a:prstGeom>
          <a:solidFill>
            <a:srgbClr val="f5f1ff"/>
          </a:solidFill>
          <a:ln w="9360">
            <a:solidFill>
              <a:srgbClr val="8b5aca"/>
            </a:solidFill>
            <a:round/>
          </a:ln>
        </p:spPr>
        <p:txBody>
          <a:bodyPr lIns="94680" rIns="94680" tIns="49680" bIns="4968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8" name="fig02-text-9"/>
          <p:cNvSpPr txBox="1"/>
          <p:nvPr/>
        </p:nvSpPr>
        <p:spPr>
          <a:xfrm>
            <a:off x="2016360" y="1728000"/>
            <a:ext cx="1586880" cy="85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algn="ctr"/>
            <a:r>
              <a:rPr b="1" lang="en-US" sz="750" spc="-1" strike="noStrike">
                <a:solidFill>
                  <a:srgbClr val="8b5aca"/>
                </a:solidFill>
                <a:latin typeface="IBM Plex Mono"/>
              </a:rPr>
              <a:t>CANDIDATE · REVIEW REQUIRED</a:t>
            </a:r>
            <a:endParaRPr b="1" lang="en-US" sz="750" spc="-1" strike="noStrike">
              <a:solidFill>
                <a:srgbClr val="8b5aca"/>
              </a:solidFill>
              <a:latin typeface="IBM Plex Mono"/>
              <a:ea typeface="IBM Plex Mono"/>
            </a:endParaRPr>
          </a:p>
        </p:txBody>
      </p:sp>
      <p:sp>
        <p:nvSpPr>
          <p:cNvPr id="199" name="fig02-text-10"/>
          <p:cNvSpPr txBox="1"/>
          <p:nvPr/>
        </p:nvSpPr>
        <p:spPr>
          <a:xfrm>
            <a:off x="9209160" y="1721160"/>
            <a:ext cx="1649520" cy="85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algn="r"/>
            <a:r>
              <a:rPr b="0" lang="en-US" sz="810" spc="-1" strike="noStrike">
                <a:solidFill>
                  <a:srgbClr val="667085"/>
                </a:solidFill>
                <a:latin typeface="IBM Plex Mono"/>
              </a:rPr>
              <a:t>1200 × 1900 · EDITABLE PPTX</a:t>
            </a:r>
            <a:endParaRPr b="0" lang="en-US" sz="810" spc="-1" strike="noStrike">
              <a:solidFill>
                <a:srgbClr val="667085"/>
              </a:solidFill>
              <a:latin typeface="IBM Plex Mono"/>
              <a:ea typeface="IBM Plex Mono"/>
            </a:endParaRPr>
          </a:p>
        </p:txBody>
      </p:sp>
      <p:sp>
        <p:nvSpPr>
          <p:cNvPr id="200" name="fig02-card"/>
          <p:cNvSpPr/>
          <p:nvPr/>
        </p:nvSpPr>
        <p:spPr>
          <a:xfrm>
            <a:off x="571680" y="2104920"/>
            <a:ext cx="47520" cy="209520"/>
          </a:xfrm>
          <a:prstGeom prst="roundRect">
            <a:avLst/>
          </a:prstGeom>
          <a:solidFill>
            <a:srgbClr val="4f46e5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1" name="fig02-text-12"/>
          <p:cNvSpPr txBox="1"/>
          <p:nvPr/>
        </p:nvSpPr>
        <p:spPr>
          <a:xfrm>
            <a:off x="743040" y="2185200"/>
            <a:ext cx="236520" cy="85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750" spc="-1" strike="noStrike">
                <a:solidFill>
                  <a:srgbClr val="4f46e5"/>
                </a:solidFill>
                <a:latin typeface="IBM Plex Mono"/>
              </a:rPr>
              <a:t>02A</a:t>
            </a:r>
            <a:endParaRPr b="1" lang="en-US" sz="750" spc="-1" strike="noStrike">
              <a:solidFill>
                <a:srgbClr val="4f46e5"/>
              </a:solidFill>
              <a:latin typeface="IBM Plex Mono"/>
              <a:ea typeface="IBM Plex Mono"/>
            </a:endParaRPr>
          </a:p>
        </p:txBody>
      </p:sp>
      <p:sp>
        <p:nvSpPr>
          <p:cNvPr id="202" name="fig02-text-13"/>
          <p:cNvSpPr txBox="1"/>
          <p:nvPr/>
        </p:nvSpPr>
        <p:spPr>
          <a:xfrm>
            <a:off x="1428840" y="2135880"/>
            <a:ext cx="2446920" cy="752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zh-CN" sz="1200" spc="-1" strike="noStrike">
                <a:solidFill>
                  <a:srgbClr val="161a25"/>
                </a:solidFill>
                <a:latin typeface="PingFang SC"/>
              </a:rPr>
              <a:t>共用对象、范围配置与版本治理</a:t>
            </a:r>
            <a:endParaRPr b="1" lang="en-US" sz="1200" spc="-1" strike="noStrike">
              <a:solidFill>
                <a:srgbClr val="161a25"/>
              </a:solidFill>
              <a:latin typeface="PingFang SC"/>
              <a:ea typeface="PingFang SC"/>
            </a:endParaRPr>
          </a:p>
        </p:txBody>
      </p:sp>
      <p:sp>
        <p:nvSpPr>
          <p:cNvPr id="203" name="fig02-text-14"/>
          <p:cNvSpPr txBox="1"/>
          <p:nvPr/>
        </p:nvSpPr>
        <p:spPr>
          <a:xfrm>
            <a:off x="8151480" y="2178360"/>
            <a:ext cx="2707200" cy="1082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algn="r"/>
            <a:r>
              <a:rPr b="0" lang="zh-CN" sz="810" spc="-1" strike="noStrike">
                <a:solidFill>
                  <a:srgbClr val="667085"/>
                </a:solidFill>
                <a:latin typeface="PingFang SC"/>
              </a:rPr>
              <a:t>共享不等于全局可编辑；范围覆盖须留来源和有效期</a:t>
            </a:r>
            <a:endParaRPr b="0" lang="en-US" sz="810" spc="-1" strike="noStrike">
              <a:solidFill>
                <a:srgbClr val="667085"/>
              </a:solidFill>
              <a:latin typeface="PingFang SC"/>
              <a:ea typeface="PingFang SC"/>
            </a:endParaRPr>
          </a:p>
        </p:txBody>
      </p:sp>
      <p:sp>
        <p:nvSpPr>
          <p:cNvPr id="204" name="fig02-card"/>
          <p:cNvSpPr/>
          <p:nvPr/>
        </p:nvSpPr>
        <p:spPr>
          <a:xfrm>
            <a:off x="571680" y="2533680"/>
            <a:ext cx="10287000" cy="857160"/>
          </a:xfrm>
          <a:prstGeom prst="roundRect">
            <a:avLst/>
          </a:prstGeom>
          <a:solidFill>
            <a:srgbClr val="f0f1ff"/>
          </a:solidFill>
          <a:ln w="11520">
            <a:solidFill>
              <a:srgbClr val="4f46e5"/>
            </a:solidFill>
            <a:round/>
          </a:ln>
        </p:spPr>
        <p:txBody>
          <a:bodyPr lIns="95760" rIns="95760" tIns="50760" bIns="5076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5" name="fig02-card"/>
          <p:cNvSpPr/>
          <p:nvPr/>
        </p:nvSpPr>
        <p:spPr>
          <a:xfrm>
            <a:off x="704880" y="2666880"/>
            <a:ext cx="1933560" cy="190440"/>
          </a:xfrm>
          <a:prstGeom prst="roundRect">
            <a:avLst/>
          </a:prstGeom>
          <a:solidFill>
            <a:srgbClr val="eae9fc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6" name="fig02-text-17"/>
          <p:cNvSpPr txBox="1"/>
          <p:nvPr/>
        </p:nvSpPr>
        <p:spPr>
          <a:xfrm>
            <a:off x="790560" y="2718360"/>
            <a:ext cx="1467360" cy="1114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750" spc="-1" strike="noStrike">
                <a:solidFill>
                  <a:srgbClr val="4f46e5"/>
                </a:solidFill>
                <a:latin typeface="IBM Plex Mono"/>
              </a:rPr>
              <a:t>CONTROL PLANE · CANDIDATE</a:t>
            </a:r>
            <a:endParaRPr b="1" lang="en-US" sz="750" spc="-1" strike="noStrike">
              <a:solidFill>
                <a:srgbClr val="4f46e5"/>
              </a:solidFill>
              <a:latin typeface="IBM Plex Mono"/>
              <a:ea typeface="IBM Plex Mono"/>
            </a:endParaRPr>
          </a:p>
        </p:txBody>
      </p:sp>
      <p:sp>
        <p:nvSpPr>
          <p:cNvPr id="207" name="fig02-text-18"/>
          <p:cNvSpPr txBox="1"/>
          <p:nvPr/>
        </p:nvSpPr>
        <p:spPr>
          <a:xfrm>
            <a:off x="714240" y="2881440"/>
            <a:ext cx="10001160" cy="421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zh-CN" sz="1130" spc="-1" strike="noStrike">
                <a:solidFill>
                  <a:srgbClr val="161a25"/>
                </a:solidFill>
                <a:latin typeface="PingFang SC"/>
              </a:rPr>
              <a:t>受控主数据与规则版本</a:t>
            </a:r>
            <a:endParaRPr b="1" lang="en-US" sz="1130" spc="-1" strike="noStrike">
              <a:solidFill>
                <a:srgbClr val="161a25"/>
              </a:solidFill>
              <a:latin typeface="PingFang SC"/>
              <a:ea typeface="PingFang SC"/>
            </a:endParaRPr>
          </a:p>
        </p:txBody>
      </p:sp>
      <p:sp>
        <p:nvSpPr>
          <p:cNvPr id="208" name="fig02-text-19"/>
          <p:cNvSpPr txBox="1"/>
          <p:nvPr/>
        </p:nvSpPr>
        <p:spPr>
          <a:xfrm>
            <a:off x="714240" y="3079440"/>
            <a:ext cx="10001160" cy="752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zh-CN" sz="900" spc="-1" strike="noStrike">
                <a:solidFill>
                  <a:srgbClr val="667085"/>
                </a:solidFill>
                <a:latin typeface="PingFang SC"/>
              </a:rPr>
              <a:t>对象版本 </a:t>
            </a:r>
            <a:r>
              <a:rPr b="0" lang="en-US" sz="900" spc="-1" strike="noStrike">
                <a:solidFill>
                  <a:srgbClr val="667085"/>
                </a:solidFill>
                <a:latin typeface="PingFang SC"/>
              </a:rPr>
              <a:t>· </a:t>
            </a:r>
            <a:r>
              <a:rPr b="0" lang="zh-CN" sz="900" spc="-1" strike="noStrike">
                <a:solidFill>
                  <a:srgbClr val="667085"/>
                </a:solidFill>
                <a:latin typeface="PingFang SC"/>
              </a:rPr>
              <a:t>状态 </a:t>
            </a:r>
            <a:r>
              <a:rPr b="0" lang="en-US" sz="900" spc="-1" strike="noStrike">
                <a:solidFill>
                  <a:srgbClr val="667085"/>
                </a:solidFill>
                <a:latin typeface="PingFang SC"/>
              </a:rPr>
              <a:t>· </a:t>
            </a:r>
            <a:r>
              <a:rPr b="0" lang="zh-CN" sz="900" spc="-1" strike="noStrike">
                <a:solidFill>
                  <a:srgbClr val="667085"/>
                </a:solidFill>
                <a:latin typeface="PingFang SC"/>
              </a:rPr>
              <a:t>生效期 </a:t>
            </a:r>
            <a:r>
              <a:rPr b="0" lang="en-US" sz="900" spc="-1" strike="noStrike">
                <a:solidFill>
                  <a:srgbClr val="667085"/>
                </a:solidFill>
                <a:latin typeface="PingFang SC"/>
              </a:rPr>
              <a:t>· </a:t>
            </a:r>
            <a:r>
              <a:rPr b="0" lang="zh-CN" sz="900" spc="-1" strike="noStrike">
                <a:solidFill>
                  <a:srgbClr val="667085"/>
                </a:solidFill>
                <a:latin typeface="PingFang SC"/>
              </a:rPr>
              <a:t>批准信息 </a:t>
            </a:r>
            <a:r>
              <a:rPr b="0" lang="en-US" sz="900" spc="-1" strike="noStrike">
                <a:solidFill>
                  <a:srgbClr val="667085"/>
                </a:solidFill>
                <a:latin typeface="PingFang SC"/>
              </a:rPr>
              <a:t>· </a:t>
            </a:r>
            <a:r>
              <a:rPr b="0" lang="zh-CN" sz="900" spc="-1" strike="noStrike">
                <a:solidFill>
                  <a:srgbClr val="667085"/>
                </a:solidFill>
                <a:latin typeface="PingFang SC"/>
              </a:rPr>
              <a:t>范围（集团 </a:t>
            </a:r>
            <a:r>
              <a:rPr b="0" lang="en-US" sz="900" spc="-1" strike="noStrike">
                <a:solidFill>
                  <a:srgbClr val="667085"/>
                </a:solidFill>
                <a:latin typeface="PingFang SC"/>
              </a:rPr>
              <a:t>/ </a:t>
            </a:r>
            <a:r>
              <a:rPr b="0" lang="zh-CN" sz="900" spc="-1" strike="noStrike">
                <a:solidFill>
                  <a:srgbClr val="667085"/>
                </a:solidFill>
                <a:latin typeface="PingFang SC"/>
              </a:rPr>
              <a:t>项目 </a:t>
            </a:r>
            <a:r>
              <a:rPr b="0" lang="en-US" sz="900" spc="-1" strike="noStrike">
                <a:solidFill>
                  <a:srgbClr val="667085"/>
                </a:solidFill>
                <a:latin typeface="PingFang SC"/>
              </a:rPr>
              <a:t>/ </a:t>
            </a:r>
            <a:r>
              <a:rPr b="0" lang="zh-CN" sz="900" spc="-1" strike="noStrike">
                <a:solidFill>
                  <a:srgbClr val="667085"/>
                </a:solidFill>
                <a:latin typeface="PingFang SC"/>
              </a:rPr>
              <a:t>院区 </a:t>
            </a:r>
            <a:r>
              <a:rPr b="0" lang="en-US" sz="900" spc="-1" strike="noStrike">
                <a:solidFill>
                  <a:srgbClr val="667085"/>
                </a:solidFill>
                <a:latin typeface="PingFang SC"/>
              </a:rPr>
              <a:t>/ </a:t>
            </a:r>
            <a:r>
              <a:rPr b="0" lang="zh-CN" sz="900" spc="-1" strike="noStrike">
                <a:solidFill>
                  <a:srgbClr val="667085"/>
                </a:solidFill>
                <a:latin typeface="PingFang SC"/>
              </a:rPr>
              <a:t>厨房 </a:t>
            </a:r>
            <a:r>
              <a:rPr b="0" lang="en-US" sz="900" spc="-1" strike="noStrike">
                <a:solidFill>
                  <a:srgbClr val="667085"/>
                </a:solidFill>
                <a:latin typeface="PingFang SC"/>
              </a:rPr>
              <a:t>/ </a:t>
            </a:r>
            <a:r>
              <a:rPr b="0" lang="zh-CN" sz="900" spc="-1" strike="noStrike">
                <a:solidFill>
                  <a:srgbClr val="667085"/>
                </a:solidFill>
                <a:latin typeface="PingFang SC"/>
              </a:rPr>
              <a:t>服务点 </a:t>
            </a:r>
            <a:r>
              <a:rPr b="0" lang="en-US" sz="900" spc="-1" strike="noStrike">
                <a:solidFill>
                  <a:srgbClr val="667085"/>
                </a:solidFill>
                <a:latin typeface="PingFang SC"/>
              </a:rPr>
              <a:t>/ </a:t>
            </a:r>
            <a:r>
              <a:rPr b="0" lang="zh-CN" sz="900" spc="-1" strike="noStrike">
                <a:solidFill>
                  <a:srgbClr val="667085"/>
                </a:solidFill>
                <a:latin typeface="PingFang SC"/>
              </a:rPr>
              <a:t>渠道 </a:t>
            </a:r>
            <a:r>
              <a:rPr b="0" lang="en-US" sz="900" spc="-1" strike="noStrike">
                <a:solidFill>
                  <a:srgbClr val="667085"/>
                </a:solidFill>
                <a:latin typeface="PingFang SC"/>
              </a:rPr>
              <a:t>/ </a:t>
            </a:r>
            <a:r>
              <a:rPr b="0" lang="zh-CN" sz="900" spc="-1" strike="noStrike">
                <a:solidFill>
                  <a:srgbClr val="667085"/>
                </a:solidFill>
                <a:latin typeface="PingFang SC"/>
              </a:rPr>
              <a:t>场景）</a:t>
            </a:r>
            <a:r>
              <a:rPr b="0" lang="en-US" sz="900" spc="-1" strike="noStrike">
                <a:solidFill>
                  <a:srgbClr val="667085"/>
                </a:solidFill>
                <a:latin typeface="PingFang SC"/>
              </a:rPr>
              <a:t>· </a:t>
            </a:r>
            <a:r>
              <a:rPr b="0" lang="zh-CN" sz="900" spc="-1" strike="noStrike">
                <a:solidFill>
                  <a:srgbClr val="667085"/>
                </a:solidFill>
                <a:latin typeface="PingFang SC"/>
              </a:rPr>
              <a:t>继承—覆盖—禁用 </a:t>
            </a:r>
            <a:r>
              <a:rPr b="0" lang="en-US" sz="900" spc="-1" strike="noStrike">
                <a:solidFill>
                  <a:srgbClr val="667085"/>
                </a:solidFill>
                <a:latin typeface="PingFang SC"/>
              </a:rPr>
              <a:t>· </a:t>
            </a:r>
            <a:r>
              <a:rPr b="0" lang="zh-CN" sz="900" spc="-1" strike="noStrike">
                <a:solidFill>
                  <a:srgbClr val="667085"/>
                </a:solidFill>
                <a:latin typeface="PingFang SC"/>
              </a:rPr>
              <a:t>历史快照</a:t>
            </a:r>
            <a:endParaRPr b="0" lang="en-US" sz="900" spc="-1" strike="noStrike">
              <a:solidFill>
                <a:srgbClr val="667085"/>
              </a:solidFill>
              <a:latin typeface="PingFang SC"/>
              <a:ea typeface="PingFang SC"/>
            </a:endParaRPr>
          </a:p>
        </p:txBody>
      </p:sp>
      <p:sp>
        <p:nvSpPr>
          <p:cNvPr id="209" name="fig02-card"/>
          <p:cNvSpPr/>
          <p:nvPr/>
        </p:nvSpPr>
        <p:spPr>
          <a:xfrm>
            <a:off x="571680" y="3600360"/>
            <a:ext cx="2095560" cy="209520"/>
          </a:xfrm>
          <a:prstGeom prst="roundRect">
            <a:avLst/>
          </a:prstGeom>
          <a:solidFill>
            <a:srgbClr val="fdfdff"/>
          </a:solidFill>
          <a:ln w="7560">
            <a:solidFill>
              <a:srgbClr val="4f46e5"/>
            </a:solidFill>
            <a:round/>
          </a:ln>
        </p:spPr>
        <p:txBody>
          <a:bodyPr lIns="93600" rIns="93600" tIns="48600" bIns="4860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0" name="fig02-text-21"/>
          <p:cNvSpPr txBox="1"/>
          <p:nvPr/>
        </p:nvSpPr>
        <p:spPr>
          <a:xfrm>
            <a:off x="961200" y="3661560"/>
            <a:ext cx="1315800" cy="85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algn="ctr"/>
            <a:r>
              <a:rPr b="1" lang="en-US" sz="750" spc="-1" strike="noStrike">
                <a:solidFill>
                  <a:srgbClr val="4f46e5"/>
                </a:solidFill>
                <a:latin typeface="IBM Plex Mono"/>
              </a:rPr>
              <a:t>SHARED CAPABILITY POOL</a:t>
            </a:r>
            <a:endParaRPr b="1" lang="en-US" sz="750" spc="-1" strike="noStrike">
              <a:solidFill>
                <a:srgbClr val="4f46e5"/>
              </a:solidFill>
              <a:latin typeface="IBM Plex Mono"/>
              <a:ea typeface="IBM Plex Mono"/>
            </a:endParaRPr>
          </a:p>
        </p:txBody>
      </p:sp>
      <p:sp>
        <p:nvSpPr>
          <p:cNvPr id="211" name="fig02-card"/>
          <p:cNvSpPr/>
          <p:nvPr/>
        </p:nvSpPr>
        <p:spPr>
          <a:xfrm>
            <a:off x="8001000" y="3600360"/>
            <a:ext cx="2000160" cy="209520"/>
          </a:xfrm>
          <a:prstGeom prst="roundRect">
            <a:avLst/>
          </a:prstGeom>
          <a:solidFill>
            <a:srgbClr val="fdfdff"/>
          </a:solidFill>
          <a:ln w="7560">
            <a:solidFill>
              <a:srgbClr val="8b5aca"/>
            </a:solidFill>
            <a:round/>
          </a:ln>
        </p:spPr>
        <p:txBody>
          <a:bodyPr lIns="93600" rIns="93600" tIns="48600" bIns="4860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2" name="fig02-text-23"/>
          <p:cNvSpPr txBox="1"/>
          <p:nvPr/>
        </p:nvSpPr>
        <p:spPr>
          <a:xfrm>
            <a:off x="8389080" y="3661560"/>
            <a:ext cx="1224360" cy="85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algn="ctr"/>
            <a:r>
              <a:rPr b="1" lang="en-US" sz="750" spc="-1" strike="noStrike">
                <a:solidFill>
                  <a:srgbClr val="8b5aca"/>
                </a:solidFill>
                <a:latin typeface="IBM Plex Mono"/>
              </a:rPr>
              <a:t>SCOPED CONFIGURATION</a:t>
            </a:r>
            <a:endParaRPr b="1" lang="en-US" sz="750" spc="-1" strike="noStrike">
              <a:solidFill>
                <a:srgbClr val="8b5aca"/>
              </a:solidFill>
              <a:latin typeface="IBM Plex Mono"/>
              <a:ea typeface="IBM Plex Mono"/>
            </a:endParaRPr>
          </a:p>
        </p:txBody>
      </p:sp>
      <p:sp>
        <p:nvSpPr>
          <p:cNvPr id="213" name="fig02-card"/>
          <p:cNvSpPr/>
          <p:nvPr/>
        </p:nvSpPr>
        <p:spPr>
          <a:xfrm>
            <a:off x="571680" y="3952800"/>
            <a:ext cx="47520" cy="209520"/>
          </a:xfrm>
          <a:prstGeom prst="roundRect">
            <a:avLst/>
          </a:prstGeom>
          <a:solidFill>
            <a:srgbClr val="4f46e5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4" name="fig02-text-25"/>
          <p:cNvSpPr txBox="1"/>
          <p:nvPr/>
        </p:nvSpPr>
        <p:spPr>
          <a:xfrm>
            <a:off x="743040" y="4032720"/>
            <a:ext cx="236520" cy="85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750" spc="-1" strike="noStrike">
                <a:solidFill>
                  <a:srgbClr val="4f46e5"/>
                </a:solidFill>
                <a:latin typeface="IBM Plex Mono"/>
              </a:rPr>
              <a:t>02B</a:t>
            </a:r>
            <a:endParaRPr b="1" lang="en-US" sz="750" spc="-1" strike="noStrike">
              <a:solidFill>
                <a:srgbClr val="4f46e5"/>
              </a:solidFill>
              <a:latin typeface="IBM Plex Mono"/>
              <a:ea typeface="IBM Plex Mono"/>
            </a:endParaRPr>
          </a:p>
        </p:txBody>
      </p:sp>
      <p:sp>
        <p:nvSpPr>
          <p:cNvPr id="215" name="fig02-text-26"/>
          <p:cNvSpPr txBox="1"/>
          <p:nvPr/>
        </p:nvSpPr>
        <p:spPr>
          <a:xfrm>
            <a:off x="1428840" y="3983760"/>
            <a:ext cx="1934640" cy="752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zh-CN" sz="1200" spc="-1" strike="noStrike">
                <a:solidFill>
                  <a:srgbClr val="161a25"/>
                </a:solidFill>
                <a:latin typeface="PingFang SC"/>
              </a:rPr>
              <a:t>场景、菜单档位与产品链</a:t>
            </a:r>
            <a:endParaRPr b="1" lang="en-US" sz="1200" spc="-1" strike="noStrike">
              <a:solidFill>
                <a:srgbClr val="161a25"/>
              </a:solidFill>
              <a:latin typeface="PingFang SC"/>
              <a:ea typeface="PingFang SC"/>
            </a:endParaRPr>
          </a:p>
        </p:txBody>
      </p:sp>
      <p:sp>
        <p:nvSpPr>
          <p:cNvPr id="216" name="fig02-text-27"/>
          <p:cNvSpPr txBox="1"/>
          <p:nvPr/>
        </p:nvSpPr>
        <p:spPr>
          <a:xfrm>
            <a:off x="8077680" y="4026240"/>
            <a:ext cx="2780640" cy="1082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algn="r"/>
            <a:r>
              <a:rPr b="0" lang="zh-CN" sz="810" spc="-1" strike="noStrike">
                <a:solidFill>
                  <a:srgbClr val="667085"/>
                </a:solidFill>
                <a:latin typeface="PingFang SC"/>
              </a:rPr>
              <a:t>场景 ≠ 菜单 ≠ 档位 ≠ 餐次；产品 ≠ 变体 ≠ </a:t>
            </a:r>
            <a:r>
              <a:rPr b="0" lang="en-US" sz="810" spc="-1" strike="noStrike">
                <a:solidFill>
                  <a:srgbClr val="667085"/>
                </a:solidFill>
                <a:latin typeface="PingFang SC"/>
              </a:rPr>
              <a:t>SKU ≠ </a:t>
            </a:r>
            <a:r>
              <a:rPr b="0" lang="zh-CN" sz="810" spc="-1" strike="noStrike">
                <a:solidFill>
                  <a:srgbClr val="667085"/>
                </a:solidFill>
                <a:latin typeface="PingFang SC"/>
              </a:rPr>
              <a:t>套餐</a:t>
            </a:r>
            <a:endParaRPr b="0" lang="en-US" sz="810" spc="-1" strike="noStrike">
              <a:solidFill>
                <a:srgbClr val="667085"/>
              </a:solidFill>
              <a:latin typeface="PingFang SC"/>
              <a:ea typeface="PingFang SC"/>
            </a:endParaRPr>
          </a:p>
        </p:txBody>
      </p:sp>
      <p:sp>
        <p:nvSpPr>
          <p:cNvPr id="217" name="fig02-card"/>
          <p:cNvSpPr/>
          <p:nvPr/>
        </p:nvSpPr>
        <p:spPr>
          <a:xfrm>
            <a:off x="571680" y="4438800"/>
            <a:ext cx="2381400" cy="1104840"/>
          </a:xfrm>
          <a:prstGeom prst="roundRect">
            <a:avLst/>
          </a:prstGeom>
          <a:solidFill>
            <a:srgbClr val="eef6ff"/>
          </a:solidFill>
          <a:ln w="11520">
            <a:solidFill>
              <a:srgbClr val="2d8eff"/>
            </a:solidFill>
            <a:round/>
          </a:ln>
        </p:spPr>
        <p:txBody>
          <a:bodyPr lIns="95760" rIns="95760" tIns="50760" bIns="5076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8" name="fig02-card"/>
          <p:cNvSpPr/>
          <p:nvPr/>
        </p:nvSpPr>
        <p:spPr>
          <a:xfrm>
            <a:off x="704880" y="4572000"/>
            <a:ext cx="857160" cy="190440"/>
          </a:xfrm>
          <a:prstGeom prst="roundRect">
            <a:avLst/>
          </a:prstGeom>
          <a:solidFill>
            <a:srgbClr val="e6f1ff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9" name="fig02-text-30"/>
          <p:cNvSpPr txBox="1"/>
          <p:nvPr/>
        </p:nvSpPr>
        <p:spPr>
          <a:xfrm>
            <a:off x="790560" y="4623480"/>
            <a:ext cx="355680" cy="1370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750" spc="-1" strike="noStrike">
                <a:solidFill>
                  <a:srgbClr val="2d8eff"/>
                </a:solidFill>
                <a:latin typeface="IBM Plex Mono"/>
              </a:rPr>
              <a:t>SCENE</a:t>
            </a:r>
            <a:endParaRPr b="1" lang="en-US" sz="750" spc="-1" strike="noStrike">
              <a:solidFill>
                <a:srgbClr val="2d8eff"/>
              </a:solidFill>
              <a:latin typeface="IBM Plex Mono"/>
              <a:ea typeface="IBM Plex Mono"/>
            </a:endParaRPr>
          </a:p>
        </p:txBody>
      </p:sp>
      <p:sp>
        <p:nvSpPr>
          <p:cNvPr id="220" name="fig02-text-31"/>
          <p:cNvSpPr txBox="1"/>
          <p:nvPr/>
        </p:nvSpPr>
        <p:spPr>
          <a:xfrm>
            <a:off x="714240" y="4786200"/>
            <a:ext cx="2095560" cy="421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zh-CN" sz="1130" spc="-1" strike="noStrike">
                <a:solidFill>
                  <a:srgbClr val="161a25"/>
                </a:solidFill>
                <a:latin typeface="PingFang SC"/>
              </a:rPr>
              <a:t>场景配置</a:t>
            </a:r>
            <a:endParaRPr b="1" lang="en-US" sz="1130" spc="-1" strike="noStrike">
              <a:solidFill>
                <a:srgbClr val="161a25"/>
              </a:solidFill>
              <a:latin typeface="PingFang SC"/>
              <a:ea typeface="PingFang SC"/>
            </a:endParaRPr>
          </a:p>
        </p:txBody>
      </p:sp>
      <p:sp>
        <p:nvSpPr>
          <p:cNvPr id="221" name="fig02-text-32"/>
          <p:cNvSpPr txBox="1"/>
          <p:nvPr/>
        </p:nvSpPr>
        <p:spPr>
          <a:xfrm>
            <a:off x="714240" y="4997880"/>
            <a:ext cx="2095560" cy="1082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zh-CN" sz="900" spc="-1" strike="noStrike">
                <a:solidFill>
                  <a:srgbClr val="667085"/>
                </a:solidFill>
                <a:latin typeface="PingFang SC"/>
              </a:rPr>
              <a:t>对象 </a:t>
            </a:r>
            <a:r>
              <a:rPr b="0" lang="en-US" sz="900" spc="-1" strike="noStrike">
                <a:solidFill>
                  <a:srgbClr val="667085"/>
                </a:solidFill>
                <a:latin typeface="PingFang SC"/>
              </a:rPr>
              <a:t>/ </a:t>
            </a:r>
            <a:r>
              <a:rPr b="0" lang="zh-CN" sz="900" spc="-1" strike="noStrike">
                <a:solidFill>
                  <a:srgbClr val="667085"/>
                </a:solidFill>
                <a:latin typeface="PingFang SC"/>
              </a:rPr>
              <a:t>地点 </a:t>
            </a:r>
            <a:r>
              <a:rPr b="0" lang="en-US" sz="900" spc="-1" strike="noStrike">
                <a:solidFill>
                  <a:srgbClr val="667085"/>
                </a:solidFill>
                <a:latin typeface="PingFang SC"/>
              </a:rPr>
              <a:t>/ </a:t>
            </a:r>
            <a:r>
              <a:rPr b="0" lang="zh-CN" sz="900" spc="-1" strike="noStrike">
                <a:solidFill>
                  <a:srgbClr val="667085"/>
                </a:solidFill>
                <a:latin typeface="PingFang SC"/>
              </a:rPr>
              <a:t>时段 </a:t>
            </a:r>
            <a:r>
              <a:rPr b="0" lang="en-US" sz="900" spc="-1" strike="noStrike">
                <a:solidFill>
                  <a:srgbClr val="667085"/>
                </a:solidFill>
                <a:latin typeface="PingFang SC"/>
              </a:rPr>
              <a:t>/ </a:t>
            </a:r>
            <a:r>
              <a:rPr b="0" lang="zh-CN" sz="900" spc="-1" strike="noStrike">
                <a:solidFill>
                  <a:srgbClr val="667085"/>
                </a:solidFill>
                <a:latin typeface="PingFang SC"/>
              </a:rPr>
              <a:t>渠道 </a:t>
            </a:r>
            <a:r>
              <a:rPr b="0" lang="en-US" sz="900" spc="-1" strike="noStrike">
                <a:solidFill>
                  <a:srgbClr val="667085"/>
                </a:solidFill>
                <a:latin typeface="PingFang SC"/>
              </a:rPr>
              <a:t>/</a:t>
            </a:r>
            <a:endParaRPr b="0" lang="en-US" sz="900" spc="-1" strike="noStrike">
              <a:solidFill>
                <a:srgbClr val="667085"/>
              </a:solidFill>
              <a:latin typeface="PingFang SC"/>
              <a:ea typeface="PingFang SC"/>
            </a:endParaRPr>
          </a:p>
          <a:p>
            <a:r>
              <a:rPr b="0" lang="en-US" sz="900" spc="-1" strike="noStrike">
                <a:solidFill>
                  <a:srgbClr val="667085"/>
                </a:solidFill>
                <a:latin typeface="PingFang SC"/>
              </a:rPr>
              <a:t> </a:t>
            </a:r>
            <a:r>
              <a:rPr b="0" lang="zh-CN" sz="900" spc="-1" strike="noStrike">
                <a:solidFill>
                  <a:srgbClr val="667085"/>
                </a:solidFill>
                <a:latin typeface="PingFang SC"/>
              </a:rPr>
              <a:t>服务与履约规则</a:t>
            </a:r>
            <a:endParaRPr b="0" lang="en-US" sz="900" spc="-1" strike="noStrike">
              <a:solidFill>
                <a:srgbClr val="667085"/>
              </a:solidFill>
              <a:latin typeface="PingFang SC"/>
              <a:ea typeface="PingFang SC"/>
            </a:endParaRPr>
          </a:p>
        </p:txBody>
      </p:sp>
      <p:sp>
        <p:nvSpPr>
          <p:cNvPr id="222" name="fig02-card"/>
          <p:cNvSpPr/>
          <p:nvPr/>
        </p:nvSpPr>
        <p:spPr>
          <a:xfrm>
            <a:off x="3524400" y="4438800"/>
            <a:ext cx="2381400" cy="1104840"/>
          </a:xfrm>
          <a:prstGeom prst="roundRect">
            <a:avLst/>
          </a:prstGeom>
          <a:solidFill>
            <a:srgbClr val="eef6ff"/>
          </a:solidFill>
          <a:ln w="11520">
            <a:solidFill>
              <a:srgbClr val="2d8eff"/>
            </a:solidFill>
            <a:round/>
          </a:ln>
        </p:spPr>
        <p:txBody>
          <a:bodyPr lIns="95760" rIns="95760" tIns="50760" bIns="5076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3" name="fig02-card"/>
          <p:cNvSpPr/>
          <p:nvPr/>
        </p:nvSpPr>
        <p:spPr>
          <a:xfrm>
            <a:off x="3657600" y="4572000"/>
            <a:ext cx="857160" cy="190440"/>
          </a:xfrm>
          <a:prstGeom prst="roundRect">
            <a:avLst/>
          </a:prstGeom>
          <a:solidFill>
            <a:srgbClr val="e6f1ff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4" name="fig02-text-35"/>
          <p:cNvSpPr txBox="1"/>
          <p:nvPr/>
        </p:nvSpPr>
        <p:spPr>
          <a:xfrm>
            <a:off x="3743280" y="4623480"/>
            <a:ext cx="567000" cy="1114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750" spc="-1" strike="noStrike">
                <a:solidFill>
                  <a:srgbClr val="2d8eff"/>
                </a:solidFill>
                <a:latin typeface="IBM Plex Mono"/>
              </a:rPr>
              <a:t>MENU SLOT</a:t>
            </a:r>
            <a:endParaRPr b="1" lang="en-US" sz="750" spc="-1" strike="noStrike">
              <a:solidFill>
                <a:srgbClr val="2d8eff"/>
              </a:solidFill>
              <a:latin typeface="IBM Plex Mono"/>
              <a:ea typeface="IBM Plex Mono"/>
            </a:endParaRPr>
          </a:p>
        </p:txBody>
      </p:sp>
      <p:sp>
        <p:nvSpPr>
          <p:cNvPr id="225" name="fig02-text-36"/>
          <p:cNvSpPr txBox="1"/>
          <p:nvPr/>
        </p:nvSpPr>
        <p:spPr>
          <a:xfrm>
            <a:off x="3666960" y="4786200"/>
            <a:ext cx="2095560" cy="421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zh-CN" sz="1130" spc="-1" strike="noStrike">
                <a:solidFill>
                  <a:srgbClr val="161a25"/>
                </a:solidFill>
                <a:latin typeface="PingFang SC"/>
              </a:rPr>
              <a:t>菜单结构点 </a:t>
            </a:r>
            <a:r>
              <a:rPr b="1" lang="en-US" sz="1130" spc="-1" strike="noStrike">
                <a:solidFill>
                  <a:srgbClr val="161a25"/>
                </a:solidFill>
                <a:latin typeface="PingFang SC"/>
              </a:rPr>
              <a:t>/ </a:t>
            </a:r>
            <a:r>
              <a:rPr b="1" lang="zh-CN" sz="1130" spc="-1" strike="noStrike">
                <a:solidFill>
                  <a:srgbClr val="161a25"/>
                </a:solidFill>
                <a:latin typeface="PingFang SC"/>
              </a:rPr>
              <a:t>档位</a:t>
            </a:r>
            <a:endParaRPr b="1" lang="en-US" sz="1130" spc="-1" strike="noStrike">
              <a:solidFill>
                <a:srgbClr val="161a25"/>
              </a:solidFill>
              <a:latin typeface="PingFang SC"/>
              <a:ea typeface="PingFang SC"/>
            </a:endParaRPr>
          </a:p>
        </p:txBody>
      </p:sp>
      <p:sp>
        <p:nvSpPr>
          <p:cNvPr id="226" name="fig02-text-37"/>
          <p:cNvSpPr txBox="1"/>
          <p:nvPr/>
        </p:nvSpPr>
        <p:spPr>
          <a:xfrm>
            <a:off x="3666960" y="4997880"/>
            <a:ext cx="2095560" cy="1082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zh-CN" sz="900" spc="-1" strike="noStrike">
                <a:solidFill>
                  <a:srgbClr val="667085"/>
                </a:solidFill>
                <a:latin typeface="PingFang SC"/>
              </a:rPr>
              <a:t>餐次、菜序、窗口、排序、必选性、容量</a:t>
            </a:r>
            <a:endParaRPr b="0" lang="en-US" sz="900" spc="-1" strike="noStrike">
              <a:solidFill>
                <a:srgbClr val="667085"/>
              </a:solidFill>
              <a:latin typeface="PingFang SC"/>
              <a:ea typeface="PingFang SC"/>
            </a:endParaRPr>
          </a:p>
        </p:txBody>
      </p:sp>
      <p:sp>
        <p:nvSpPr>
          <p:cNvPr id="227" name="fig02-card"/>
          <p:cNvSpPr/>
          <p:nvPr/>
        </p:nvSpPr>
        <p:spPr>
          <a:xfrm>
            <a:off x="6477120" y="4438800"/>
            <a:ext cx="2381400" cy="1104840"/>
          </a:xfrm>
          <a:prstGeom prst="roundRect">
            <a:avLst/>
          </a:prstGeom>
          <a:solidFill>
            <a:srgbClr val="f5f1ff"/>
          </a:solidFill>
          <a:ln w="11520">
            <a:solidFill>
              <a:srgbClr val="8b5aca"/>
            </a:solidFill>
            <a:round/>
          </a:ln>
        </p:spPr>
        <p:txBody>
          <a:bodyPr lIns="95760" rIns="95760" tIns="50760" bIns="5076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8" name="fig02-card"/>
          <p:cNvSpPr/>
          <p:nvPr/>
        </p:nvSpPr>
        <p:spPr>
          <a:xfrm>
            <a:off x="6610320" y="4572000"/>
            <a:ext cx="1017360" cy="190440"/>
          </a:xfrm>
          <a:prstGeom prst="roundRect">
            <a:avLst/>
          </a:prstGeom>
          <a:solidFill>
            <a:srgbClr val="f1ebf9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9" name="fig02-text-40"/>
          <p:cNvSpPr txBox="1"/>
          <p:nvPr/>
        </p:nvSpPr>
        <p:spPr>
          <a:xfrm>
            <a:off x="6696000" y="4623480"/>
            <a:ext cx="746280" cy="1114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750" spc="-1" strike="noStrike">
                <a:solidFill>
                  <a:srgbClr val="8b5aca"/>
                </a:solidFill>
                <a:latin typeface="IBM Plex Mono"/>
              </a:rPr>
              <a:t>MENU VERSION</a:t>
            </a:r>
            <a:endParaRPr b="1" lang="en-US" sz="750" spc="-1" strike="noStrike">
              <a:solidFill>
                <a:srgbClr val="8b5aca"/>
              </a:solidFill>
              <a:latin typeface="IBM Plex Mono"/>
              <a:ea typeface="IBM Plex Mono"/>
            </a:endParaRPr>
          </a:p>
        </p:txBody>
      </p:sp>
      <p:sp>
        <p:nvSpPr>
          <p:cNvPr id="230" name="fig02-text-41"/>
          <p:cNvSpPr txBox="1"/>
          <p:nvPr/>
        </p:nvSpPr>
        <p:spPr>
          <a:xfrm>
            <a:off x="6620040" y="4786200"/>
            <a:ext cx="2095560" cy="421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zh-CN" sz="1130" spc="-1" strike="noStrike">
                <a:solidFill>
                  <a:srgbClr val="161a25"/>
                </a:solidFill>
                <a:latin typeface="PingFang SC"/>
              </a:rPr>
              <a:t>菜单版本与可售项</a:t>
            </a:r>
            <a:endParaRPr b="1" lang="en-US" sz="1130" spc="-1" strike="noStrike">
              <a:solidFill>
                <a:srgbClr val="161a25"/>
              </a:solidFill>
              <a:latin typeface="PingFang SC"/>
              <a:ea typeface="PingFang SC"/>
            </a:endParaRPr>
          </a:p>
        </p:txBody>
      </p:sp>
      <p:sp>
        <p:nvSpPr>
          <p:cNvPr id="231" name="fig02-text-42"/>
          <p:cNvSpPr txBox="1"/>
          <p:nvPr/>
        </p:nvSpPr>
        <p:spPr>
          <a:xfrm>
            <a:off x="6620040" y="4997880"/>
            <a:ext cx="2095560" cy="1082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zh-CN" sz="900" spc="-1" strike="noStrike">
                <a:solidFill>
                  <a:srgbClr val="667085"/>
                </a:solidFill>
                <a:latin typeface="PingFang SC"/>
              </a:rPr>
              <a:t>范围 </a:t>
            </a:r>
            <a:r>
              <a:rPr b="0" lang="en-US" sz="900" spc="-1" strike="noStrike">
                <a:solidFill>
                  <a:srgbClr val="667085"/>
                </a:solidFill>
                <a:latin typeface="PingFang SC"/>
              </a:rPr>
              <a:t>+ </a:t>
            </a:r>
            <a:r>
              <a:rPr b="0" lang="zh-CN" sz="900" spc="-1" strike="noStrike">
                <a:solidFill>
                  <a:srgbClr val="667085"/>
                </a:solidFill>
                <a:latin typeface="PingFang SC"/>
              </a:rPr>
              <a:t>有效期下的编排；非生产指令</a:t>
            </a:r>
            <a:endParaRPr b="0" lang="en-US" sz="900" spc="-1" strike="noStrike">
              <a:solidFill>
                <a:srgbClr val="667085"/>
              </a:solidFill>
              <a:latin typeface="PingFang SC"/>
              <a:ea typeface="PingFang SC"/>
            </a:endParaRPr>
          </a:p>
        </p:txBody>
      </p:sp>
      <p:sp>
        <p:nvSpPr>
          <p:cNvPr id="232" name="fig02-card"/>
          <p:cNvSpPr/>
          <p:nvPr/>
        </p:nvSpPr>
        <p:spPr>
          <a:xfrm>
            <a:off x="571680" y="6191280"/>
            <a:ext cx="1952640" cy="1123920"/>
          </a:xfrm>
          <a:prstGeom prst="roundRect">
            <a:avLst/>
          </a:prstGeom>
          <a:solidFill>
            <a:srgbClr val="ecfbf4"/>
          </a:solidFill>
          <a:ln w="11520">
            <a:solidFill>
              <a:srgbClr val="28cc83"/>
            </a:solidFill>
            <a:round/>
          </a:ln>
        </p:spPr>
        <p:txBody>
          <a:bodyPr lIns="95760" rIns="95760" tIns="50760" bIns="5076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3" name="fig02-card"/>
          <p:cNvSpPr/>
          <p:nvPr/>
        </p:nvSpPr>
        <p:spPr>
          <a:xfrm>
            <a:off x="704880" y="6324480"/>
            <a:ext cx="857160" cy="190440"/>
          </a:xfrm>
          <a:prstGeom prst="roundRect">
            <a:avLst/>
          </a:prstGeom>
          <a:solidFill>
            <a:srgbClr val="e5f9f0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4" name="fig02-text-45"/>
          <p:cNvSpPr txBox="1"/>
          <p:nvPr/>
        </p:nvSpPr>
        <p:spPr>
          <a:xfrm>
            <a:off x="790560" y="6375960"/>
            <a:ext cx="475200" cy="1882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750" spc="-1" strike="noStrike">
                <a:solidFill>
                  <a:srgbClr val="28cc83"/>
                </a:solidFill>
                <a:latin typeface="IBM Plex Mono"/>
              </a:rPr>
              <a:t>PRODUCT</a:t>
            </a:r>
            <a:endParaRPr b="1" lang="en-US" sz="750" spc="-1" strike="noStrike">
              <a:solidFill>
                <a:srgbClr val="28cc83"/>
              </a:solidFill>
              <a:latin typeface="IBM Plex Mono"/>
              <a:ea typeface="IBM Plex Mono"/>
            </a:endParaRPr>
          </a:p>
        </p:txBody>
      </p:sp>
      <p:sp>
        <p:nvSpPr>
          <p:cNvPr id="235" name="fig02-text-46"/>
          <p:cNvSpPr txBox="1"/>
          <p:nvPr/>
        </p:nvSpPr>
        <p:spPr>
          <a:xfrm>
            <a:off x="714240" y="6539040"/>
            <a:ext cx="1666800" cy="421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zh-CN" sz="1130" spc="-1" strike="noStrike">
                <a:solidFill>
                  <a:srgbClr val="161a25"/>
                </a:solidFill>
                <a:latin typeface="PingFang SC"/>
              </a:rPr>
              <a:t>标准产品</a:t>
            </a:r>
            <a:endParaRPr b="1" lang="en-US" sz="1130" spc="-1" strike="noStrike">
              <a:solidFill>
                <a:srgbClr val="161a25"/>
              </a:solidFill>
              <a:latin typeface="PingFang SC"/>
              <a:ea typeface="PingFang SC"/>
            </a:endParaRPr>
          </a:p>
        </p:txBody>
      </p:sp>
      <p:sp>
        <p:nvSpPr>
          <p:cNvPr id="236" name="fig02-text-47"/>
          <p:cNvSpPr txBox="1"/>
          <p:nvPr/>
        </p:nvSpPr>
        <p:spPr>
          <a:xfrm>
            <a:off x="714240" y="6750360"/>
            <a:ext cx="1666800" cy="752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zh-CN" sz="900" spc="-1" strike="noStrike">
                <a:solidFill>
                  <a:srgbClr val="667085"/>
                </a:solidFill>
                <a:latin typeface="PingFang SC"/>
              </a:rPr>
              <a:t>产品家族 </a:t>
            </a:r>
            <a:r>
              <a:rPr b="0" lang="en-US" sz="900" spc="-1" strike="noStrike">
                <a:solidFill>
                  <a:srgbClr val="667085"/>
                </a:solidFill>
                <a:latin typeface="PingFang SC"/>
              </a:rPr>
              <a:t>/ </a:t>
            </a:r>
            <a:r>
              <a:rPr b="0" lang="zh-CN" sz="900" spc="-1" strike="noStrike">
                <a:solidFill>
                  <a:srgbClr val="667085"/>
                </a:solidFill>
                <a:latin typeface="PingFang SC"/>
              </a:rPr>
              <a:t>共用能力池</a:t>
            </a:r>
            <a:endParaRPr b="0" lang="en-US" sz="900" spc="-1" strike="noStrike">
              <a:solidFill>
                <a:srgbClr val="667085"/>
              </a:solidFill>
              <a:latin typeface="PingFang SC"/>
              <a:ea typeface="PingFang SC"/>
            </a:endParaRPr>
          </a:p>
        </p:txBody>
      </p:sp>
      <p:sp>
        <p:nvSpPr>
          <p:cNvPr id="237" name="fig02-card"/>
          <p:cNvSpPr/>
          <p:nvPr/>
        </p:nvSpPr>
        <p:spPr>
          <a:xfrm>
            <a:off x="3000240" y="6191280"/>
            <a:ext cx="1952640" cy="1123920"/>
          </a:xfrm>
          <a:prstGeom prst="roundRect">
            <a:avLst/>
          </a:prstGeom>
          <a:solidFill>
            <a:srgbClr val="ecfbf4"/>
          </a:solidFill>
          <a:ln w="11520">
            <a:solidFill>
              <a:srgbClr val="28cc83"/>
            </a:solidFill>
            <a:round/>
          </a:ln>
        </p:spPr>
        <p:txBody>
          <a:bodyPr lIns="95760" rIns="95760" tIns="50760" bIns="5076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8" name="fig02-card"/>
          <p:cNvSpPr/>
          <p:nvPr/>
        </p:nvSpPr>
        <p:spPr>
          <a:xfrm>
            <a:off x="3133800" y="6324480"/>
            <a:ext cx="857160" cy="190440"/>
          </a:xfrm>
          <a:prstGeom prst="roundRect">
            <a:avLst/>
          </a:prstGeom>
          <a:solidFill>
            <a:srgbClr val="e5f9f0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9" name="fig02-text-50"/>
          <p:cNvSpPr txBox="1"/>
          <p:nvPr/>
        </p:nvSpPr>
        <p:spPr>
          <a:xfrm>
            <a:off x="3219480" y="6375960"/>
            <a:ext cx="475200" cy="1370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750" spc="-1" strike="noStrike">
                <a:solidFill>
                  <a:srgbClr val="28cc83"/>
                </a:solidFill>
                <a:latin typeface="IBM Plex Mono"/>
              </a:rPr>
              <a:t>VARIANT</a:t>
            </a:r>
            <a:endParaRPr b="1" lang="en-US" sz="750" spc="-1" strike="noStrike">
              <a:solidFill>
                <a:srgbClr val="28cc83"/>
              </a:solidFill>
              <a:latin typeface="IBM Plex Mono"/>
              <a:ea typeface="IBM Plex Mono"/>
            </a:endParaRPr>
          </a:p>
        </p:txBody>
      </p:sp>
      <p:sp>
        <p:nvSpPr>
          <p:cNvPr id="240" name="fig02-text-51"/>
          <p:cNvSpPr txBox="1"/>
          <p:nvPr/>
        </p:nvSpPr>
        <p:spPr>
          <a:xfrm>
            <a:off x="3143160" y="6539040"/>
            <a:ext cx="1666800" cy="421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zh-CN" sz="1130" spc="-1" strike="noStrike">
                <a:solidFill>
                  <a:srgbClr val="161a25"/>
                </a:solidFill>
                <a:latin typeface="PingFang SC"/>
              </a:rPr>
              <a:t>产品变体</a:t>
            </a:r>
            <a:endParaRPr b="1" lang="en-US" sz="1130" spc="-1" strike="noStrike">
              <a:solidFill>
                <a:srgbClr val="161a25"/>
              </a:solidFill>
              <a:latin typeface="PingFang SC"/>
              <a:ea typeface="PingFang SC"/>
            </a:endParaRPr>
          </a:p>
        </p:txBody>
      </p:sp>
      <p:sp>
        <p:nvSpPr>
          <p:cNvPr id="241" name="fig02-text-52"/>
          <p:cNvSpPr txBox="1"/>
          <p:nvPr/>
        </p:nvSpPr>
        <p:spPr>
          <a:xfrm>
            <a:off x="3143160" y="6750360"/>
            <a:ext cx="1666800" cy="1413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zh-CN" sz="900" spc="-1" strike="noStrike">
                <a:solidFill>
                  <a:srgbClr val="667085"/>
                </a:solidFill>
                <a:latin typeface="PingFang SC"/>
              </a:rPr>
              <a:t>口味、规格、人群、</a:t>
            </a:r>
            <a:endParaRPr b="0" lang="en-US" sz="900" spc="-1" strike="noStrike">
              <a:solidFill>
                <a:srgbClr val="667085"/>
              </a:solidFill>
              <a:latin typeface="PingFang SC"/>
              <a:ea typeface="PingFang SC"/>
            </a:endParaRPr>
          </a:p>
          <a:p>
            <a:r>
              <a:rPr b="0" lang="zh-CN" sz="900" spc="-1" strike="noStrike">
                <a:solidFill>
                  <a:srgbClr val="667085"/>
                </a:solidFill>
                <a:latin typeface="PingFang SC"/>
              </a:rPr>
              <a:t>工艺或营养差异</a:t>
            </a:r>
            <a:endParaRPr b="0" lang="en-US" sz="900" spc="-1" strike="noStrike">
              <a:solidFill>
                <a:srgbClr val="667085"/>
              </a:solidFill>
              <a:latin typeface="PingFang SC"/>
              <a:ea typeface="PingFang SC"/>
            </a:endParaRPr>
          </a:p>
        </p:txBody>
      </p:sp>
      <p:sp>
        <p:nvSpPr>
          <p:cNvPr id="242" name="fig02-card"/>
          <p:cNvSpPr/>
          <p:nvPr/>
        </p:nvSpPr>
        <p:spPr>
          <a:xfrm>
            <a:off x="5429160" y="6191280"/>
            <a:ext cx="1952640" cy="1123920"/>
          </a:xfrm>
          <a:prstGeom prst="roundRect">
            <a:avLst/>
          </a:prstGeom>
          <a:solidFill>
            <a:srgbClr val="ecfbf4"/>
          </a:solidFill>
          <a:ln w="11520">
            <a:solidFill>
              <a:srgbClr val="28cc83"/>
            </a:solidFill>
            <a:round/>
          </a:ln>
        </p:spPr>
        <p:txBody>
          <a:bodyPr lIns="95760" rIns="95760" tIns="50760" bIns="5076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3" name="fig02-card"/>
          <p:cNvSpPr/>
          <p:nvPr/>
        </p:nvSpPr>
        <p:spPr>
          <a:xfrm>
            <a:off x="5562720" y="6324480"/>
            <a:ext cx="857160" cy="190440"/>
          </a:xfrm>
          <a:prstGeom prst="roundRect">
            <a:avLst/>
          </a:prstGeom>
          <a:solidFill>
            <a:srgbClr val="e5f9f0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4" name="fig02-text-55"/>
          <p:cNvSpPr txBox="1"/>
          <p:nvPr/>
        </p:nvSpPr>
        <p:spPr>
          <a:xfrm>
            <a:off x="5648400" y="6375960"/>
            <a:ext cx="567000" cy="1370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750" spc="-1" strike="noStrike">
                <a:solidFill>
                  <a:srgbClr val="28cc83"/>
                </a:solidFill>
                <a:latin typeface="IBM Plex Mono"/>
              </a:rPr>
              <a:t>SALES SKU</a:t>
            </a:r>
            <a:endParaRPr b="1" lang="en-US" sz="750" spc="-1" strike="noStrike">
              <a:solidFill>
                <a:srgbClr val="28cc83"/>
              </a:solidFill>
              <a:latin typeface="IBM Plex Mono"/>
              <a:ea typeface="IBM Plex Mono"/>
            </a:endParaRPr>
          </a:p>
        </p:txBody>
      </p:sp>
      <p:sp>
        <p:nvSpPr>
          <p:cNvPr id="245" name="fig02-text-56"/>
          <p:cNvSpPr txBox="1"/>
          <p:nvPr/>
        </p:nvSpPr>
        <p:spPr>
          <a:xfrm>
            <a:off x="5572080" y="6539040"/>
            <a:ext cx="1666800" cy="421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zh-CN" sz="1130" spc="-1" strike="noStrike">
                <a:solidFill>
                  <a:srgbClr val="161a25"/>
                </a:solidFill>
                <a:latin typeface="PingFang SC"/>
              </a:rPr>
              <a:t>售卖 </a:t>
            </a:r>
            <a:r>
              <a:rPr b="1" lang="en-US" sz="1130" spc="-1" strike="noStrike">
                <a:solidFill>
                  <a:srgbClr val="161a25"/>
                </a:solidFill>
                <a:latin typeface="PingFang SC"/>
              </a:rPr>
              <a:t>SKU</a:t>
            </a:r>
            <a:endParaRPr b="1" lang="en-US" sz="1130" spc="-1" strike="noStrike">
              <a:solidFill>
                <a:srgbClr val="161a25"/>
              </a:solidFill>
              <a:latin typeface="PingFang SC"/>
              <a:ea typeface="PingFang SC"/>
            </a:endParaRPr>
          </a:p>
        </p:txBody>
      </p:sp>
      <p:sp>
        <p:nvSpPr>
          <p:cNvPr id="246" name="fig02-text-57"/>
          <p:cNvSpPr txBox="1"/>
          <p:nvPr/>
        </p:nvSpPr>
        <p:spPr>
          <a:xfrm>
            <a:off x="5572080" y="6750360"/>
            <a:ext cx="1666800" cy="1082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zh-CN" sz="900" spc="-1" strike="noStrike">
                <a:solidFill>
                  <a:srgbClr val="667085"/>
                </a:solidFill>
                <a:latin typeface="PingFang SC"/>
              </a:rPr>
              <a:t>包装、份量、渠道、定价、</a:t>
            </a:r>
            <a:endParaRPr b="0" lang="en-US" sz="900" spc="-1" strike="noStrike">
              <a:solidFill>
                <a:srgbClr val="667085"/>
              </a:solidFill>
              <a:latin typeface="PingFang SC"/>
              <a:ea typeface="PingFang SC"/>
            </a:endParaRPr>
          </a:p>
          <a:p>
            <a:r>
              <a:rPr b="0" lang="zh-CN" sz="900" spc="-1" strike="noStrike">
                <a:solidFill>
                  <a:srgbClr val="667085"/>
                </a:solidFill>
                <a:latin typeface="PingFang SC"/>
              </a:rPr>
              <a:t>履约差异</a:t>
            </a:r>
            <a:endParaRPr b="0" lang="en-US" sz="900" spc="-1" strike="noStrike">
              <a:solidFill>
                <a:srgbClr val="667085"/>
              </a:solidFill>
              <a:latin typeface="PingFang SC"/>
              <a:ea typeface="PingFang SC"/>
            </a:endParaRPr>
          </a:p>
        </p:txBody>
      </p:sp>
      <p:sp>
        <p:nvSpPr>
          <p:cNvPr id="247" name="fig02-card"/>
          <p:cNvSpPr/>
          <p:nvPr/>
        </p:nvSpPr>
        <p:spPr>
          <a:xfrm>
            <a:off x="7858080" y="6191280"/>
            <a:ext cx="3000240" cy="1123920"/>
          </a:xfrm>
          <a:prstGeom prst="roundRect">
            <a:avLst/>
          </a:prstGeom>
          <a:solidFill>
            <a:srgbClr val="ecfbf4"/>
          </a:solidFill>
          <a:ln w="11520">
            <a:solidFill>
              <a:srgbClr val="28cc83"/>
            </a:solidFill>
            <a:round/>
          </a:ln>
        </p:spPr>
        <p:txBody>
          <a:bodyPr lIns="95760" rIns="95760" tIns="50760" bIns="5076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8" name="fig02-card"/>
          <p:cNvSpPr/>
          <p:nvPr/>
        </p:nvSpPr>
        <p:spPr>
          <a:xfrm>
            <a:off x="7991640" y="6324480"/>
            <a:ext cx="857160" cy="190440"/>
          </a:xfrm>
          <a:prstGeom prst="roundRect">
            <a:avLst/>
          </a:prstGeom>
          <a:solidFill>
            <a:srgbClr val="e5f9f0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9" name="fig02-text-60"/>
          <p:cNvSpPr txBox="1"/>
          <p:nvPr/>
        </p:nvSpPr>
        <p:spPr>
          <a:xfrm>
            <a:off x="8077320" y="6375960"/>
            <a:ext cx="507240" cy="1370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750" spc="-1" strike="noStrike">
                <a:solidFill>
                  <a:srgbClr val="28cc83"/>
                </a:solidFill>
                <a:latin typeface="IBM Plex Mono"/>
              </a:rPr>
              <a:t>SET MEAL</a:t>
            </a:r>
            <a:endParaRPr b="1" lang="en-US" sz="750" spc="-1" strike="noStrike">
              <a:solidFill>
                <a:srgbClr val="28cc83"/>
              </a:solidFill>
              <a:latin typeface="IBM Plex Mono"/>
              <a:ea typeface="IBM Plex Mono"/>
            </a:endParaRPr>
          </a:p>
        </p:txBody>
      </p:sp>
      <p:sp>
        <p:nvSpPr>
          <p:cNvPr id="250" name="fig02-text-61"/>
          <p:cNvSpPr txBox="1"/>
          <p:nvPr/>
        </p:nvSpPr>
        <p:spPr>
          <a:xfrm>
            <a:off x="8001000" y="6539040"/>
            <a:ext cx="2714760" cy="421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zh-CN" sz="1130" spc="-1" strike="noStrike">
                <a:solidFill>
                  <a:srgbClr val="161a25"/>
                </a:solidFill>
                <a:latin typeface="PingFang SC"/>
              </a:rPr>
              <a:t>组合套餐</a:t>
            </a:r>
            <a:endParaRPr b="1" lang="en-US" sz="1130" spc="-1" strike="noStrike">
              <a:solidFill>
                <a:srgbClr val="161a25"/>
              </a:solidFill>
              <a:latin typeface="PingFang SC"/>
              <a:ea typeface="PingFang SC"/>
            </a:endParaRPr>
          </a:p>
        </p:txBody>
      </p:sp>
      <p:sp>
        <p:nvSpPr>
          <p:cNvPr id="251" name="fig02-text-62"/>
          <p:cNvSpPr txBox="1"/>
          <p:nvPr/>
        </p:nvSpPr>
        <p:spPr>
          <a:xfrm>
            <a:off x="8001000" y="6750360"/>
            <a:ext cx="2714760" cy="1082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zh-CN" sz="900" spc="-1" strike="noStrike">
                <a:solidFill>
                  <a:srgbClr val="667085"/>
                </a:solidFill>
                <a:latin typeface="PingFang SC"/>
              </a:rPr>
              <a:t>组成 </a:t>
            </a:r>
            <a:r>
              <a:rPr b="0" lang="en-US" sz="900" spc="-1" strike="noStrike">
                <a:solidFill>
                  <a:srgbClr val="667085"/>
                </a:solidFill>
                <a:latin typeface="PingFang SC"/>
              </a:rPr>
              <a:t>SKU × </a:t>
            </a:r>
            <a:r>
              <a:rPr b="0" lang="zh-CN" sz="900" spc="-1" strike="noStrike">
                <a:solidFill>
                  <a:srgbClr val="667085"/>
                </a:solidFill>
                <a:latin typeface="PingFang SC"/>
              </a:rPr>
              <a:t>数量 </a:t>
            </a:r>
            <a:r>
              <a:rPr b="0" lang="en-US" sz="900" spc="-1" strike="noStrike">
                <a:solidFill>
                  <a:srgbClr val="667085"/>
                </a:solidFill>
                <a:latin typeface="PingFang SC"/>
              </a:rPr>
              <a:t>/ </a:t>
            </a:r>
            <a:r>
              <a:rPr b="0" lang="zh-CN" sz="900" spc="-1" strike="noStrike">
                <a:solidFill>
                  <a:srgbClr val="667085"/>
                </a:solidFill>
                <a:latin typeface="PingFang SC"/>
              </a:rPr>
              <a:t>可选 </a:t>
            </a:r>
            <a:r>
              <a:rPr b="0" lang="en-US" sz="900" spc="-1" strike="noStrike">
                <a:solidFill>
                  <a:srgbClr val="667085"/>
                </a:solidFill>
                <a:latin typeface="PingFang SC"/>
              </a:rPr>
              <a:t>/ </a:t>
            </a:r>
            <a:r>
              <a:rPr b="0" lang="zh-CN" sz="900" spc="-1" strike="noStrike">
                <a:solidFill>
                  <a:srgbClr val="667085"/>
                </a:solidFill>
                <a:latin typeface="PingFang SC"/>
              </a:rPr>
              <a:t>替换组 </a:t>
            </a:r>
            <a:r>
              <a:rPr b="0" lang="en-US" sz="900" spc="-1" strike="noStrike">
                <a:solidFill>
                  <a:srgbClr val="667085"/>
                </a:solidFill>
                <a:latin typeface="PingFang SC"/>
              </a:rPr>
              <a:t>/ </a:t>
            </a:r>
            <a:r>
              <a:rPr b="0" lang="zh-CN" sz="900" spc="-1" strike="noStrike">
                <a:solidFill>
                  <a:srgbClr val="667085"/>
                </a:solidFill>
                <a:latin typeface="PingFang SC"/>
              </a:rPr>
              <a:t>加价 </a:t>
            </a:r>
            <a:r>
              <a:rPr b="0" lang="en-US" sz="900" spc="-1" strike="noStrike">
                <a:solidFill>
                  <a:srgbClr val="667085"/>
                </a:solidFill>
                <a:latin typeface="PingFang SC"/>
              </a:rPr>
              <a:t>/ </a:t>
            </a:r>
            <a:r>
              <a:rPr b="0" lang="zh-CN" sz="900" spc="-1" strike="noStrike">
                <a:solidFill>
                  <a:srgbClr val="667085"/>
                </a:solidFill>
                <a:latin typeface="PingFang SC"/>
              </a:rPr>
              <a:t>生效期</a:t>
            </a:r>
            <a:endParaRPr b="0" lang="en-US" sz="900" spc="-1" strike="noStrike">
              <a:solidFill>
                <a:srgbClr val="667085"/>
              </a:solidFill>
              <a:latin typeface="PingFang SC"/>
              <a:ea typeface="PingFang SC"/>
            </a:endParaRPr>
          </a:p>
        </p:txBody>
      </p:sp>
      <p:sp>
        <p:nvSpPr>
          <p:cNvPr id="252" name="fig02-scene-slot"/>
          <p:cNvSpPr/>
          <p:nvPr/>
        </p:nvSpPr>
        <p:spPr>
          <a:xfrm>
            <a:off x="2952720" y="4991040"/>
            <a:ext cx="571680" cy="0"/>
          </a:xfrm>
          <a:prstGeom prst="line">
            <a:avLst/>
          </a:prstGeom>
          <a:ln w="16200">
            <a:solidFill>
              <a:srgbClr val="2d8e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7920" rIns="97920" tIns="-52920" bIns="-5292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3" name="fig02-scene-slot-head"/>
          <p:cNvSpPr/>
          <p:nvPr/>
        </p:nvSpPr>
        <p:spPr>
          <a:xfrm>
            <a:off x="3438360" y="4955040"/>
            <a:ext cx="86040" cy="72000"/>
          </a:xfrm>
          <a:custGeom>
            <a:avLst/>
            <a:gdLst/>
            <a:ahLst/>
            <a:rect l="0" t="0" r="r" b="b"/>
            <a:pathLst>
              <a:path w="239" h="200">
                <a:moveTo>
                  <a:pt x="239" y="100"/>
                </a:moveTo>
                <a:lnTo>
                  <a:pt x="0" y="200"/>
                </a:lnTo>
                <a:lnTo>
                  <a:pt x="0" y="0"/>
                </a:lnTo>
                <a:lnTo>
                  <a:pt x="239" y="100"/>
                </a:lnTo>
                <a:close/>
              </a:path>
            </a:pathLst>
          </a:custGeom>
          <a:solidFill>
            <a:srgbClr val="2d8eff"/>
          </a:solidFill>
          <a:ln w="0">
            <a:noFill/>
          </a:ln>
        </p:spPr>
        <p:txBody>
          <a:bodyPr lIns="90000" rIns="90000" tIns="27000" bIns="27000" anchor="ctr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4" name="fig02-64-chip"/>
          <p:cNvSpPr/>
          <p:nvPr/>
        </p:nvSpPr>
        <p:spPr>
          <a:xfrm>
            <a:off x="2628000" y="4775760"/>
            <a:ext cx="1221120" cy="171360"/>
          </a:xfrm>
          <a:prstGeom prst="roundRect">
            <a:avLst/>
          </a:prstGeom>
          <a:solidFill>
            <a:srgbClr val="ffffff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5" name="fig02-text-64"/>
          <p:cNvSpPr txBox="1"/>
          <p:nvPr/>
        </p:nvSpPr>
        <p:spPr>
          <a:xfrm>
            <a:off x="2684880" y="4794840"/>
            <a:ext cx="1107000" cy="1082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algn="ctr"/>
            <a:r>
              <a:rPr b="1" lang="en-US" sz="750" spc="-1" strike="noStrike">
                <a:solidFill>
                  <a:srgbClr val="667085"/>
                </a:solidFill>
                <a:latin typeface="PingFang SC"/>
              </a:rPr>
              <a:t>M:N · </a:t>
            </a:r>
            <a:r>
              <a:rPr b="1" lang="zh-CN" sz="750" spc="-1" strike="noStrike">
                <a:solidFill>
                  <a:srgbClr val="667085"/>
                </a:solidFill>
                <a:latin typeface="PingFang SC"/>
              </a:rPr>
              <a:t>场景化档位配置</a:t>
            </a:r>
            <a:endParaRPr b="1" lang="en-US" sz="750" spc="-1" strike="noStrike">
              <a:solidFill>
                <a:srgbClr val="667085"/>
              </a:solidFill>
              <a:latin typeface="PingFang SC"/>
              <a:ea typeface="PingFang SC"/>
            </a:endParaRPr>
          </a:p>
        </p:txBody>
      </p:sp>
      <p:sp>
        <p:nvSpPr>
          <p:cNvPr id="256" name="fig02-slot-menu"/>
          <p:cNvSpPr/>
          <p:nvPr/>
        </p:nvSpPr>
        <p:spPr>
          <a:xfrm>
            <a:off x="5905440" y="4991040"/>
            <a:ext cx="571680" cy="0"/>
          </a:xfrm>
          <a:prstGeom prst="line">
            <a:avLst/>
          </a:prstGeom>
          <a:ln w="16200">
            <a:solidFill>
              <a:srgbClr val="8b5ac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7920" rIns="97920" tIns="-52920" bIns="-5292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7" name="fig02-slot-menu-head"/>
          <p:cNvSpPr/>
          <p:nvPr/>
        </p:nvSpPr>
        <p:spPr>
          <a:xfrm>
            <a:off x="6391440" y="4955040"/>
            <a:ext cx="85680" cy="72000"/>
          </a:xfrm>
          <a:custGeom>
            <a:avLst/>
            <a:gdLst/>
            <a:ahLst/>
            <a:rect l="0" t="0" r="r" b="b"/>
            <a:pathLst>
              <a:path w="238" h="200">
                <a:moveTo>
                  <a:pt x="238" y="100"/>
                </a:moveTo>
                <a:lnTo>
                  <a:pt x="0" y="200"/>
                </a:lnTo>
                <a:lnTo>
                  <a:pt x="0" y="0"/>
                </a:lnTo>
                <a:lnTo>
                  <a:pt x="238" y="100"/>
                </a:lnTo>
                <a:close/>
              </a:path>
            </a:pathLst>
          </a:custGeom>
          <a:solidFill>
            <a:srgbClr val="8b5aca"/>
          </a:solidFill>
          <a:ln w="0">
            <a:noFill/>
          </a:ln>
        </p:spPr>
        <p:txBody>
          <a:bodyPr lIns="90000" rIns="90000" tIns="27000" bIns="27000" anchor="ctr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8" name="fig02-66-chip"/>
          <p:cNvSpPr/>
          <p:nvPr/>
        </p:nvSpPr>
        <p:spPr>
          <a:xfrm>
            <a:off x="5998680" y="4775760"/>
            <a:ext cx="384840" cy="171360"/>
          </a:xfrm>
          <a:prstGeom prst="roundRect">
            <a:avLst/>
          </a:prstGeom>
          <a:solidFill>
            <a:srgbClr val="ffffff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9" name="fig02-text-66"/>
          <p:cNvSpPr txBox="1"/>
          <p:nvPr/>
        </p:nvSpPr>
        <p:spPr>
          <a:xfrm>
            <a:off x="6055920" y="4794840"/>
            <a:ext cx="270360" cy="752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algn="ctr"/>
            <a:r>
              <a:rPr b="1" lang="zh-CN" sz="750" spc="-1" strike="noStrike">
                <a:solidFill>
                  <a:srgbClr val="667085"/>
                </a:solidFill>
                <a:latin typeface="PingFang SC"/>
              </a:rPr>
              <a:t>编排</a:t>
            </a:r>
            <a:endParaRPr b="1" lang="en-US" sz="750" spc="-1" strike="noStrike">
              <a:solidFill>
                <a:srgbClr val="667085"/>
              </a:solidFill>
              <a:latin typeface="PingFang SC"/>
              <a:ea typeface="PingFang SC"/>
            </a:endParaRPr>
          </a:p>
        </p:txBody>
      </p:sp>
      <p:sp>
        <p:nvSpPr>
          <p:cNvPr id="260" name="fig02-product-variant"/>
          <p:cNvSpPr/>
          <p:nvPr/>
        </p:nvSpPr>
        <p:spPr>
          <a:xfrm>
            <a:off x="2523960" y="6753240"/>
            <a:ext cx="476280" cy="0"/>
          </a:xfrm>
          <a:prstGeom prst="line">
            <a:avLst/>
          </a:prstGeom>
          <a:ln w="16200">
            <a:solidFill>
              <a:srgbClr val="28cc8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7920" rIns="97920" tIns="-52920" bIns="-5292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1" name="fig02-product-variant-head"/>
          <p:cNvSpPr/>
          <p:nvPr/>
        </p:nvSpPr>
        <p:spPr>
          <a:xfrm>
            <a:off x="2914560" y="6717240"/>
            <a:ext cx="85680" cy="72000"/>
          </a:xfrm>
          <a:custGeom>
            <a:avLst/>
            <a:gdLst/>
            <a:ahLst/>
            <a:rect l="0" t="0" r="r" b="b"/>
            <a:pathLst>
              <a:path w="238" h="200">
                <a:moveTo>
                  <a:pt x="238" y="100"/>
                </a:moveTo>
                <a:lnTo>
                  <a:pt x="0" y="200"/>
                </a:lnTo>
                <a:lnTo>
                  <a:pt x="0" y="0"/>
                </a:lnTo>
                <a:lnTo>
                  <a:pt x="238" y="100"/>
                </a:lnTo>
                <a:close/>
              </a:path>
            </a:pathLst>
          </a:custGeom>
          <a:solidFill>
            <a:srgbClr val="28cc83"/>
          </a:solidFill>
          <a:ln w="0">
            <a:noFill/>
          </a:ln>
        </p:spPr>
        <p:txBody>
          <a:bodyPr lIns="90000" rIns="90000" tIns="27000" bIns="27000" anchor="ctr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2" name="fig02-68-chip"/>
          <p:cNvSpPr/>
          <p:nvPr/>
        </p:nvSpPr>
        <p:spPr>
          <a:xfrm>
            <a:off x="2586960" y="6537960"/>
            <a:ext cx="350640" cy="171360"/>
          </a:xfrm>
          <a:prstGeom prst="roundRect">
            <a:avLst/>
          </a:prstGeom>
          <a:solidFill>
            <a:srgbClr val="ffffff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3" name="fig02-text-68"/>
          <p:cNvSpPr txBox="1"/>
          <p:nvPr/>
        </p:nvSpPr>
        <p:spPr>
          <a:xfrm>
            <a:off x="2644200" y="6557040"/>
            <a:ext cx="236520" cy="85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algn="ctr"/>
            <a:r>
              <a:rPr b="1" lang="en-US" sz="750" spc="-1" strike="noStrike">
                <a:solidFill>
                  <a:srgbClr val="667085"/>
                </a:solidFill>
                <a:latin typeface="PingFang SC"/>
              </a:rPr>
              <a:t>1:N</a:t>
            </a:r>
            <a:endParaRPr b="1" lang="en-US" sz="750" spc="-1" strike="noStrike">
              <a:solidFill>
                <a:srgbClr val="667085"/>
              </a:solidFill>
              <a:latin typeface="PingFang SC"/>
              <a:ea typeface="PingFang SC"/>
            </a:endParaRPr>
          </a:p>
        </p:txBody>
      </p:sp>
      <p:sp>
        <p:nvSpPr>
          <p:cNvPr id="264" name="fig02-variant-sku"/>
          <p:cNvSpPr/>
          <p:nvPr/>
        </p:nvSpPr>
        <p:spPr>
          <a:xfrm>
            <a:off x="4952880" y="6753240"/>
            <a:ext cx="476280" cy="0"/>
          </a:xfrm>
          <a:prstGeom prst="line">
            <a:avLst/>
          </a:prstGeom>
          <a:ln w="16200">
            <a:solidFill>
              <a:srgbClr val="28cc8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7920" rIns="97920" tIns="-52920" bIns="-5292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5" name="fig02-variant-sku-head"/>
          <p:cNvSpPr/>
          <p:nvPr/>
        </p:nvSpPr>
        <p:spPr>
          <a:xfrm>
            <a:off x="5343480" y="6717240"/>
            <a:ext cx="85680" cy="72000"/>
          </a:xfrm>
          <a:custGeom>
            <a:avLst/>
            <a:gdLst/>
            <a:ahLst/>
            <a:rect l="0" t="0" r="r" b="b"/>
            <a:pathLst>
              <a:path w="238" h="200">
                <a:moveTo>
                  <a:pt x="238" y="100"/>
                </a:moveTo>
                <a:lnTo>
                  <a:pt x="0" y="200"/>
                </a:lnTo>
                <a:lnTo>
                  <a:pt x="0" y="0"/>
                </a:lnTo>
                <a:lnTo>
                  <a:pt x="238" y="100"/>
                </a:lnTo>
                <a:close/>
              </a:path>
            </a:pathLst>
          </a:custGeom>
          <a:solidFill>
            <a:srgbClr val="28cc83"/>
          </a:solidFill>
          <a:ln w="0">
            <a:noFill/>
          </a:ln>
        </p:spPr>
        <p:txBody>
          <a:bodyPr lIns="90000" rIns="90000" tIns="27000" bIns="27000" anchor="ctr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6" name="fig02-70-chip"/>
          <p:cNvSpPr/>
          <p:nvPr/>
        </p:nvSpPr>
        <p:spPr>
          <a:xfrm>
            <a:off x="4893120" y="6537960"/>
            <a:ext cx="596160" cy="171360"/>
          </a:xfrm>
          <a:prstGeom prst="roundRect">
            <a:avLst/>
          </a:prstGeom>
          <a:solidFill>
            <a:srgbClr val="ffffff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7" name="fig02-text-70"/>
          <p:cNvSpPr txBox="1"/>
          <p:nvPr/>
        </p:nvSpPr>
        <p:spPr>
          <a:xfrm>
            <a:off x="4950360" y="6557040"/>
            <a:ext cx="481680" cy="1263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algn="ctr"/>
            <a:r>
              <a:rPr b="1" lang="en-US" sz="750" spc="-1" strike="noStrike">
                <a:solidFill>
                  <a:srgbClr val="667085"/>
                </a:solidFill>
                <a:latin typeface="PingFang SC"/>
              </a:rPr>
              <a:t>1:N </a:t>
            </a:r>
            <a:r>
              <a:rPr b="1" lang="zh-CN" sz="750" spc="-1" strike="noStrike">
                <a:solidFill>
                  <a:srgbClr val="667085"/>
                </a:solidFill>
                <a:latin typeface="PingFang SC"/>
              </a:rPr>
              <a:t>候选</a:t>
            </a:r>
            <a:endParaRPr b="1" lang="en-US" sz="750" spc="-1" strike="noStrike">
              <a:solidFill>
                <a:srgbClr val="667085"/>
              </a:solidFill>
              <a:latin typeface="PingFang SC"/>
              <a:ea typeface="PingFang SC"/>
            </a:endParaRPr>
          </a:p>
        </p:txBody>
      </p:sp>
      <p:sp>
        <p:nvSpPr>
          <p:cNvPr id="268" name="fig02-sku-set"/>
          <p:cNvSpPr/>
          <p:nvPr/>
        </p:nvSpPr>
        <p:spPr>
          <a:xfrm>
            <a:off x="7381800" y="6753240"/>
            <a:ext cx="476280" cy="0"/>
          </a:xfrm>
          <a:prstGeom prst="line">
            <a:avLst/>
          </a:prstGeom>
          <a:ln w="16200">
            <a:solidFill>
              <a:srgbClr val="28cc8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7920" rIns="97920" tIns="-52920" bIns="-5292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9" name="fig02-sku-set-head"/>
          <p:cNvSpPr/>
          <p:nvPr/>
        </p:nvSpPr>
        <p:spPr>
          <a:xfrm>
            <a:off x="7772400" y="6717240"/>
            <a:ext cx="85680" cy="72000"/>
          </a:xfrm>
          <a:custGeom>
            <a:avLst/>
            <a:gdLst/>
            <a:ahLst/>
            <a:rect l="0" t="0" r="r" b="b"/>
            <a:pathLst>
              <a:path w="238" h="200">
                <a:moveTo>
                  <a:pt x="238" y="100"/>
                </a:moveTo>
                <a:lnTo>
                  <a:pt x="0" y="200"/>
                </a:lnTo>
                <a:lnTo>
                  <a:pt x="0" y="0"/>
                </a:lnTo>
                <a:lnTo>
                  <a:pt x="238" y="100"/>
                </a:lnTo>
                <a:close/>
              </a:path>
            </a:pathLst>
          </a:custGeom>
          <a:solidFill>
            <a:srgbClr val="28cc83"/>
          </a:solidFill>
          <a:ln w="0">
            <a:noFill/>
          </a:ln>
        </p:spPr>
        <p:txBody>
          <a:bodyPr lIns="90000" rIns="90000" tIns="27000" bIns="27000" anchor="ctr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0" name="fig02-72-chip"/>
          <p:cNvSpPr/>
          <p:nvPr/>
        </p:nvSpPr>
        <p:spPr>
          <a:xfrm>
            <a:off x="7444800" y="6537960"/>
            <a:ext cx="350640" cy="171360"/>
          </a:xfrm>
          <a:prstGeom prst="roundRect">
            <a:avLst/>
          </a:prstGeom>
          <a:solidFill>
            <a:srgbClr val="ffffff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1" name="fig02-text-72"/>
          <p:cNvSpPr txBox="1"/>
          <p:nvPr/>
        </p:nvSpPr>
        <p:spPr>
          <a:xfrm>
            <a:off x="7501680" y="6557040"/>
            <a:ext cx="236520" cy="85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algn="ctr"/>
            <a:r>
              <a:rPr b="1" lang="en-US" sz="750" spc="-1" strike="noStrike">
                <a:solidFill>
                  <a:srgbClr val="667085"/>
                </a:solidFill>
                <a:latin typeface="PingFang SC"/>
              </a:rPr>
              <a:t>M:N</a:t>
            </a:r>
            <a:endParaRPr b="1" lang="en-US" sz="750" spc="-1" strike="noStrike">
              <a:solidFill>
                <a:srgbClr val="667085"/>
              </a:solidFill>
              <a:latin typeface="PingFang SC"/>
              <a:ea typeface="PingFang SC"/>
            </a:endParaRPr>
          </a:p>
        </p:txBody>
      </p:sp>
      <p:sp>
        <p:nvSpPr>
          <p:cNvPr id="272" name="fig02-menu-sku"/>
          <p:cNvSpPr/>
          <p:nvPr/>
        </p:nvSpPr>
        <p:spPr>
          <a:xfrm>
            <a:off x="6381720" y="5543640"/>
            <a:ext cx="1285920" cy="647640"/>
          </a:xfrm>
          <a:custGeom>
            <a:avLst/>
            <a:gdLst/>
            <a:ahLst/>
            <a:rect l="0" t="0" r="r" b="b"/>
            <a:pathLst>
              <a:path fill="none" w="3572" h="1799">
                <a:moveTo>
                  <a:pt x="3572" y="0"/>
                </a:moveTo>
                <a:lnTo>
                  <a:pt x="3507" y="203"/>
                </a:lnTo>
                <a:lnTo>
                  <a:pt x="3326" y="381"/>
                </a:lnTo>
                <a:lnTo>
                  <a:pt x="3051" y="538"/>
                </a:lnTo>
                <a:lnTo>
                  <a:pt x="2705" y="678"/>
                </a:lnTo>
                <a:lnTo>
                  <a:pt x="2309" y="807"/>
                </a:lnTo>
                <a:lnTo>
                  <a:pt x="1885" y="929"/>
                </a:lnTo>
                <a:lnTo>
                  <a:pt x="1456" y="1050"/>
                </a:lnTo>
                <a:lnTo>
                  <a:pt x="1044" y="1174"/>
                </a:lnTo>
                <a:lnTo>
                  <a:pt x="670" y="1306"/>
                </a:lnTo>
                <a:lnTo>
                  <a:pt x="357" y="1451"/>
                </a:lnTo>
                <a:lnTo>
                  <a:pt x="126" y="1613"/>
                </a:lnTo>
                <a:lnTo>
                  <a:pt x="0" y="1799"/>
                </a:lnTo>
              </a:path>
            </a:pathLst>
          </a:custGeom>
          <a:ln w="16200">
            <a:solidFill>
              <a:srgbClr val="8b5aca"/>
            </a:solidFill>
            <a:round/>
          </a:ln>
        </p:spPr>
        <p:txBody>
          <a:bodyPr lIns="97920" rIns="97920" tIns="52920" bIns="5292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3" name="fig02-menu-sku-head"/>
          <p:cNvSpPr/>
          <p:nvPr/>
        </p:nvSpPr>
        <p:spPr>
          <a:xfrm>
            <a:off x="6381720" y="6105600"/>
            <a:ext cx="86400" cy="85680"/>
          </a:xfrm>
          <a:custGeom>
            <a:avLst/>
            <a:gdLst/>
            <a:ahLst/>
            <a:rect l="0" t="0" r="r" b="b"/>
            <a:pathLst>
              <a:path w="240" h="238">
                <a:moveTo>
                  <a:pt x="0" y="238"/>
                </a:moveTo>
                <a:lnTo>
                  <a:pt x="101" y="0"/>
                </a:lnTo>
                <a:lnTo>
                  <a:pt x="240" y="143"/>
                </a:lnTo>
                <a:lnTo>
                  <a:pt x="0" y="238"/>
                </a:lnTo>
                <a:close/>
              </a:path>
            </a:pathLst>
          </a:custGeom>
          <a:solidFill>
            <a:srgbClr val="8b5aca"/>
          </a:solidFill>
          <a:ln w="0">
            <a:noFill/>
          </a:ln>
        </p:spPr>
        <p:txBody>
          <a:bodyPr lIns="90000" rIns="90000" tIns="40680" bIns="40680" anchor="ctr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4" name="fig02-74-chip"/>
          <p:cNvSpPr/>
          <p:nvPr/>
        </p:nvSpPr>
        <p:spPr>
          <a:xfrm>
            <a:off x="6760080" y="5804640"/>
            <a:ext cx="1148760" cy="171360"/>
          </a:xfrm>
          <a:prstGeom prst="roundRect">
            <a:avLst/>
          </a:prstGeom>
          <a:solidFill>
            <a:srgbClr val="ffffff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5" name="fig02-text-74"/>
          <p:cNvSpPr txBox="1"/>
          <p:nvPr/>
        </p:nvSpPr>
        <p:spPr>
          <a:xfrm>
            <a:off x="6816960" y="5823720"/>
            <a:ext cx="1034280" cy="1082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algn="ctr"/>
            <a:r>
              <a:rPr b="1" lang="zh-CN" sz="750" spc="-1" strike="noStrike">
                <a:solidFill>
                  <a:srgbClr val="8b5aca"/>
                </a:solidFill>
                <a:latin typeface="PingFang SC"/>
              </a:rPr>
              <a:t>档位上架 </a:t>
            </a:r>
            <a:r>
              <a:rPr b="1" lang="en-US" sz="750" spc="-1" strike="noStrike">
                <a:solidFill>
                  <a:srgbClr val="8b5aca"/>
                </a:solidFill>
                <a:latin typeface="PingFang SC"/>
              </a:rPr>
              <a:t>/ </a:t>
            </a:r>
            <a:r>
              <a:rPr b="1" lang="zh-CN" sz="750" spc="-1" strike="noStrike">
                <a:solidFill>
                  <a:srgbClr val="8b5aca"/>
                </a:solidFill>
                <a:latin typeface="PingFang SC"/>
              </a:rPr>
              <a:t>可售范围</a:t>
            </a:r>
            <a:endParaRPr b="1" lang="en-US" sz="750" spc="-1" strike="noStrike">
              <a:solidFill>
                <a:srgbClr val="8b5aca"/>
              </a:solidFill>
              <a:latin typeface="PingFang SC"/>
              <a:ea typeface="PingFang SC"/>
            </a:endParaRPr>
          </a:p>
        </p:txBody>
      </p:sp>
      <p:sp>
        <p:nvSpPr>
          <p:cNvPr id="276" name="fig02-card"/>
          <p:cNvSpPr/>
          <p:nvPr/>
        </p:nvSpPr>
        <p:spPr>
          <a:xfrm>
            <a:off x="571680" y="7743960"/>
            <a:ext cx="47520" cy="209520"/>
          </a:xfrm>
          <a:prstGeom prst="roundRect">
            <a:avLst/>
          </a:prstGeom>
          <a:solidFill>
            <a:srgbClr val="4f46e5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7" name="fig02-text-76"/>
          <p:cNvSpPr txBox="1"/>
          <p:nvPr/>
        </p:nvSpPr>
        <p:spPr>
          <a:xfrm>
            <a:off x="743040" y="7823880"/>
            <a:ext cx="236520" cy="85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750" spc="-1" strike="noStrike">
                <a:solidFill>
                  <a:srgbClr val="4f46e5"/>
                </a:solidFill>
                <a:latin typeface="IBM Plex Mono"/>
              </a:rPr>
              <a:t>02C</a:t>
            </a:r>
            <a:endParaRPr b="1" lang="en-US" sz="750" spc="-1" strike="noStrike">
              <a:solidFill>
                <a:srgbClr val="4f46e5"/>
              </a:solidFill>
              <a:latin typeface="IBM Plex Mono"/>
              <a:ea typeface="IBM Plex Mono"/>
            </a:endParaRPr>
          </a:p>
        </p:txBody>
      </p:sp>
      <p:sp>
        <p:nvSpPr>
          <p:cNvPr id="278" name="fig02-text-77"/>
          <p:cNvSpPr txBox="1"/>
          <p:nvPr/>
        </p:nvSpPr>
        <p:spPr>
          <a:xfrm>
            <a:off x="1428840" y="7774560"/>
            <a:ext cx="2849760" cy="752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zh-CN" sz="1200" spc="-1" strike="noStrike">
                <a:solidFill>
                  <a:srgbClr val="161a25"/>
                </a:solidFill>
                <a:latin typeface="PingFang SC"/>
              </a:rPr>
              <a:t>配方、</a:t>
            </a:r>
            <a:r>
              <a:rPr b="1" lang="en-US" sz="1200" spc="-1" strike="noStrike">
                <a:solidFill>
                  <a:srgbClr val="161a25"/>
                </a:solidFill>
                <a:latin typeface="PingFang SC"/>
              </a:rPr>
              <a:t>BOM</a:t>
            </a:r>
            <a:r>
              <a:rPr b="1" lang="zh-CN" sz="1200" spc="-1" strike="noStrike">
                <a:solidFill>
                  <a:srgbClr val="161a25"/>
                </a:solidFill>
                <a:latin typeface="PingFang SC"/>
              </a:rPr>
              <a:t>、</a:t>
            </a:r>
            <a:r>
              <a:rPr b="1" lang="en-US" sz="1200" spc="-1" strike="noStrike">
                <a:solidFill>
                  <a:srgbClr val="161a25"/>
                </a:solidFill>
                <a:latin typeface="PingFang SC"/>
              </a:rPr>
              <a:t>SOP</a:t>
            </a:r>
            <a:r>
              <a:rPr b="1" lang="zh-CN" sz="1200" spc="-1" strike="noStrike">
                <a:solidFill>
                  <a:srgbClr val="161a25"/>
                </a:solidFill>
                <a:latin typeface="PingFang SC"/>
              </a:rPr>
              <a:t>、质量与采购供应链</a:t>
            </a:r>
            <a:endParaRPr b="1" lang="en-US" sz="1200" spc="-1" strike="noStrike">
              <a:solidFill>
                <a:srgbClr val="161a25"/>
              </a:solidFill>
              <a:latin typeface="PingFang SC"/>
              <a:ea typeface="PingFang SC"/>
            </a:endParaRPr>
          </a:p>
        </p:txBody>
      </p:sp>
      <p:sp>
        <p:nvSpPr>
          <p:cNvPr id="279" name="fig02-text-78"/>
          <p:cNvSpPr txBox="1"/>
          <p:nvPr/>
        </p:nvSpPr>
        <p:spPr>
          <a:xfrm>
            <a:off x="7671960" y="7817400"/>
            <a:ext cx="3186360" cy="1082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algn="r"/>
            <a:r>
              <a:rPr b="0" lang="zh-CN" sz="810" spc="-1" strike="noStrike">
                <a:solidFill>
                  <a:srgbClr val="667085"/>
                </a:solidFill>
                <a:latin typeface="PingFang SC"/>
              </a:rPr>
              <a:t>受控规则独立版本化；采购交易对象不可代替营养 </a:t>
            </a:r>
            <a:r>
              <a:rPr b="0" lang="en-US" sz="810" spc="-1" strike="noStrike">
                <a:solidFill>
                  <a:srgbClr val="667085"/>
                </a:solidFill>
                <a:latin typeface="PingFang SC"/>
              </a:rPr>
              <a:t>/ </a:t>
            </a:r>
            <a:r>
              <a:rPr b="0" lang="zh-CN" sz="810" spc="-1" strike="noStrike">
                <a:solidFill>
                  <a:srgbClr val="667085"/>
                </a:solidFill>
                <a:latin typeface="PingFang SC"/>
              </a:rPr>
              <a:t>配方对象</a:t>
            </a:r>
            <a:endParaRPr b="0" lang="en-US" sz="810" spc="-1" strike="noStrike">
              <a:solidFill>
                <a:srgbClr val="667085"/>
              </a:solidFill>
              <a:latin typeface="PingFang SC"/>
              <a:ea typeface="PingFang SC"/>
            </a:endParaRPr>
          </a:p>
        </p:txBody>
      </p:sp>
      <p:sp>
        <p:nvSpPr>
          <p:cNvPr id="280" name="fig02-card"/>
          <p:cNvSpPr/>
          <p:nvPr/>
        </p:nvSpPr>
        <p:spPr>
          <a:xfrm>
            <a:off x="571680" y="8248680"/>
            <a:ext cx="1952640" cy="1066680"/>
          </a:xfrm>
          <a:prstGeom prst="roundRect">
            <a:avLst/>
          </a:prstGeom>
          <a:solidFill>
            <a:srgbClr val="f5f1ff"/>
          </a:solidFill>
          <a:ln w="11520">
            <a:solidFill>
              <a:srgbClr val="8b5aca"/>
            </a:solidFill>
            <a:round/>
          </a:ln>
        </p:spPr>
        <p:txBody>
          <a:bodyPr lIns="95760" rIns="95760" tIns="50760" bIns="5076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1" name="fig02-card"/>
          <p:cNvSpPr/>
          <p:nvPr/>
        </p:nvSpPr>
        <p:spPr>
          <a:xfrm>
            <a:off x="704880" y="8381880"/>
            <a:ext cx="857160" cy="190440"/>
          </a:xfrm>
          <a:prstGeom prst="roundRect">
            <a:avLst/>
          </a:prstGeom>
          <a:solidFill>
            <a:srgbClr val="f1ebf9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2" name="fig02-text-81"/>
          <p:cNvSpPr txBox="1"/>
          <p:nvPr/>
        </p:nvSpPr>
        <p:spPr>
          <a:xfrm>
            <a:off x="790560" y="8433360"/>
            <a:ext cx="415440" cy="1370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750" spc="-1" strike="noStrike">
                <a:solidFill>
                  <a:srgbClr val="8b5aca"/>
                </a:solidFill>
                <a:latin typeface="IBM Plex Mono"/>
              </a:rPr>
              <a:t>RECIPE</a:t>
            </a:r>
            <a:endParaRPr b="1" lang="en-US" sz="750" spc="-1" strike="noStrike">
              <a:solidFill>
                <a:srgbClr val="8b5aca"/>
              </a:solidFill>
              <a:latin typeface="IBM Plex Mono"/>
              <a:ea typeface="IBM Plex Mono"/>
            </a:endParaRPr>
          </a:p>
        </p:txBody>
      </p:sp>
      <p:sp>
        <p:nvSpPr>
          <p:cNvPr id="283" name="fig02-text-82"/>
          <p:cNvSpPr txBox="1"/>
          <p:nvPr/>
        </p:nvSpPr>
        <p:spPr>
          <a:xfrm>
            <a:off x="714240" y="8596440"/>
            <a:ext cx="1666800" cy="421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zh-CN" sz="1130" spc="-1" strike="noStrike">
                <a:solidFill>
                  <a:srgbClr val="161a25"/>
                </a:solidFill>
                <a:latin typeface="PingFang SC"/>
              </a:rPr>
              <a:t>配方版本</a:t>
            </a:r>
            <a:endParaRPr b="1" lang="en-US" sz="1130" spc="-1" strike="noStrike">
              <a:solidFill>
                <a:srgbClr val="161a25"/>
              </a:solidFill>
              <a:latin typeface="PingFang SC"/>
              <a:ea typeface="PingFang SC"/>
            </a:endParaRPr>
          </a:p>
        </p:txBody>
      </p:sp>
      <p:sp>
        <p:nvSpPr>
          <p:cNvPr id="284" name="fig02-text-83"/>
          <p:cNvSpPr txBox="1"/>
          <p:nvPr/>
        </p:nvSpPr>
        <p:spPr>
          <a:xfrm>
            <a:off x="714240" y="8807760"/>
            <a:ext cx="1666800" cy="1082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zh-CN" sz="900" spc="-1" strike="noStrike">
                <a:solidFill>
                  <a:srgbClr val="667085"/>
                </a:solidFill>
                <a:latin typeface="PingFang SC"/>
              </a:rPr>
              <a:t>适用关系：范围 </a:t>
            </a:r>
            <a:r>
              <a:rPr b="0" lang="en-US" sz="900" spc="-1" strike="noStrike">
                <a:solidFill>
                  <a:srgbClr val="667085"/>
                </a:solidFill>
                <a:latin typeface="PingFang SC"/>
              </a:rPr>
              <a:t>/ </a:t>
            </a:r>
            <a:r>
              <a:rPr b="0" lang="zh-CN" sz="900" spc="-1" strike="noStrike">
                <a:solidFill>
                  <a:srgbClr val="667085"/>
                </a:solidFill>
                <a:latin typeface="PingFang SC"/>
              </a:rPr>
              <a:t>优先级 </a:t>
            </a:r>
            <a:r>
              <a:rPr b="0" lang="en-US" sz="900" spc="-1" strike="noStrike">
                <a:solidFill>
                  <a:srgbClr val="667085"/>
                </a:solidFill>
                <a:latin typeface="PingFang SC"/>
              </a:rPr>
              <a:t>/</a:t>
            </a:r>
            <a:endParaRPr b="0" lang="en-US" sz="900" spc="-1" strike="noStrike">
              <a:solidFill>
                <a:srgbClr val="667085"/>
              </a:solidFill>
              <a:latin typeface="PingFang SC"/>
              <a:ea typeface="PingFang SC"/>
            </a:endParaRPr>
          </a:p>
          <a:p>
            <a:r>
              <a:rPr b="0" lang="en-US" sz="900" spc="-1" strike="noStrike">
                <a:solidFill>
                  <a:srgbClr val="667085"/>
                </a:solidFill>
                <a:latin typeface="PingFang SC"/>
              </a:rPr>
              <a:t> </a:t>
            </a:r>
            <a:r>
              <a:rPr b="0" lang="zh-CN" sz="900" spc="-1" strike="noStrike">
                <a:solidFill>
                  <a:srgbClr val="667085"/>
                </a:solidFill>
                <a:latin typeface="PingFang SC"/>
              </a:rPr>
              <a:t>生效期</a:t>
            </a:r>
            <a:endParaRPr b="0" lang="en-US" sz="900" spc="-1" strike="noStrike">
              <a:solidFill>
                <a:srgbClr val="667085"/>
              </a:solidFill>
              <a:latin typeface="PingFang SC"/>
              <a:ea typeface="PingFang SC"/>
            </a:endParaRPr>
          </a:p>
        </p:txBody>
      </p:sp>
      <p:sp>
        <p:nvSpPr>
          <p:cNvPr id="285" name="fig02-card"/>
          <p:cNvSpPr/>
          <p:nvPr/>
        </p:nvSpPr>
        <p:spPr>
          <a:xfrm>
            <a:off x="3000240" y="8248680"/>
            <a:ext cx="1952640" cy="1066680"/>
          </a:xfrm>
          <a:prstGeom prst="roundRect">
            <a:avLst/>
          </a:prstGeom>
          <a:solidFill>
            <a:srgbClr val="f5f1ff"/>
          </a:solidFill>
          <a:ln w="11520">
            <a:solidFill>
              <a:srgbClr val="8b5aca"/>
            </a:solidFill>
            <a:round/>
          </a:ln>
        </p:spPr>
        <p:txBody>
          <a:bodyPr lIns="95760" rIns="95760" tIns="50760" bIns="5076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6" name="fig02-card"/>
          <p:cNvSpPr/>
          <p:nvPr/>
        </p:nvSpPr>
        <p:spPr>
          <a:xfrm>
            <a:off x="3133800" y="8381880"/>
            <a:ext cx="857160" cy="190440"/>
          </a:xfrm>
          <a:prstGeom prst="roundRect">
            <a:avLst/>
          </a:prstGeom>
          <a:solidFill>
            <a:srgbClr val="f1ebf9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7" name="fig02-text-86"/>
          <p:cNvSpPr txBox="1"/>
          <p:nvPr/>
        </p:nvSpPr>
        <p:spPr>
          <a:xfrm>
            <a:off x="3219480" y="8433360"/>
            <a:ext cx="507240" cy="1370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750" spc="-1" strike="noStrike">
                <a:solidFill>
                  <a:srgbClr val="8b5aca"/>
                </a:solidFill>
                <a:latin typeface="IBM Plex Mono"/>
              </a:rPr>
              <a:t>BOM LINE</a:t>
            </a:r>
            <a:endParaRPr b="1" lang="en-US" sz="750" spc="-1" strike="noStrike">
              <a:solidFill>
                <a:srgbClr val="8b5aca"/>
              </a:solidFill>
              <a:latin typeface="IBM Plex Mono"/>
              <a:ea typeface="IBM Plex Mono"/>
            </a:endParaRPr>
          </a:p>
        </p:txBody>
      </p:sp>
      <p:sp>
        <p:nvSpPr>
          <p:cNvPr id="288" name="fig02-text-87"/>
          <p:cNvSpPr txBox="1"/>
          <p:nvPr/>
        </p:nvSpPr>
        <p:spPr>
          <a:xfrm>
            <a:off x="3143160" y="8596440"/>
            <a:ext cx="1666800" cy="421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1130" spc="-1" strike="noStrike">
                <a:solidFill>
                  <a:srgbClr val="161a25"/>
                </a:solidFill>
                <a:latin typeface="PingFang SC"/>
              </a:rPr>
              <a:t>BOM </a:t>
            </a:r>
            <a:r>
              <a:rPr b="1" lang="zh-CN" sz="1130" spc="-1" strike="noStrike">
                <a:solidFill>
                  <a:srgbClr val="161a25"/>
                </a:solidFill>
                <a:latin typeface="PingFang SC"/>
              </a:rPr>
              <a:t>明细</a:t>
            </a:r>
            <a:endParaRPr b="1" lang="en-US" sz="1130" spc="-1" strike="noStrike">
              <a:solidFill>
                <a:srgbClr val="161a25"/>
              </a:solidFill>
              <a:latin typeface="PingFang SC"/>
              <a:ea typeface="PingFang SC"/>
            </a:endParaRPr>
          </a:p>
        </p:txBody>
      </p:sp>
      <p:sp>
        <p:nvSpPr>
          <p:cNvPr id="289" name="fig02-text-88"/>
          <p:cNvSpPr txBox="1"/>
          <p:nvPr/>
        </p:nvSpPr>
        <p:spPr>
          <a:xfrm>
            <a:off x="3143160" y="8807760"/>
            <a:ext cx="1666800" cy="1082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zh-CN" sz="900" spc="-1" strike="noStrike">
                <a:solidFill>
                  <a:srgbClr val="667085"/>
                </a:solidFill>
                <a:latin typeface="PingFang SC"/>
              </a:rPr>
              <a:t>用量 </a:t>
            </a:r>
            <a:r>
              <a:rPr b="0" lang="en-US" sz="900" spc="-1" strike="noStrike">
                <a:solidFill>
                  <a:srgbClr val="667085"/>
                </a:solidFill>
                <a:latin typeface="PingFang SC"/>
              </a:rPr>
              <a:t>/ </a:t>
            </a:r>
            <a:r>
              <a:rPr b="0" lang="zh-CN" sz="900" spc="-1" strike="noStrike">
                <a:solidFill>
                  <a:srgbClr val="667085"/>
                </a:solidFill>
                <a:latin typeface="PingFang SC"/>
              </a:rPr>
              <a:t>单位 </a:t>
            </a:r>
            <a:r>
              <a:rPr b="0" lang="en-US" sz="900" spc="-1" strike="noStrike">
                <a:solidFill>
                  <a:srgbClr val="667085"/>
                </a:solidFill>
                <a:latin typeface="PingFang SC"/>
              </a:rPr>
              <a:t>/ </a:t>
            </a:r>
            <a:r>
              <a:rPr b="0" lang="zh-CN" sz="900" spc="-1" strike="noStrike">
                <a:solidFill>
                  <a:srgbClr val="667085"/>
                </a:solidFill>
                <a:latin typeface="PingFang SC"/>
              </a:rPr>
              <a:t>损耗 </a:t>
            </a:r>
            <a:r>
              <a:rPr b="0" lang="en-US" sz="900" spc="-1" strike="noStrike">
                <a:solidFill>
                  <a:srgbClr val="667085"/>
                </a:solidFill>
                <a:latin typeface="PingFang SC"/>
              </a:rPr>
              <a:t>/ </a:t>
            </a:r>
            <a:r>
              <a:rPr b="0" lang="zh-CN" sz="900" spc="-1" strike="noStrike">
                <a:solidFill>
                  <a:srgbClr val="667085"/>
                </a:solidFill>
                <a:latin typeface="PingFang SC"/>
              </a:rPr>
              <a:t>替代规则</a:t>
            </a:r>
            <a:endParaRPr b="0" lang="en-US" sz="900" spc="-1" strike="noStrike">
              <a:solidFill>
                <a:srgbClr val="667085"/>
              </a:solidFill>
              <a:latin typeface="PingFang SC"/>
              <a:ea typeface="PingFang SC"/>
            </a:endParaRPr>
          </a:p>
        </p:txBody>
      </p:sp>
      <p:sp>
        <p:nvSpPr>
          <p:cNvPr id="290" name="fig02-card"/>
          <p:cNvSpPr/>
          <p:nvPr/>
        </p:nvSpPr>
        <p:spPr>
          <a:xfrm>
            <a:off x="5429160" y="8248680"/>
            <a:ext cx="1952640" cy="1066680"/>
          </a:xfrm>
          <a:prstGeom prst="roundRect">
            <a:avLst/>
          </a:prstGeom>
          <a:solidFill>
            <a:srgbClr val="f5f1ff"/>
          </a:solidFill>
          <a:ln w="11520">
            <a:solidFill>
              <a:srgbClr val="8b5aca"/>
            </a:solidFill>
            <a:round/>
          </a:ln>
        </p:spPr>
        <p:txBody>
          <a:bodyPr lIns="95760" rIns="95760" tIns="50760" bIns="5076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1" name="fig02-card"/>
          <p:cNvSpPr/>
          <p:nvPr/>
        </p:nvSpPr>
        <p:spPr>
          <a:xfrm>
            <a:off x="5562720" y="8381880"/>
            <a:ext cx="857160" cy="190440"/>
          </a:xfrm>
          <a:prstGeom prst="roundRect">
            <a:avLst/>
          </a:prstGeom>
          <a:solidFill>
            <a:srgbClr val="f1ebf9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2" name="fig02-text-91"/>
          <p:cNvSpPr txBox="1"/>
          <p:nvPr/>
        </p:nvSpPr>
        <p:spPr>
          <a:xfrm>
            <a:off x="5648400" y="8433360"/>
            <a:ext cx="236520" cy="85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750" spc="-1" strike="noStrike">
                <a:solidFill>
                  <a:srgbClr val="8b5aca"/>
                </a:solidFill>
                <a:latin typeface="IBM Plex Mono"/>
              </a:rPr>
              <a:t>SOP</a:t>
            </a:r>
            <a:endParaRPr b="1" lang="en-US" sz="750" spc="-1" strike="noStrike">
              <a:solidFill>
                <a:srgbClr val="8b5aca"/>
              </a:solidFill>
              <a:latin typeface="IBM Plex Mono"/>
              <a:ea typeface="IBM Plex Mono"/>
            </a:endParaRPr>
          </a:p>
        </p:txBody>
      </p:sp>
      <p:sp>
        <p:nvSpPr>
          <p:cNvPr id="293" name="fig02-text-92"/>
          <p:cNvSpPr txBox="1"/>
          <p:nvPr/>
        </p:nvSpPr>
        <p:spPr>
          <a:xfrm>
            <a:off x="5572080" y="8596440"/>
            <a:ext cx="1666800" cy="421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zh-CN" sz="1130" spc="-1" strike="noStrike">
                <a:solidFill>
                  <a:srgbClr val="161a25"/>
                </a:solidFill>
                <a:latin typeface="PingFang SC"/>
              </a:rPr>
              <a:t>工艺 </a:t>
            </a:r>
            <a:r>
              <a:rPr b="1" lang="en-US" sz="1130" spc="-1" strike="noStrike">
                <a:solidFill>
                  <a:srgbClr val="161a25"/>
                </a:solidFill>
                <a:latin typeface="PingFang SC"/>
              </a:rPr>
              <a:t>SOP</a:t>
            </a:r>
            <a:endParaRPr b="1" lang="en-US" sz="1130" spc="-1" strike="noStrike">
              <a:solidFill>
                <a:srgbClr val="161a25"/>
              </a:solidFill>
              <a:latin typeface="PingFang SC"/>
              <a:ea typeface="PingFang SC"/>
            </a:endParaRPr>
          </a:p>
        </p:txBody>
      </p:sp>
      <p:sp>
        <p:nvSpPr>
          <p:cNvPr id="294" name="fig02-text-93"/>
          <p:cNvSpPr txBox="1"/>
          <p:nvPr/>
        </p:nvSpPr>
        <p:spPr>
          <a:xfrm>
            <a:off x="5572080" y="8807760"/>
            <a:ext cx="1666800" cy="1082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zh-CN" sz="900" spc="-1" strike="noStrike">
                <a:solidFill>
                  <a:srgbClr val="667085"/>
                </a:solidFill>
                <a:latin typeface="PingFang SC"/>
              </a:rPr>
              <a:t>工序 </a:t>
            </a:r>
            <a:r>
              <a:rPr b="0" lang="en-US" sz="900" spc="-1" strike="noStrike">
                <a:solidFill>
                  <a:srgbClr val="667085"/>
                </a:solidFill>
                <a:latin typeface="PingFang SC"/>
              </a:rPr>
              <a:t>/ </a:t>
            </a:r>
            <a:r>
              <a:rPr b="0" lang="zh-CN" sz="900" spc="-1" strike="noStrike">
                <a:solidFill>
                  <a:srgbClr val="667085"/>
                </a:solidFill>
                <a:latin typeface="PingFang SC"/>
              </a:rPr>
              <a:t>设备 </a:t>
            </a:r>
            <a:r>
              <a:rPr b="0" lang="en-US" sz="900" spc="-1" strike="noStrike">
                <a:solidFill>
                  <a:srgbClr val="667085"/>
                </a:solidFill>
                <a:latin typeface="PingFang SC"/>
              </a:rPr>
              <a:t>/ </a:t>
            </a:r>
            <a:r>
              <a:rPr b="0" lang="zh-CN" sz="900" spc="-1" strike="noStrike">
                <a:solidFill>
                  <a:srgbClr val="667085"/>
                </a:solidFill>
                <a:latin typeface="PingFang SC"/>
              </a:rPr>
              <a:t>节点 </a:t>
            </a:r>
            <a:r>
              <a:rPr b="0" lang="en-US" sz="900" spc="-1" strike="noStrike">
                <a:solidFill>
                  <a:srgbClr val="667085"/>
                </a:solidFill>
                <a:latin typeface="PingFang SC"/>
              </a:rPr>
              <a:t>/ </a:t>
            </a:r>
            <a:r>
              <a:rPr b="0" lang="zh-CN" sz="900" spc="-1" strike="noStrike">
                <a:solidFill>
                  <a:srgbClr val="667085"/>
                </a:solidFill>
                <a:latin typeface="PingFang SC"/>
              </a:rPr>
              <a:t>标签 </a:t>
            </a:r>
            <a:r>
              <a:rPr b="0" lang="en-US" sz="900" spc="-1" strike="noStrike">
                <a:solidFill>
                  <a:srgbClr val="667085"/>
                </a:solidFill>
                <a:latin typeface="PingFang SC"/>
              </a:rPr>
              <a:t>/</a:t>
            </a:r>
            <a:endParaRPr b="0" lang="en-US" sz="900" spc="-1" strike="noStrike">
              <a:solidFill>
                <a:srgbClr val="667085"/>
              </a:solidFill>
              <a:latin typeface="PingFang SC"/>
              <a:ea typeface="PingFang SC"/>
            </a:endParaRPr>
          </a:p>
          <a:p>
            <a:r>
              <a:rPr b="0" lang="en-US" sz="900" spc="-1" strike="noStrike">
                <a:solidFill>
                  <a:srgbClr val="667085"/>
                </a:solidFill>
                <a:latin typeface="PingFang SC"/>
              </a:rPr>
              <a:t> </a:t>
            </a:r>
            <a:r>
              <a:rPr b="0" lang="zh-CN" sz="900" spc="-1" strike="noStrike">
                <a:solidFill>
                  <a:srgbClr val="667085"/>
                </a:solidFill>
                <a:latin typeface="PingFang SC"/>
              </a:rPr>
              <a:t>温控</a:t>
            </a:r>
            <a:endParaRPr b="0" lang="en-US" sz="900" spc="-1" strike="noStrike">
              <a:solidFill>
                <a:srgbClr val="667085"/>
              </a:solidFill>
              <a:latin typeface="PingFang SC"/>
              <a:ea typeface="PingFang SC"/>
            </a:endParaRPr>
          </a:p>
        </p:txBody>
      </p:sp>
      <p:sp>
        <p:nvSpPr>
          <p:cNvPr id="295" name="fig02-card"/>
          <p:cNvSpPr/>
          <p:nvPr/>
        </p:nvSpPr>
        <p:spPr>
          <a:xfrm>
            <a:off x="7858080" y="8248680"/>
            <a:ext cx="3000240" cy="1066680"/>
          </a:xfrm>
          <a:prstGeom prst="roundRect">
            <a:avLst/>
          </a:prstGeom>
          <a:solidFill>
            <a:srgbClr val="fff1f2"/>
          </a:solidFill>
          <a:ln w="11520">
            <a:solidFill>
              <a:srgbClr val="e60012"/>
            </a:solidFill>
            <a:round/>
          </a:ln>
        </p:spPr>
        <p:txBody>
          <a:bodyPr lIns="95760" rIns="95760" tIns="50760" bIns="5076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6" name="fig02-card"/>
          <p:cNvSpPr/>
          <p:nvPr/>
        </p:nvSpPr>
        <p:spPr>
          <a:xfrm>
            <a:off x="7991640" y="8381880"/>
            <a:ext cx="857160" cy="190440"/>
          </a:xfrm>
          <a:prstGeom prst="roundRect">
            <a:avLst/>
          </a:prstGeom>
          <a:solidFill>
            <a:srgbClr val="fce0e3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7" name="fig02-text-96"/>
          <p:cNvSpPr txBox="1"/>
          <p:nvPr/>
        </p:nvSpPr>
        <p:spPr>
          <a:xfrm>
            <a:off x="8077320" y="8433360"/>
            <a:ext cx="475200" cy="1370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750" spc="-1" strike="noStrike">
                <a:solidFill>
                  <a:srgbClr val="e60012"/>
                </a:solidFill>
                <a:latin typeface="IBM Plex Mono"/>
              </a:rPr>
              <a:t>QUALITY</a:t>
            </a:r>
            <a:endParaRPr b="1" lang="en-US" sz="750" spc="-1" strike="noStrike">
              <a:solidFill>
                <a:srgbClr val="e60012"/>
              </a:solidFill>
              <a:latin typeface="IBM Plex Mono"/>
              <a:ea typeface="IBM Plex Mono"/>
            </a:endParaRPr>
          </a:p>
        </p:txBody>
      </p:sp>
      <p:sp>
        <p:nvSpPr>
          <p:cNvPr id="298" name="fig02-text-97"/>
          <p:cNvSpPr txBox="1"/>
          <p:nvPr/>
        </p:nvSpPr>
        <p:spPr>
          <a:xfrm>
            <a:off x="8001000" y="8596440"/>
            <a:ext cx="2714760" cy="421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zh-CN" sz="1130" spc="-1" strike="noStrike">
                <a:solidFill>
                  <a:srgbClr val="161a25"/>
                </a:solidFill>
                <a:latin typeface="PingFang SC"/>
              </a:rPr>
              <a:t>质量放行标准</a:t>
            </a:r>
            <a:endParaRPr b="1" lang="en-US" sz="1130" spc="-1" strike="noStrike">
              <a:solidFill>
                <a:srgbClr val="161a25"/>
              </a:solidFill>
              <a:latin typeface="PingFang SC"/>
              <a:ea typeface="PingFang SC"/>
            </a:endParaRPr>
          </a:p>
        </p:txBody>
      </p:sp>
      <p:sp>
        <p:nvSpPr>
          <p:cNvPr id="299" name="fig02-text-98"/>
          <p:cNvSpPr txBox="1"/>
          <p:nvPr/>
        </p:nvSpPr>
        <p:spPr>
          <a:xfrm>
            <a:off x="8001000" y="8807760"/>
            <a:ext cx="2714760" cy="752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zh-CN" sz="900" spc="-1" strike="noStrike">
                <a:solidFill>
                  <a:srgbClr val="667085"/>
                </a:solidFill>
                <a:latin typeface="PingFang SC"/>
              </a:rPr>
              <a:t>验收 </a:t>
            </a:r>
            <a:r>
              <a:rPr b="0" lang="en-US" sz="900" spc="-1" strike="noStrike">
                <a:solidFill>
                  <a:srgbClr val="667085"/>
                </a:solidFill>
                <a:latin typeface="PingFang SC"/>
              </a:rPr>
              <a:t>/ </a:t>
            </a:r>
            <a:r>
              <a:rPr b="0" lang="zh-CN" sz="900" spc="-1" strike="noStrike">
                <a:solidFill>
                  <a:srgbClr val="667085"/>
                </a:solidFill>
                <a:latin typeface="PingFang SC"/>
              </a:rPr>
              <a:t>质检 </a:t>
            </a:r>
            <a:r>
              <a:rPr b="0" lang="en-US" sz="900" spc="-1" strike="noStrike">
                <a:solidFill>
                  <a:srgbClr val="667085"/>
                </a:solidFill>
                <a:latin typeface="PingFang SC"/>
              </a:rPr>
              <a:t>/ </a:t>
            </a:r>
            <a:r>
              <a:rPr b="0" lang="zh-CN" sz="900" spc="-1" strike="noStrike">
                <a:solidFill>
                  <a:srgbClr val="667085"/>
                </a:solidFill>
                <a:latin typeface="PingFang SC"/>
              </a:rPr>
              <a:t>不合格处置；不与 </a:t>
            </a:r>
            <a:r>
              <a:rPr b="0" lang="en-US" sz="900" spc="-1" strike="noStrike">
                <a:solidFill>
                  <a:srgbClr val="667085"/>
                </a:solidFill>
                <a:latin typeface="PingFang SC"/>
              </a:rPr>
              <a:t>SOP </a:t>
            </a:r>
            <a:r>
              <a:rPr b="0" lang="zh-CN" sz="900" spc="-1" strike="noStrike">
                <a:solidFill>
                  <a:srgbClr val="667085"/>
                </a:solidFill>
                <a:latin typeface="PingFang SC"/>
              </a:rPr>
              <a:t>混用</a:t>
            </a:r>
            <a:endParaRPr b="0" lang="en-US" sz="900" spc="-1" strike="noStrike">
              <a:solidFill>
                <a:srgbClr val="667085"/>
              </a:solidFill>
              <a:latin typeface="PingFang SC"/>
              <a:ea typeface="PingFang SC"/>
            </a:endParaRPr>
          </a:p>
        </p:txBody>
      </p:sp>
      <p:sp>
        <p:nvSpPr>
          <p:cNvPr id="300" name="fig02-card"/>
          <p:cNvSpPr/>
          <p:nvPr/>
        </p:nvSpPr>
        <p:spPr>
          <a:xfrm>
            <a:off x="571680" y="9810720"/>
            <a:ext cx="1952640" cy="1066680"/>
          </a:xfrm>
          <a:prstGeom prst="roundRect">
            <a:avLst/>
          </a:prstGeom>
          <a:solidFill>
            <a:srgbClr val="fff8e7"/>
          </a:solidFill>
          <a:ln w="11520">
            <a:solidFill>
              <a:srgbClr val="e8a020"/>
            </a:solidFill>
            <a:round/>
          </a:ln>
        </p:spPr>
        <p:txBody>
          <a:bodyPr lIns="95760" rIns="95760" tIns="50760" bIns="5076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1" name="fig02-card"/>
          <p:cNvSpPr/>
          <p:nvPr/>
        </p:nvSpPr>
        <p:spPr>
          <a:xfrm>
            <a:off x="704880" y="9943920"/>
            <a:ext cx="876240" cy="190440"/>
          </a:xfrm>
          <a:prstGeom prst="roundRect">
            <a:avLst/>
          </a:prstGeom>
          <a:solidFill>
            <a:srgbClr val="fcf4e4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2" name="fig02-text-101"/>
          <p:cNvSpPr txBox="1"/>
          <p:nvPr/>
        </p:nvSpPr>
        <p:spPr>
          <a:xfrm>
            <a:off x="790560" y="9995400"/>
            <a:ext cx="654480" cy="1114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750" spc="-1" strike="noStrike">
                <a:solidFill>
                  <a:srgbClr val="e8a020"/>
                </a:solidFill>
                <a:latin typeface="IBM Plex Mono"/>
              </a:rPr>
              <a:t>INGREDIENT</a:t>
            </a:r>
            <a:endParaRPr b="1" lang="en-US" sz="750" spc="-1" strike="noStrike">
              <a:solidFill>
                <a:srgbClr val="e8a020"/>
              </a:solidFill>
              <a:latin typeface="IBM Plex Mono"/>
              <a:ea typeface="IBM Plex Mono"/>
            </a:endParaRPr>
          </a:p>
        </p:txBody>
      </p:sp>
      <p:sp>
        <p:nvSpPr>
          <p:cNvPr id="303" name="fig02-text-102"/>
          <p:cNvSpPr txBox="1"/>
          <p:nvPr/>
        </p:nvSpPr>
        <p:spPr>
          <a:xfrm>
            <a:off x="714240" y="10158480"/>
            <a:ext cx="1666800" cy="421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zh-CN" sz="1130" spc="-1" strike="noStrike">
                <a:solidFill>
                  <a:srgbClr val="161a25"/>
                </a:solidFill>
                <a:latin typeface="PingFang SC"/>
              </a:rPr>
              <a:t>标准食材</a:t>
            </a:r>
            <a:endParaRPr b="1" lang="en-US" sz="1130" spc="-1" strike="noStrike">
              <a:solidFill>
                <a:srgbClr val="161a25"/>
              </a:solidFill>
              <a:latin typeface="PingFang SC"/>
              <a:ea typeface="PingFang SC"/>
            </a:endParaRPr>
          </a:p>
        </p:txBody>
      </p:sp>
      <p:sp>
        <p:nvSpPr>
          <p:cNvPr id="304" name="fig02-text-103"/>
          <p:cNvSpPr txBox="1"/>
          <p:nvPr/>
        </p:nvSpPr>
        <p:spPr>
          <a:xfrm>
            <a:off x="714240" y="10369800"/>
            <a:ext cx="1666800" cy="1082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zh-CN" sz="900" spc="-1" strike="noStrike">
                <a:solidFill>
                  <a:srgbClr val="667085"/>
                </a:solidFill>
                <a:latin typeface="PingFang SC"/>
              </a:rPr>
              <a:t>营养 </a:t>
            </a:r>
            <a:r>
              <a:rPr b="0" lang="en-US" sz="900" spc="-1" strike="noStrike">
                <a:solidFill>
                  <a:srgbClr val="667085"/>
                </a:solidFill>
                <a:latin typeface="PingFang SC"/>
              </a:rPr>
              <a:t>/ </a:t>
            </a:r>
            <a:r>
              <a:rPr b="0" lang="zh-CN" sz="900" spc="-1" strike="noStrike">
                <a:solidFill>
                  <a:srgbClr val="667085"/>
                </a:solidFill>
                <a:latin typeface="PingFang SC"/>
              </a:rPr>
              <a:t>过敏原 </a:t>
            </a:r>
            <a:r>
              <a:rPr b="0" lang="en-US" sz="900" spc="-1" strike="noStrike">
                <a:solidFill>
                  <a:srgbClr val="667085"/>
                </a:solidFill>
                <a:latin typeface="PingFang SC"/>
              </a:rPr>
              <a:t>/ </a:t>
            </a:r>
            <a:r>
              <a:rPr b="0" lang="zh-CN" sz="900" spc="-1" strike="noStrike">
                <a:solidFill>
                  <a:srgbClr val="667085"/>
                </a:solidFill>
                <a:latin typeface="PingFang SC"/>
              </a:rPr>
              <a:t>分类 </a:t>
            </a:r>
            <a:r>
              <a:rPr b="0" lang="en-US" sz="900" spc="-1" strike="noStrike">
                <a:solidFill>
                  <a:srgbClr val="667085"/>
                </a:solidFill>
                <a:latin typeface="PingFang SC"/>
              </a:rPr>
              <a:t>/ </a:t>
            </a:r>
            <a:r>
              <a:rPr b="0" lang="zh-CN" sz="900" spc="-1" strike="noStrike">
                <a:solidFill>
                  <a:srgbClr val="667085"/>
                </a:solidFill>
                <a:latin typeface="PingFang SC"/>
              </a:rPr>
              <a:t>标准计量</a:t>
            </a:r>
            <a:endParaRPr b="0" lang="en-US" sz="900" spc="-1" strike="noStrike">
              <a:solidFill>
                <a:srgbClr val="667085"/>
              </a:solidFill>
              <a:latin typeface="PingFang SC"/>
              <a:ea typeface="PingFang SC"/>
            </a:endParaRPr>
          </a:p>
        </p:txBody>
      </p:sp>
      <p:sp>
        <p:nvSpPr>
          <p:cNvPr id="305" name="fig02-card"/>
          <p:cNvSpPr/>
          <p:nvPr/>
        </p:nvSpPr>
        <p:spPr>
          <a:xfrm>
            <a:off x="3000240" y="9810720"/>
            <a:ext cx="1952640" cy="1066680"/>
          </a:xfrm>
          <a:prstGeom prst="roundRect">
            <a:avLst/>
          </a:prstGeom>
          <a:solidFill>
            <a:srgbClr val="fff8e7"/>
          </a:solidFill>
          <a:ln w="11520">
            <a:solidFill>
              <a:srgbClr val="e8a020"/>
            </a:solidFill>
            <a:round/>
          </a:ln>
        </p:spPr>
        <p:txBody>
          <a:bodyPr lIns="95760" rIns="95760" tIns="50760" bIns="5076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6" name="fig02-card"/>
          <p:cNvSpPr/>
          <p:nvPr/>
        </p:nvSpPr>
        <p:spPr>
          <a:xfrm>
            <a:off x="3133800" y="9943920"/>
            <a:ext cx="1228680" cy="190440"/>
          </a:xfrm>
          <a:prstGeom prst="roundRect">
            <a:avLst/>
          </a:prstGeom>
          <a:solidFill>
            <a:srgbClr val="fcf4e4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7" name="fig02-text-106"/>
          <p:cNvSpPr txBox="1"/>
          <p:nvPr/>
        </p:nvSpPr>
        <p:spPr>
          <a:xfrm>
            <a:off x="3219480" y="9995400"/>
            <a:ext cx="925560" cy="1114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750" spc="-1" strike="noStrike">
                <a:solidFill>
                  <a:srgbClr val="e8a020"/>
                </a:solidFill>
                <a:latin typeface="IBM Plex Mono"/>
              </a:rPr>
              <a:t>PROCUREMENT SKU</a:t>
            </a:r>
            <a:endParaRPr b="1" lang="en-US" sz="750" spc="-1" strike="noStrike">
              <a:solidFill>
                <a:srgbClr val="e8a020"/>
              </a:solidFill>
              <a:latin typeface="IBM Plex Mono"/>
              <a:ea typeface="IBM Plex Mono"/>
            </a:endParaRPr>
          </a:p>
        </p:txBody>
      </p:sp>
      <p:sp>
        <p:nvSpPr>
          <p:cNvPr id="308" name="fig02-text-107"/>
          <p:cNvSpPr txBox="1"/>
          <p:nvPr/>
        </p:nvSpPr>
        <p:spPr>
          <a:xfrm>
            <a:off x="3143160" y="10158480"/>
            <a:ext cx="1666800" cy="421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zh-CN" sz="1130" spc="-1" strike="noStrike">
                <a:solidFill>
                  <a:srgbClr val="161a25"/>
                </a:solidFill>
                <a:latin typeface="PingFang SC"/>
              </a:rPr>
              <a:t>采购 </a:t>
            </a:r>
            <a:r>
              <a:rPr b="1" lang="en-US" sz="1130" spc="-1" strike="noStrike">
                <a:solidFill>
                  <a:srgbClr val="161a25"/>
                </a:solidFill>
                <a:latin typeface="PingFang SC"/>
              </a:rPr>
              <a:t>SKU</a:t>
            </a:r>
            <a:endParaRPr b="1" lang="en-US" sz="1130" spc="-1" strike="noStrike">
              <a:solidFill>
                <a:srgbClr val="161a25"/>
              </a:solidFill>
              <a:latin typeface="PingFang SC"/>
              <a:ea typeface="PingFang SC"/>
            </a:endParaRPr>
          </a:p>
        </p:txBody>
      </p:sp>
      <p:sp>
        <p:nvSpPr>
          <p:cNvPr id="309" name="fig02-text-108"/>
          <p:cNvSpPr txBox="1"/>
          <p:nvPr/>
        </p:nvSpPr>
        <p:spPr>
          <a:xfrm>
            <a:off x="3143160" y="10369800"/>
            <a:ext cx="1666800" cy="1413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zh-CN" sz="900" spc="-1" strike="noStrike">
                <a:solidFill>
                  <a:srgbClr val="667085"/>
                </a:solidFill>
                <a:latin typeface="PingFang SC"/>
              </a:rPr>
              <a:t>品牌 </a:t>
            </a:r>
            <a:r>
              <a:rPr b="0" lang="en-US" sz="900" spc="-1" strike="noStrike">
                <a:solidFill>
                  <a:srgbClr val="667085"/>
                </a:solidFill>
                <a:latin typeface="PingFang SC"/>
              </a:rPr>
              <a:t>/ </a:t>
            </a:r>
            <a:r>
              <a:rPr b="0" lang="zh-CN" sz="900" spc="-1" strike="noStrike">
                <a:solidFill>
                  <a:srgbClr val="667085"/>
                </a:solidFill>
                <a:latin typeface="PingFang SC"/>
              </a:rPr>
              <a:t>包装 </a:t>
            </a:r>
            <a:r>
              <a:rPr b="0" lang="en-US" sz="900" spc="-1" strike="noStrike">
                <a:solidFill>
                  <a:srgbClr val="667085"/>
                </a:solidFill>
                <a:latin typeface="PingFang SC"/>
              </a:rPr>
              <a:t>/ </a:t>
            </a:r>
            <a:r>
              <a:rPr b="0" lang="zh-CN" sz="900" spc="-1" strike="noStrike">
                <a:solidFill>
                  <a:srgbClr val="667085"/>
                </a:solidFill>
                <a:latin typeface="PingFang SC"/>
              </a:rPr>
              <a:t>规格 </a:t>
            </a:r>
            <a:r>
              <a:rPr b="0" lang="en-US" sz="900" spc="-1" strike="noStrike">
                <a:solidFill>
                  <a:srgbClr val="667085"/>
                </a:solidFill>
                <a:latin typeface="PingFang SC"/>
              </a:rPr>
              <a:t>/</a:t>
            </a:r>
            <a:endParaRPr b="0" lang="en-US" sz="900" spc="-1" strike="noStrike">
              <a:solidFill>
                <a:srgbClr val="667085"/>
              </a:solidFill>
              <a:latin typeface="PingFang SC"/>
              <a:ea typeface="PingFang SC"/>
            </a:endParaRPr>
          </a:p>
          <a:p>
            <a:r>
              <a:rPr b="0" lang="en-US" sz="900" spc="-1" strike="noStrike">
                <a:solidFill>
                  <a:srgbClr val="667085"/>
                </a:solidFill>
                <a:latin typeface="PingFang SC"/>
              </a:rPr>
              <a:t> </a:t>
            </a:r>
            <a:r>
              <a:rPr b="0" lang="zh-CN" sz="900" spc="-1" strike="noStrike">
                <a:solidFill>
                  <a:srgbClr val="667085"/>
                </a:solidFill>
                <a:latin typeface="PingFang SC"/>
              </a:rPr>
              <a:t>外部交易编码</a:t>
            </a:r>
            <a:endParaRPr b="0" lang="en-US" sz="900" spc="-1" strike="noStrike">
              <a:solidFill>
                <a:srgbClr val="667085"/>
              </a:solidFill>
              <a:latin typeface="PingFang SC"/>
              <a:ea typeface="PingFang SC"/>
            </a:endParaRPr>
          </a:p>
        </p:txBody>
      </p:sp>
      <p:sp>
        <p:nvSpPr>
          <p:cNvPr id="310" name="fig02-card"/>
          <p:cNvSpPr/>
          <p:nvPr/>
        </p:nvSpPr>
        <p:spPr>
          <a:xfrm>
            <a:off x="5429160" y="9810720"/>
            <a:ext cx="1952640" cy="1066680"/>
          </a:xfrm>
          <a:prstGeom prst="roundRect">
            <a:avLst/>
          </a:prstGeom>
          <a:solidFill>
            <a:srgbClr val="fff8e7"/>
          </a:solidFill>
          <a:ln w="11520">
            <a:solidFill>
              <a:srgbClr val="e8a020"/>
            </a:solidFill>
            <a:round/>
          </a:ln>
        </p:spPr>
        <p:txBody>
          <a:bodyPr lIns="95760" rIns="95760" tIns="50760" bIns="5076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1" name="fig02-card"/>
          <p:cNvSpPr/>
          <p:nvPr/>
        </p:nvSpPr>
        <p:spPr>
          <a:xfrm>
            <a:off x="5562720" y="9943920"/>
            <a:ext cx="1158120" cy="190440"/>
          </a:xfrm>
          <a:prstGeom prst="roundRect">
            <a:avLst/>
          </a:prstGeom>
          <a:solidFill>
            <a:srgbClr val="fcf4e4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2" name="fig02-text-111"/>
          <p:cNvSpPr txBox="1"/>
          <p:nvPr/>
        </p:nvSpPr>
        <p:spPr>
          <a:xfrm>
            <a:off x="5648400" y="9995400"/>
            <a:ext cx="865800" cy="1114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750" spc="-1" strike="noStrike">
                <a:solidFill>
                  <a:srgbClr val="e8a020"/>
                </a:solidFill>
                <a:latin typeface="IBM Plex Mono"/>
              </a:rPr>
              <a:t>SUPPLIER OFFER</a:t>
            </a:r>
            <a:endParaRPr b="1" lang="en-US" sz="750" spc="-1" strike="noStrike">
              <a:solidFill>
                <a:srgbClr val="e8a020"/>
              </a:solidFill>
              <a:latin typeface="IBM Plex Mono"/>
              <a:ea typeface="IBM Plex Mono"/>
            </a:endParaRPr>
          </a:p>
        </p:txBody>
      </p:sp>
      <p:sp>
        <p:nvSpPr>
          <p:cNvPr id="313" name="fig02-text-112"/>
          <p:cNvSpPr txBox="1"/>
          <p:nvPr/>
        </p:nvSpPr>
        <p:spPr>
          <a:xfrm>
            <a:off x="5572080" y="10158480"/>
            <a:ext cx="1666800" cy="421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zh-CN" sz="1130" spc="-1" strike="noStrike">
                <a:solidFill>
                  <a:srgbClr val="161a25"/>
                </a:solidFill>
                <a:latin typeface="PingFang SC"/>
              </a:rPr>
              <a:t>供应商供货项</a:t>
            </a:r>
            <a:endParaRPr b="1" lang="en-US" sz="1130" spc="-1" strike="noStrike">
              <a:solidFill>
                <a:srgbClr val="161a25"/>
              </a:solidFill>
              <a:latin typeface="PingFang SC"/>
              <a:ea typeface="PingFang SC"/>
            </a:endParaRPr>
          </a:p>
        </p:txBody>
      </p:sp>
      <p:sp>
        <p:nvSpPr>
          <p:cNvPr id="314" name="fig02-text-113"/>
          <p:cNvSpPr txBox="1"/>
          <p:nvPr/>
        </p:nvSpPr>
        <p:spPr>
          <a:xfrm>
            <a:off x="5572080" y="10369800"/>
            <a:ext cx="1666800" cy="1082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zh-CN" sz="900" spc="-1" strike="noStrike">
                <a:solidFill>
                  <a:srgbClr val="667085"/>
                </a:solidFill>
                <a:latin typeface="PingFang SC"/>
              </a:rPr>
              <a:t>报价 </a:t>
            </a:r>
            <a:r>
              <a:rPr b="0" lang="en-US" sz="900" spc="-1" strike="noStrike">
                <a:solidFill>
                  <a:srgbClr val="667085"/>
                </a:solidFill>
                <a:latin typeface="PingFang SC"/>
              </a:rPr>
              <a:t>/ MOQ / </a:t>
            </a:r>
            <a:r>
              <a:rPr b="0" lang="zh-CN" sz="900" spc="-1" strike="noStrike">
                <a:solidFill>
                  <a:srgbClr val="667085"/>
                </a:solidFill>
                <a:latin typeface="PingFang SC"/>
              </a:rPr>
              <a:t>交期 </a:t>
            </a:r>
            <a:r>
              <a:rPr b="0" lang="en-US" sz="900" spc="-1" strike="noStrike">
                <a:solidFill>
                  <a:srgbClr val="667085"/>
                </a:solidFill>
                <a:latin typeface="PingFang SC"/>
              </a:rPr>
              <a:t>/ </a:t>
            </a:r>
            <a:r>
              <a:rPr b="0" lang="zh-CN" sz="900" spc="-1" strike="noStrike">
                <a:solidFill>
                  <a:srgbClr val="667085"/>
                </a:solidFill>
                <a:latin typeface="PingFang SC"/>
              </a:rPr>
              <a:t>合同 </a:t>
            </a:r>
            <a:r>
              <a:rPr b="0" lang="en-US" sz="900" spc="-1" strike="noStrike">
                <a:solidFill>
                  <a:srgbClr val="667085"/>
                </a:solidFill>
                <a:latin typeface="PingFang SC"/>
              </a:rPr>
              <a:t>/</a:t>
            </a:r>
            <a:endParaRPr b="0" lang="en-US" sz="900" spc="-1" strike="noStrike">
              <a:solidFill>
                <a:srgbClr val="667085"/>
              </a:solidFill>
              <a:latin typeface="PingFang SC"/>
              <a:ea typeface="PingFang SC"/>
            </a:endParaRPr>
          </a:p>
          <a:p>
            <a:r>
              <a:rPr b="0" lang="en-US" sz="900" spc="-1" strike="noStrike">
                <a:solidFill>
                  <a:srgbClr val="667085"/>
                </a:solidFill>
                <a:latin typeface="PingFang SC"/>
              </a:rPr>
              <a:t> </a:t>
            </a:r>
            <a:r>
              <a:rPr b="0" lang="zh-CN" sz="900" spc="-1" strike="noStrike">
                <a:solidFill>
                  <a:srgbClr val="667085"/>
                </a:solidFill>
                <a:latin typeface="PingFang SC"/>
              </a:rPr>
              <a:t>有效期</a:t>
            </a:r>
            <a:endParaRPr b="0" lang="en-US" sz="900" spc="-1" strike="noStrike">
              <a:solidFill>
                <a:srgbClr val="667085"/>
              </a:solidFill>
              <a:latin typeface="PingFang SC"/>
              <a:ea typeface="PingFang SC"/>
            </a:endParaRPr>
          </a:p>
        </p:txBody>
      </p:sp>
      <p:sp>
        <p:nvSpPr>
          <p:cNvPr id="315" name="fig02-card"/>
          <p:cNvSpPr/>
          <p:nvPr/>
        </p:nvSpPr>
        <p:spPr>
          <a:xfrm>
            <a:off x="7858080" y="9810720"/>
            <a:ext cx="3000240" cy="1066680"/>
          </a:xfrm>
          <a:prstGeom prst="roundRect">
            <a:avLst/>
          </a:prstGeom>
          <a:solidFill>
            <a:srgbClr val="fff8e7"/>
          </a:solidFill>
          <a:ln w="11520">
            <a:solidFill>
              <a:srgbClr val="e8a020"/>
            </a:solidFill>
            <a:round/>
          </a:ln>
        </p:spPr>
        <p:txBody>
          <a:bodyPr lIns="95760" rIns="95760" tIns="50760" bIns="5076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6" name="fig02-card"/>
          <p:cNvSpPr/>
          <p:nvPr/>
        </p:nvSpPr>
        <p:spPr>
          <a:xfrm>
            <a:off x="7991640" y="9943920"/>
            <a:ext cx="1510560" cy="190440"/>
          </a:xfrm>
          <a:prstGeom prst="roundRect">
            <a:avLst/>
          </a:prstGeom>
          <a:solidFill>
            <a:srgbClr val="fcf4e4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7" name="fig02-text-116"/>
          <p:cNvSpPr txBox="1"/>
          <p:nvPr/>
        </p:nvSpPr>
        <p:spPr>
          <a:xfrm>
            <a:off x="8077320" y="9995400"/>
            <a:ext cx="1164600" cy="1114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750" spc="-1" strike="noStrike">
                <a:solidFill>
                  <a:srgbClr val="e8a020"/>
                </a:solidFill>
                <a:latin typeface="IBM Plex Mono"/>
              </a:rPr>
              <a:t>PROCUREMENT CHANNEL</a:t>
            </a:r>
            <a:endParaRPr b="1" lang="en-US" sz="750" spc="-1" strike="noStrike">
              <a:solidFill>
                <a:srgbClr val="e8a020"/>
              </a:solidFill>
              <a:latin typeface="IBM Plex Mono"/>
              <a:ea typeface="IBM Plex Mono"/>
            </a:endParaRPr>
          </a:p>
        </p:txBody>
      </p:sp>
      <p:sp>
        <p:nvSpPr>
          <p:cNvPr id="318" name="fig02-text-117"/>
          <p:cNvSpPr txBox="1"/>
          <p:nvPr/>
        </p:nvSpPr>
        <p:spPr>
          <a:xfrm>
            <a:off x="8001000" y="10158480"/>
            <a:ext cx="2714760" cy="421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zh-CN" sz="1130" spc="-1" strike="noStrike">
                <a:solidFill>
                  <a:srgbClr val="161a25"/>
                </a:solidFill>
                <a:latin typeface="PingFang SC"/>
              </a:rPr>
              <a:t>采购通道</a:t>
            </a:r>
            <a:endParaRPr b="1" lang="en-US" sz="1130" spc="-1" strike="noStrike">
              <a:solidFill>
                <a:srgbClr val="161a25"/>
              </a:solidFill>
              <a:latin typeface="PingFang SC"/>
              <a:ea typeface="PingFang SC"/>
            </a:endParaRPr>
          </a:p>
        </p:txBody>
      </p:sp>
      <p:sp>
        <p:nvSpPr>
          <p:cNvPr id="319" name="fig02-text-118"/>
          <p:cNvSpPr txBox="1"/>
          <p:nvPr/>
        </p:nvSpPr>
        <p:spPr>
          <a:xfrm>
            <a:off x="8001000" y="10369800"/>
            <a:ext cx="2714760" cy="752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zh-CN" sz="900" spc="-1" strike="noStrike">
                <a:solidFill>
                  <a:srgbClr val="667085"/>
                </a:solidFill>
                <a:latin typeface="PingFang SC"/>
              </a:rPr>
              <a:t>直供 </a:t>
            </a:r>
            <a:r>
              <a:rPr b="0" lang="en-US" sz="900" spc="-1" strike="noStrike">
                <a:solidFill>
                  <a:srgbClr val="667085"/>
                </a:solidFill>
                <a:latin typeface="PingFang SC"/>
              </a:rPr>
              <a:t>/ </a:t>
            </a:r>
            <a:r>
              <a:rPr b="0" lang="zh-CN" sz="900" spc="-1" strike="noStrike">
                <a:solidFill>
                  <a:srgbClr val="667085"/>
                </a:solidFill>
                <a:latin typeface="PingFang SC"/>
              </a:rPr>
              <a:t>平台 </a:t>
            </a:r>
            <a:r>
              <a:rPr b="0" lang="en-US" sz="900" spc="-1" strike="noStrike">
                <a:solidFill>
                  <a:srgbClr val="667085"/>
                </a:solidFill>
                <a:latin typeface="PingFang SC"/>
              </a:rPr>
              <a:t>/ </a:t>
            </a:r>
            <a:r>
              <a:rPr b="0" lang="zh-CN" sz="900" spc="-1" strike="noStrike">
                <a:solidFill>
                  <a:srgbClr val="667085"/>
                </a:solidFill>
                <a:latin typeface="PingFang SC"/>
              </a:rPr>
              <a:t>框架协议；不等同供应商</a:t>
            </a:r>
            <a:endParaRPr b="0" lang="en-US" sz="900" spc="-1" strike="noStrike">
              <a:solidFill>
                <a:srgbClr val="667085"/>
              </a:solidFill>
              <a:latin typeface="PingFang SC"/>
              <a:ea typeface="PingFang SC"/>
            </a:endParaRPr>
          </a:p>
        </p:txBody>
      </p:sp>
      <p:sp>
        <p:nvSpPr>
          <p:cNvPr id="320" name="fig02-variant-recipe"/>
          <p:cNvSpPr/>
          <p:nvPr/>
        </p:nvSpPr>
        <p:spPr>
          <a:xfrm flipH="1">
            <a:off x="1542960" y="7315200"/>
            <a:ext cx="2428920" cy="933480"/>
          </a:xfrm>
          <a:prstGeom prst="line">
            <a:avLst/>
          </a:prstGeom>
          <a:ln w="16200">
            <a:solidFill>
              <a:srgbClr val="8b5ac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7920" rIns="97920" tIns="52920" bIns="5292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1" name="fig02-variant-recipe-head"/>
          <p:cNvSpPr/>
          <p:nvPr/>
        </p:nvSpPr>
        <p:spPr>
          <a:xfrm>
            <a:off x="1542960" y="8184240"/>
            <a:ext cx="92880" cy="67320"/>
          </a:xfrm>
          <a:custGeom>
            <a:avLst/>
            <a:gdLst/>
            <a:ahLst/>
            <a:rect l="0" t="0" r="r" b="b"/>
            <a:pathLst>
              <a:path w="258" h="187">
                <a:moveTo>
                  <a:pt x="0" y="179"/>
                </a:moveTo>
                <a:lnTo>
                  <a:pt x="187" y="0"/>
                </a:lnTo>
                <a:lnTo>
                  <a:pt x="258" y="187"/>
                </a:lnTo>
                <a:lnTo>
                  <a:pt x="0" y="179"/>
                </a:lnTo>
                <a:close/>
              </a:path>
            </a:pathLst>
          </a:custGeom>
          <a:solidFill>
            <a:srgbClr val="8b5aca"/>
          </a:solidFill>
          <a:ln w="0">
            <a:noFill/>
          </a:ln>
        </p:spPr>
        <p:txBody>
          <a:bodyPr lIns="90000" rIns="90000" tIns="22320" bIns="22320" anchor="ctr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22" name="fig02-120-chip"/>
          <p:cNvSpPr/>
          <p:nvPr/>
        </p:nvSpPr>
        <p:spPr>
          <a:xfrm>
            <a:off x="2026080" y="7747560"/>
            <a:ext cx="901080" cy="171360"/>
          </a:xfrm>
          <a:prstGeom prst="roundRect">
            <a:avLst/>
          </a:prstGeom>
          <a:solidFill>
            <a:srgbClr val="ffffff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3" name="fig02-text-120"/>
          <p:cNvSpPr txBox="1"/>
          <p:nvPr/>
        </p:nvSpPr>
        <p:spPr>
          <a:xfrm>
            <a:off x="2082960" y="7766640"/>
            <a:ext cx="786960" cy="1008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algn="ctr"/>
            <a:r>
              <a:rPr b="1" lang="en-US" sz="750" spc="-1" strike="noStrike">
                <a:solidFill>
                  <a:srgbClr val="667085"/>
                </a:solidFill>
                <a:latin typeface="PingFang SC"/>
              </a:rPr>
              <a:t>M:N · </a:t>
            </a:r>
            <a:r>
              <a:rPr b="1" lang="zh-CN" sz="750" spc="-1" strike="noStrike">
                <a:solidFill>
                  <a:srgbClr val="667085"/>
                </a:solidFill>
                <a:latin typeface="PingFang SC"/>
              </a:rPr>
              <a:t>适用配方</a:t>
            </a:r>
            <a:endParaRPr b="1" lang="en-US" sz="750" spc="-1" strike="noStrike">
              <a:solidFill>
                <a:srgbClr val="667085"/>
              </a:solidFill>
              <a:latin typeface="PingFang SC"/>
              <a:ea typeface="PingFang SC"/>
            </a:endParaRPr>
          </a:p>
        </p:txBody>
      </p:sp>
      <p:sp>
        <p:nvSpPr>
          <p:cNvPr id="324" name="fig02-recipe-bom"/>
          <p:cNvSpPr/>
          <p:nvPr/>
        </p:nvSpPr>
        <p:spPr>
          <a:xfrm>
            <a:off x="2523960" y="8782200"/>
            <a:ext cx="476280" cy="0"/>
          </a:xfrm>
          <a:prstGeom prst="line">
            <a:avLst/>
          </a:prstGeom>
          <a:ln w="16200">
            <a:solidFill>
              <a:srgbClr val="8b5ac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7920" rIns="97920" tIns="-52920" bIns="-5292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5" name="fig02-recipe-bom-head"/>
          <p:cNvSpPr/>
          <p:nvPr/>
        </p:nvSpPr>
        <p:spPr>
          <a:xfrm>
            <a:off x="2914560" y="8746200"/>
            <a:ext cx="85680" cy="72000"/>
          </a:xfrm>
          <a:custGeom>
            <a:avLst/>
            <a:gdLst/>
            <a:ahLst/>
            <a:rect l="0" t="0" r="r" b="b"/>
            <a:pathLst>
              <a:path w="238" h="200">
                <a:moveTo>
                  <a:pt x="238" y="100"/>
                </a:moveTo>
                <a:lnTo>
                  <a:pt x="0" y="200"/>
                </a:lnTo>
                <a:lnTo>
                  <a:pt x="0" y="0"/>
                </a:lnTo>
                <a:lnTo>
                  <a:pt x="238" y="100"/>
                </a:lnTo>
                <a:close/>
              </a:path>
            </a:pathLst>
          </a:custGeom>
          <a:solidFill>
            <a:srgbClr val="8b5aca"/>
          </a:solidFill>
          <a:ln w="0">
            <a:noFill/>
          </a:ln>
        </p:spPr>
        <p:txBody>
          <a:bodyPr lIns="90000" rIns="90000" tIns="27000" bIns="27000" anchor="ctr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26" name="fig02-122-chip"/>
          <p:cNvSpPr/>
          <p:nvPr/>
        </p:nvSpPr>
        <p:spPr>
          <a:xfrm>
            <a:off x="2586960" y="8566920"/>
            <a:ext cx="350640" cy="171360"/>
          </a:xfrm>
          <a:prstGeom prst="roundRect">
            <a:avLst/>
          </a:prstGeom>
          <a:solidFill>
            <a:srgbClr val="ffffff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7" name="fig02-text-122"/>
          <p:cNvSpPr txBox="1"/>
          <p:nvPr/>
        </p:nvSpPr>
        <p:spPr>
          <a:xfrm>
            <a:off x="2644200" y="8586000"/>
            <a:ext cx="236520" cy="85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algn="ctr"/>
            <a:r>
              <a:rPr b="1" lang="en-US" sz="750" spc="-1" strike="noStrike">
                <a:solidFill>
                  <a:srgbClr val="667085"/>
                </a:solidFill>
                <a:latin typeface="PingFang SC"/>
              </a:rPr>
              <a:t>1:N</a:t>
            </a:r>
            <a:endParaRPr b="1" lang="en-US" sz="750" spc="-1" strike="noStrike">
              <a:solidFill>
                <a:srgbClr val="667085"/>
              </a:solidFill>
              <a:latin typeface="PingFang SC"/>
              <a:ea typeface="PingFang SC"/>
            </a:endParaRPr>
          </a:p>
        </p:txBody>
      </p:sp>
      <p:sp>
        <p:nvSpPr>
          <p:cNvPr id="328" name="fig02-recipe-sop"/>
          <p:cNvSpPr/>
          <p:nvPr/>
        </p:nvSpPr>
        <p:spPr>
          <a:xfrm>
            <a:off x="2523960" y="9010800"/>
            <a:ext cx="2905200" cy="0"/>
          </a:xfrm>
          <a:prstGeom prst="line">
            <a:avLst/>
          </a:prstGeom>
          <a:ln w="16200">
            <a:solidFill>
              <a:srgbClr val="8b5ac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7920" rIns="97920" tIns="-52920" bIns="-5292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9" name="fig02-recipe-sop-head"/>
          <p:cNvSpPr/>
          <p:nvPr/>
        </p:nvSpPr>
        <p:spPr>
          <a:xfrm>
            <a:off x="5343480" y="8974800"/>
            <a:ext cx="85680" cy="72000"/>
          </a:xfrm>
          <a:custGeom>
            <a:avLst/>
            <a:gdLst/>
            <a:ahLst/>
            <a:rect l="0" t="0" r="r" b="b"/>
            <a:pathLst>
              <a:path w="238" h="200">
                <a:moveTo>
                  <a:pt x="238" y="100"/>
                </a:moveTo>
                <a:lnTo>
                  <a:pt x="0" y="200"/>
                </a:lnTo>
                <a:lnTo>
                  <a:pt x="0" y="0"/>
                </a:lnTo>
                <a:lnTo>
                  <a:pt x="238" y="100"/>
                </a:lnTo>
                <a:close/>
              </a:path>
            </a:pathLst>
          </a:custGeom>
          <a:solidFill>
            <a:srgbClr val="8b5aca"/>
          </a:solidFill>
          <a:ln w="0">
            <a:noFill/>
          </a:ln>
        </p:spPr>
        <p:txBody>
          <a:bodyPr lIns="90000" rIns="90000" tIns="27000" bIns="27000" anchor="ctr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30" name="fig02-text-124"/>
          <p:cNvSpPr txBox="1"/>
          <p:nvPr/>
        </p:nvSpPr>
        <p:spPr>
          <a:xfrm>
            <a:off x="3143160" y="8977680"/>
            <a:ext cx="1666800" cy="421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algn="ctr"/>
            <a:r>
              <a:rPr b="1" lang="zh-CN" sz="750" spc="-1" strike="noStrike">
                <a:solidFill>
                  <a:srgbClr val="667085"/>
                </a:solidFill>
                <a:latin typeface="PingFang SC"/>
              </a:rPr>
              <a:t>引用受控版本</a:t>
            </a:r>
            <a:endParaRPr b="1" lang="en-US" sz="750" spc="-1" strike="noStrike">
              <a:solidFill>
                <a:srgbClr val="667085"/>
              </a:solidFill>
              <a:latin typeface="PingFang SC"/>
              <a:ea typeface="PingFang SC"/>
            </a:endParaRPr>
          </a:p>
        </p:txBody>
      </p:sp>
      <p:sp>
        <p:nvSpPr>
          <p:cNvPr id="331" name="fig02-recipe-quality"/>
          <p:cNvSpPr/>
          <p:nvPr/>
        </p:nvSpPr>
        <p:spPr>
          <a:xfrm>
            <a:off x="2523960" y="9239400"/>
            <a:ext cx="5334120" cy="0"/>
          </a:xfrm>
          <a:prstGeom prst="line">
            <a:avLst/>
          </a:prstGeom>
          <a:ln w="16200">
            <a:solidFill>
              <a:srgbClr val="e6001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7920" rIns="97920" tIns="-52920" bIns="-5292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2" name="fig02-recipe-quality-head"/>
          <p:cNvSpPr/>
          <p:nvPr/>
        </p:nvSpPr>
        <p:spPr>
          <a:xfrm>
            <a:off x="7772400" y="9203400"/>
            <a:ext cx="85680" cy="72000"/>
          </a:xfrm>
          <a:custGeom>
            <a:avLst/>
            <a:gdLst/>
            <a:ahLst/>
            <a:rect l="0" t="0" r="r" b="b"/>
            <a:pathLst>
              <a:path w="238" h="200">
                <a:moveTo>
                  <a:pt x="238" y="100"/>
                </a:moveTo>
                <a:lnTo>
                  <a:pt x="0" y="200"/>
                </a:lnTo>
                <a:lnTo>
                  <a:pt x="0" y="0"/>
                </a:lnTo>
                <a:lnTo>
                  <a:pt x="238" y="100"/>
                </a:lnTo>
                <a:close/>
              </a:path>
            </a:pathLst>
          </a:custGeom>
          <a:solidFill>
            <a:srgbClr val="e60012"/>
          </a:solidFill>
          <a:ln w="0">
            <a:noFill/>
          </a:ln>
        </p:spPr>
        <p:txBody>
          <a:bodyPr lIns="90000" rIns="90000" tIns="27000" bIns="27000" anchor="ctr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33" name="fig02-126-chip"/>
          <p:cNvSpPr/>
          <p:nvPr/>
        </p:nvSpPr>
        <p:spPr>
          <a:xfrm>
            <a:off x="4785480" y="9309600"/>
            <a:ext cx="811440" cy="171360"/>
          </a:xfrm>
          <a:prstGeom prst="roundRect">
            <a:avLst/>
          </a:prstGeom>
          <a:solidFill>
            <a:srgbClr val="ffffff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4" name="fig02-text-126"/>
          <p:cNvSpPr txBox="1"/>
          <p:nvPr/>
        </p:nvSpPr>
        <p:spPr>
          <a:xfrm>
            <a:off x="4842360" y="9328680"/>
            <a:ext cx="697320" cy="1082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algn="ctr"/>
            <a:r>
              <a:rPr b="1" lang="zh-CN" sz="750" spc="-1" strike="noStrike">
                <a:solidFill>
                  <a:srgbClr val="667085"/>
                </a:solidFill>
                <a:latin typeface="PingFang SC"/>
              </a:rPr>
              <a:t>引用放行标准</a:t>
            </a:r>
            <a:endParaRPr b="1" lang="en-US" sz="750" spc="-1" strike="noStrike">
              <a:solidFill>
                <a:srgbClr val="667085"/>
              </a:solidFill>
              <a:latin typeface="PingFang SC"/>
              <a:ea typeface="PingFang SC"/>
            </a:endParaRPr>
          </a:p>
        </p:txBody>
      </p:sp>
      <p:sp>
        <p:nvSpPr>
          <p:cNvPr id="335" name="fig02-bom-ingredient"/>
          <p:cNvSpPr/>
          <p:nvPr/>
        </p:nvSpPr>
        <p:spPr>
          <a:xfrm flipH="1">
            <a:off x="1542960" y="9315360"/>
            <a:ext cx="2428920" cy="495360"/>
          </a:xfrm>
          <a:prstGeom prst="line">
            <a:avLst/>
          </a:prstGeom>
          <a:ln w="16200">
            <a:solidFill>
              <a:srgbClr val="e8a02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7920" rIns="97920" tIns="52920" bIns="5292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6" name="fig02-bom-ingredient-head"/>
          <p:cNvSpPr/>
          <p:nvPr/>
        </p:nvSpPr>
        <p:spPr>
          <a:xfrm>
            <a:off x="1542960" y="9758520"/>
            <a:ext cx="91440" cy="70200"/>
          </a:xfrm>
          <a:custGeom>
            <a:avLst/>
            <a:gdLst/>
            <a:ahLst/>
            <a:rect l="0" t="0" r="r" b="b"/>
            <a:pathLst>
              <a:path w="254" h="195">
                <a:moveTo>
                  <a:pt x="0" y="145"/>
                </a:moveTo>
                <a:lnTo>
                  <a:pt x="214" y="0"/>
                </a:lnTo>
                <a:lnTo>
                  <a:pt x="254" y="195"/>
                </a:lnTo>
                <a:lnTo>
                  <a:pt x="0" y="145"/>
                </a:lnTo>
                <a:close/>
              </a:path>
            </a:pathLst>
          </a:custGeom>
          <a:solidFill>
            <a:srgbClr val="e8a020"/>
          </a:solidFill>
          <a:ln w="0">
            <a:noFill/>
          </a:ln>
        </p:spPr>
        <p:txBody>
          <a:bodyPr lIns="90000" rIns="90000" tIns="25200" bIns="2520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7" name="fig02-128-chip"/>
          <p:cNvSpPr/>
          <p:nvPr/>
        </p:nvSpPr>
        <p:spPr>
          <a:xfrm>
            <a:off x="2401200" y="9519120"/>
            <a:ext cx="721800" cy="171360"/>
          </a:xfrm>
          <a:prstGeom prst="roundRect">
            <a:avLst/>
          </a:prstGeom>
          <a:solidFill>
            <a:srgbClr val="ffffff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8" name="fig02-text-128"/>
          <p:cNvSpPr txBox="1"/>
          <p:nvPr/>
        </p:nvSpPr>
        <p:spPr>
          <a:xfrm>
            <a:off x="2458440" y="9538200"/>
            <a:ext cx="607680" cy="1413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algn="ctr"/>
            <a:r>
              <a:rPr b="1" lang="zh-CN" sz="750" spc="-1" strike="noStrike">
                <a:solidFill>
                  <a:srgbClr val="667085"/>
                </a:solidFill>
                <a:latin typeface="PingFang SC"/>
              </a:rPr>
              <a:t>投入 </a:t>
            </a:r>
            <a:r>
              <a:rPr b="1" lang="en-US" sz="750" spc="-1" strike="noStrike">
                <a:solidFill>
                  <a:srgbClr val="667085"/>
                </a:solidFill>
                <a:latin typeface="PingFang SC"/>
              </a:rPr>
              <a:t>/ </a:t>
            </a:r>
            <a:r>
              <a:rPr b="1" lang="zh-CN" sz="750" spc="-1" strike="noStrike">
                <a:solidFill>
                  <a:srgbClr val="667085"/>
                </a:solidFill>
                <a:latin typeface="PingFang SC"/>
              </a:rPr>
              <a:t>用量</a:t>
            </a:r>
            <a:endParaRPr b="1" lang="en-US" sz="750" spc="-1" strike="noStrike">
              <a:solidFill>
                <a:srgbClr val="667085"/>
              </a:solidFill>
              <a:latin typeface="PingFang SC"/>
              <a:ea typeface="PingFang SC"/>
            </a:endParaRPr>
          </a:p>
        </p:txBody>
      </p:sp>
      <p:sp>
        <p:nvSpPr>
          <p:cNvPr id="339" name="fig02-ingredient-procsku"/>
          <p:cNvSpPr/>
          <p:nvPr/>
        </p:nvSpPr>
        <p:spPr>
          <a:xfrm>
            <a:off x="2523960" y="10344240"/>
            <a:ext cx="476280" cy="0"/>
          </a:xfrm>
          <a:prstGeom prst="line">
            <a:avLst/>
          </a:prstGeom>
          <a:ln w="16200">
            <a:solidFill>
              <a:srgbClr val="e8a02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7920" rIns="97920" tIns="-52920" bIns="-5292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0" name="fig02-ingredient-procsku-head"/>
          <p:cNvSpPr/>
          <p:nvPr/>
        </p:nvSpPr>
        <p:spPr>
          <a:xfrm>
            <a:off x="2914560" y="10308240"/>
            <a:ext cx="85680" cy="72000"/>
          </a:xfrm>
          <a:custGeom>
            <a:avLst/>
            <a:gdLst/>
            <a:ahLst/>
            <a:rect l="0" t="0" r="r" b="b"/>
            <a:pathLst>
              <a:path w="238" h="200">
                <a:moveTo>
                  <a:pt x="238" y="100"/>
                </a:moveTo>
                <a:lnTo>
                  <a:pt x="0" y="200"/>
                </a:lnTo>
                <a:lnTo>
                  <a:pt x="0" y="0"/>
                </a:lnTo>
                <a:lnTo>
                  <a:pt x="238" y="100"/>
                </a:lnTo>
                <a:close/>
              </a:path>
            </a:pathLst>
          </a:custGeom>
          <a:solidFill>
            <a:srgbClr val="e8a020"/>
          </a:solidFill>
          <a:ln w="0">
            <a:noFill/>
          </a:ln>
        </p:spPr>
        <p:txBody>
          <a:bodyPr lIns="90000" rIns="90000" tIns="27000" bIns="2700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1" name="fig02-130-chip"/>
          <p:cNvSpPr/>
          <p:nvPr/>
        </p:nvSpPr>
        <p:spPr>
          <a:xfrm>
            <a:off x="2418480" y="10128960"/>
            <a:ext cx="687960" cy="171360"/>
          </a:xfrm>
          <a:prstGeom prst="roundRect">
            <a:avLst/>
          </a:prstGeom>
          <a:solidFill>
            <a:srgbClr val="ffffff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2" name="fig02-text-130"/>
          <p:cNvSpPr txBox="1"/>
          <p:nvPr/>
        </p:nvSpPr>
        <p:spPr>
          <a:xfrm>
            <a:off x="2475360" y="10148040"/>
            <a:ext cx="573480" cy="1263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algn="ctr"/>
            <a:r>
              <a:rPr b="1" lang="en-US" sz="750" spc="-1" strike="noStrike">
                <a:solidFill>
                  <a:srgbClr val="667085"/>
                </a:solidFill>
                <a:latin typeface="PingFang SC"/>
              </a:rPr>
              <a:t>M:N · </a:t>
            </a:r>
            <a:r>
              <a:rPr b="1" lang="zh-CN" sz="750" spc="-1" strike="noStrike">
                <a:solidFill>
                  <a:srgbClr val="667085"/>
                </a:solidFill>
                <a:latin typeface="PingFang SC"/>
              </a:rPr>
              <a:t>转换</a:t>
            </a:r>
            <a:endParaRPr b="1" lang="en-US" sz="750" spc="-1" strike="noStrike">
              <a:solidFill>
                <a:srgbClr val="667085"/>
              </a:solidFill>
              <a:latin typeface="PingFang SC"/>
              <a:ea typeface="PingFang SC"/>
            </a:endParaRPr>
          </a:p>
        </p:txBody>
      </p:sp>
      <p:sp>
        <p:nvSpPr>
          <p:cNvPr id="343" name="fig02-procsku-supplier"/>
          <p:cNvSpPr/>
          <p:nvPr/>
        </p:nvSpPr>
        <p:spPr>
          <a:xfrm>
            <a:off x="4952880" y="10344240"/>
            <a:ext cx="476280" cy="0"/>
          </a:xfrm>
          <a:prstGeom prst="line">
            <a:avLst/>
          </a:prstGeom>
          <a:ln w="16200">
            <a:solidFill>
              <a:srgbClr val="e8a02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7920" rIns="97920" tIns="-52920" bIns="-5292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4" name="fig02-procsku-supplier-head"/>
          <p:cNvSpPr/>
          <p:nvPr/>
        </p:nvSpPr>
        <p:spPr>
          <a:xfrm>
            <a:off x="5343480" y="10308240"/>
            <a:ext cx="85680" cy="72000"/>
          </a:xfrm>
          <a:custGeom>
            <a:avLst/>
            <a:gdLst/>
            <a:ahLst/>
            <a:rect l="0" t="0" r="r" b="b"/>
            <a:pathLst>
              <a:path w="238" h="200">
                <a:moveTo>
                  <a:pt x="238" y="100"/>
                </a:moveTo>
                <a:lnTo>
                  <a:pt x="0" y="200"/>
                </a:lnTo>
                <a:lnTo>
                  <a:pt x="0" y="0"/>
                </a:lnTo>
                <a:lnTo>
                  <a:pt x="238" y="100"/>
                </a:lnTo>
                <a:close/>
              </a:path>
            </a:pathLst>
          </a:custGeom>
          <a:solidFill>
            <a:srgbClr val="e8a020"/>
          </a:solidFill>
          <a:ln w="0">
            <a:noFill/>
          </a:ln>
        </p:spPr>
        <p:txBody>
          <a:bodyPr lIns="90000" rIns="90000" tIns="27000" bIns="2700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5" name="fig02-132-chip"/>
          <p:cNvSpPr/>
          <p:nvPr/>
        </p:nvSpPr>
        <p:spPr>
          <a:xfrm>
            <a:off x="5015880" y="10128960"/>
            <a:ext cx="350640" cy="171360"/>
          </a:xfrm>
          <a:prstGeom prst="roundRect">
            <a:avLst/>
          </a:prstGeom>
          <a:solidFill>
            <a:srgbClr val="ffffff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6" name="fig02-text-132"/>
          <p:cNvSpPr txBox="1"/>
          <p:nvPr/>
        </p:nvSpPr>
        <p:spPr>
          <a:xfrm>
            <a:off x="5072760" y="10148040"/>
            <a:ext cx="236520" cy="85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algn="ctr"/>
            <a:r>
              <a:rPr b="1" lang="en-US" sz="750" spc="-1" strike="noStrike">
                <a:solidFill>
                  <a:srgbClr val="667085"/>
                </a:solidFill>
                <a:latin typeface="PingFang SC"/>
              </a:rPr>
              <a:t>M:N</a:t>
            </a:r>
            <a:endParaRPr b="1" lang="en-US" sz="750" spc="-1" strike="noStrike">
              <a:solidFill>
                <a:srgbClr val="667085"/>
              </a:solidFill>
              <a:latin typeface="PingFang SC"/>
              <a:ea typeface="PingFang SC"/>
            </a:endParaRPr>
          </a:p>
        </p:txBody>
      </p:sp>
      <p:sp>
        <p:nvSpPr>
          <p:cNvPr id="347" name="fig02-supplier-channel"/>
          <p:cNvSpPr/>
          <p:nvPr/>
        </p:nvSpPr>
        <p:spPr>
          <a:xfrm>
            <a:off x="7381800" y="10344240"/>
            <a:ext cx="476280" cy="0"/>
          </a:xfrm>
          <a:prstGeom prst="line">
            <a:avLst/>
          </a:prstGeom>
          <a:ln w="16200">
            <a:solidFill>
              <a:srgbClr val="e8a02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7920" rIns="97920" tIns="-52920" bIns="-5292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8" name="fig02-supplier-channel-head"/>
          <p:cNvSpPr/>
          <p:nvPr/>
        </p:nvSpPr>
        <p:spPr>
          <a:xfrm>
            <a:off x="7772400" y="10308240"/>
            <a:ext cx="85680" cy="72000"/>
          </a:xfrm>
          <a:custGeom>
            <a:avLst/>
            <a:gdLst/>
            <a:ahLst/>
            <a:rect l="0" t="0" r="r" b="b"/>
            <a:pathLst>
              <a:path w="238" h="200">
                <a:moveTo>
                  <a:pt x="238" y="100"/>
                </a:moveTo>
                <a:lnTo>
                  <a:pt x="0" y="200"/>
                </a:lnTo>
                <a:lnTo>
                  <a:pt x="0" y="0"/>
                </a:lnTo>
                <a:lnTo>
                  <a:pt x="238" y="100"/>
                </a:lnTo>
                <a:close/>
              </a:path>
            </a:pathLst>
          </a:custGeom>
          <a:solidFill>
            <a:srgbClr val="e8a020"/>
          </a:solidFill>
          <a:ln w="0">
            <a:noFill/>
          </a:ln>
        </p:spPr>
        <p:txBody>
          <a:bodyPr lIns="90000" rIns="90000" tIns="27000" bIns="2700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9" name="fig02-134-chip"/>
          <p:cNvSpPr/>
          <p:nvPr/>
        </p:nvSpPr>
        <p:spPr>
          <a:xfrm>
            <a:off x="7444800" y="10128960"/>
            <a:ext cx="350640" cy="171360"/>
          </a:xfrm>
          <a:prstGeom prst="roundRect">
            <a:avLst/>
          </a:prstGeom>
          <a:solidFill>
            <a:srgbClr val="ffffff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0" name="fig02-text-134"/>
          <p:cNvSpPr txBox="1"/>
          <p:nvPr/>
        </p:nvSpPr>
        <p:spPr>
          <a:xfrm>
            <a:off x="7501680" y="10148040"/>
            <a:ext cx="236520" cy="85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algn="ctr"/>
            <a:r>
              <a:rPr b="1" lang="en-US" sz="750" spc="-1" strike="noStrike">
                <a:solidFill>
                  <a:srgbClr val="667085"/>
                </a:solidFill>
                <a:latin typeface="PingFang SC"/>
              </a:rPr>
              <a:t>M:N</a:t>
            </a:r>
            <a:endParaRPr b="1" lang="en-US" sz="750" spc="-1" strike="noStrike">
              <a:solidFill>
                <a:srgbClr val="667085"/>
              </a:solidFill>
              <a:latin typeface="PingFang SC"/>
              <a:ea typeface="PingFang SC"/>
            </a:endParaRPr>
          </a:p>
        </p:txBody>
      </p:sp>
      <p:sp>
        <p:nvSpPr>
          <p:cNvPr id="351" name="fig02-card"/>
          <p:cNvSpPr/>
          <p:nvPr/>
        </p:nvSpPr>
        <p:spPr>
          <a:xfrm>
            <a:off x="571680" y="11287080"/>
            <a:ext cx="47520" cy="209520"/>
          </a:xfrm>
          <a:prstGeom prst="roundRect">
            <a:avLst/>
          </a:prstGeom>
          <a:solidFill>
            <a:srgbClr val="4f46e5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52" name="fig02-text-136"/>
          <p:cNvSpPr txBox="1"/>
          <p:nvPr/>
        </p:nvSpPr>
        <p:spPr>
          <a:xfrm>
            <a:off x="743040" y="11367000"/>
            <a:ext cx="236520" cy="85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750" spc="-1" strike="noStrike">
                <a:solidFill>
                  <a:srgbClr val="4f46e5"/>
                </a:solidFill>
                <a:latin typeface="IBM Plex Mono"/>
              </a:rPr>
              <a:t>02D</a:t>
            </a:r>
            <a:endParaRPr b="1" lang="en-US" sz="750" spc="-1" strike="noStrike">
              <a:solidFill>
                <a:srgbClr val="4f46e5"/>
              </a:solidFill>
              <a:latin typeface="IBM Plex Mono"/>
              <a:ea typeface="IBM Plex Mono"/>
            </a:endParaRPr>
          </a:p>
        </p:txBody>
      </p:sp>
      <p:sp>
        <p:nvSpPr>
          <p:cNvPr id="353" name="fig02-text-137"/>
          <p:cNvSpPr txBox="1"/>
          <p:nvPr/>
        </p:nvSpPr>
        <p:spPr>
          <a:xfrm>
            <a:off x="1428840" y="11318040"/>
            <a:ext cx="3129480" cy="752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zh-CN" sz="1200" spc="-1" strike="noStrike">
                <a:solidFill>
                  <a:srgbClr val="161a25"/>
                </a:solidFill>
                <a:latin typeface="PingFang SC"/>
              </a:rPr>
              <a:t>需求、生产、库存、采购与履约事实闭环</a:t>
            </a:r>
            <a:endParaRPr b="1" lang="en-US" sz="1200" spc="-1" strike="noStrike">
              <a:solidFill>
                <a:srgbClr val="161a25"/>
              </a:solidFill>
              <a:latin typeface="PingFang SC"/>
              <a:ea typeface="PingFang SC"/>
            </a:endParaRPr>
          </a:p>
        </p:txBody>
      </p:sp>
      <p:sp>
        <p:nvSpPr>
          <p:cNvPr id="354" name="fig02-text-138"/>
          <p:cNvSpPr txBox="1"/>
          <p:nvPr/>
        </p:nvSpPr>
        <p:spPr>
          <a:xfrm>
            <a:off x="7907040" y="11360520"/>
            <a:ext cx="2951280" cy="1082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algn="r"/>
            <a:r>
              <a:rPr b="0" lang="zh-CN" sz="810" spc="-1" strike="noStrike">
                <a:solidFill>
                  <a:srgbClr val="667085"/>
                </a:solidFill>
                <a:latin typeface="PingFang SC"/>
              </a:rPr>
              <a:t>预测、计划、订单、批次、</a:t>
            </a:r>
            <a:r>
              <a:rPr b="0" lang="en-US" sz="810" spc="-1" strike="noStrike">
                <a:solidFill>
                  <a:srgbClr val="667085"/>
                </a:solidFill>
                <a:latin typeface="PingFang SC"/>
              </a:rPr>
              <a:t>PO</a:t>
            </a:r>
            <a:r>
              <a:rPr b="0" lang="zh-CN" sz="810" spc="-1" strike="noStrike">
                <a:solidFill>
                  <a:srgbClr val="667085"/>
                </a:solidFill>
                <a:latin typeface="PingFang SC"/>
              </a:rPr>
              <a:t>、收货与库存均为不同事实</a:t>
            </a:r>
            <a:endParaRPr b="0" lang="en-US" sz="810" spc="-1" strike="noStrike">
              <a:solidFill>
                <a:srgbClr val="667085"/>
              </a:solidFill>
              <a:latin typeface="PingFang SC"/>
              <a:ea typeface="PingFang SC"/>
            </a:endParaRPr>
          </a:p>
        </p:txBody>
      </p:sp>
      <p:sp>
        <p:nvSpPr>
          <p:cNvPr id="355" name="fig02-card"/>
          <p:cNvSpPr/>
          <p:nvPr/>
        </p:nvSpPr>
        <p:spPr>
          <a:xfrm>
            <a:off x="571680" y="11772720"/>
            <a:ext cx="1952640" cy="1028880"/>
          </a:xfrm>
          <a:prstGeom prst="roundRect">
            <a:avLst/>
          </a:prstGeom>
          <a:solidFill>
            <a:srgbClr val="eef6ff"/>
          </a:solidFill>
          <a:ln w="11520">
            <a:solidFill>
              <a:srgbClr val="2d8eff"/>
            </a:solidFill>
            <a:round/>
          </a:ln>
        </p:spPr>
        <p:txBody>
          <a:bodyPr lIns="95760" rIns="95760" tIns="50760" bIns="5076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6" name="fig02-card"/>
          <p:cNvSpPr/>
          <p:nvPr/>
        </p:nvSpPr>
        <p:spPr>
          <a:xfrm>
            <a:off x="704880" y="11906280"/>
            <a:ext cx="876240" cy="190440"/>
          </a:xfrm>
          <a:prstGeom prst="roundRect">
            <a:avLst/>
          </a:prstGeom>
          <a:solidFill>
            <a:srgbClr val="e6f1ff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7" name="fig02-text-141"/>
          <p:cNvSpPr txBox="1"/>
          <p:nvPr/>
        </p:nvSpPr>
        <p:spPr>
          <a:xfrm>
            <a:off x="790560" y="11957760"/>
            <a:ext cx="626760" cy="1370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750" spc="-1" strike="noStrike">
                <a:solidFill>
                  <a:srgbClr val="2d8eff"/>
                </a:solidFill>
                <a:latin typeface="IBM Plex Mono"/>
              </a:rPr>
              <a:t>MEAL ORDER</a:t>
            </a:r>
            <a:endParaRPr b="1" lang="en-US" sz="750" spc="-1" strike="noStrike">
              <a:solidFill>
                <a:srgbClr val="2d8eff"/>
              </a:solidFill>
              <a:latin typeface="IBM Plex Mono"/>
              <a:ea typeface="IBM Plex Mono"/>
            </a:endParaRPr>
          </a:p>
        </p:txBody>
      </p:sp>
      <p:sp>
        <p:nvSpPr>
          <p:cNvPr id="358" name="fig02-text-142"/>
          <p:cNvSpPr txBox="1"/>
          <p:nvPr/>
        </p:nvSpPr>
        <p:spPr>
          <a:xfrm>
            <a:off x="714240" y="12120480"/>
            <a:ext cx="1666800" cy="421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zh-CN" sz="1130" spc="-1" strike="noStrike">
                <a:solidFill>
                  <a:srgbClr val="161a25"/>
                </a:solidFill>
                <a:latin typeface="PingFang SC"/>
              </a:rPr>
              <a:t>餐食订单</a:t>
            </a:r>
            <a:endParaRPr b="1" lang="en-US" sz="1130" spc="-1" strike="noStrike">
              <a:solidFill>
                <a:srgbClr val="161a25"/>
              </a:solidFill>
              <a:latin typeface="PingFang SC"/>
              <a:ea typeface="PingFang SC"/>
            </a:endParaRPr>
          </a:p>
        </p:txBody>
      </p:sp>
      <p:sp>
        <p:nvSpPr>
          <p:cNvPr id="359" name="fig02-text-143"/>
          <p:cNvSpPr txBox="1"/>
          <p:nvPr/>
        </p:nvSpPr>
        <p:spPr>
          <a:xfrm>
            <a:off x="714240" y="12318840"/>
            <a:ext cx="1666800" cy="1082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zh-CN" sz="900" spc="-1" strike="noStrike">
                <a:solidFill>
                  <a:srgbClr val="667085"/>
                </a:solidFill>
                <a:latin typeface="PingFang SC"/>
              </a:rPr>
              <a:t>需求事实 </a:t>
            </a:r>
            <a:r>
              <a:rPr b="0" lang="en-US" sz="900" spc="-1" strike="noStrike">
                <a:solidFill>
                  <a:srgbClr val="667085"/>
                </a:solidFill>
                <a:latin typeface="PingFang SC"/>
              </a:rPr>
              <a:t>/ </a:t>
            </a:r>
            <a:r>
              <a:rPr b="0" lang="zh-CN" sz="900" spc="-1" strike="noStrike">
                <a:solidFill>
                  <a:srgbClr val="667085"/>
                </a:solidFill>
                <a:latin typeface="PingFang SC"/>
              </a:rPr>
              <a:t>履约承诺；</a:t>
            </a:r>
            <a:endParaRPr b="0" lang="en-US" sz="900" spc="-1" strike="noStrike">
              <a:solidFill>
                <a:srgbClr val="667085"/>
              </a:solidFill>
              <a:latin typeface="PingFang SC"/>
              <a:ea typeface="PingFang SC"/>
            </a:endParaRPr>
          </a:p>
          <a:p>
            <a:r>
              <a:rPr b="0" lang="zh-CN" sz="900" spc="-1" strike="noStrike">
                <a:solidFill>
                  <a:srgbClr val="667085"/>
                </a:solidFill>
                <a:latin typeface="PingFang SC"/>
              </a:rPr>
              <a:t>不等于预测</a:t>
            </a:r>
            <a:endParaRPr b="0" lang="en-US" sz="900" spc="-1" strike="noStrike">
              <a:solidFill>
                <a:srgbClr val="667085"/>
              </a:solidFill>
              <a:latin typeface="PingFang SC"/>
              <a:ea typeface="PingFang SC"/>
            </a:endParaRPr>
          </a:p>
        </p:txBody>
      </p:sp>
      <p:sp>
        <p:nvSpPr>
          <p:cNvPr id="360" name="fig02-card"/>
          <p:cNvSpPr/>
          <p:nvPr/>
        </p:nvSpPr>
        <p:spPr>
          <a:xfrm>
            <a:off x="3000240" y="11772720"/>
            <a:ext cx="1952640" cy="1028880"/>
          </a:xfrm>
          <a:prstGeom prst="roundRect">
            <a:avLst/>
          </a:prstGeom>
          <a:solidFill>
            <a:srgbClr val="eef6ff"/>
          </a:solidFill>
          <a:ln w="11520">
            <a:solidFill>
              <a:srgbClr val="2d8eff"/>
            </a:solidFill>
            <a:round/>
          </a:ln>
        </p:spPr>
        <p:txBody>
          <a:bodyPr lIns="95760" rIns="95760" tIns="50760" bIns="5076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1" name="fig02-card"/>
          <p:cNvSpPr/>
          <p:nvPr/>
        </p:nvSpPr>
        <p:spPr>
          <a:xfrm>
            <a:off x="3133800" y="11906280"/>
            <a:ext cx="946800" cy="190440"/>
          </a:xfrm>
          <a:prstGeom prst="roundRect">
            <a:avLst/>
          </a:prstGeom>
          <a:solidFill>
            <a:srgbClr val="e6f1ff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2" name="fig02-text-146"/>
          <p:cNvSpPr txBox="1"/>
          <p:nvPr/>
        </p:nvSpPr>
        <p:spPr>
          <a:xfrm>
            <a:off x="3219480" y="11957760"/>
            <a:ext cx="686520" cy="1370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750" spc="-1" strike="noStrike">
                <a:solidFill>
                  <a:srgbClr val="2d8eff"/>
                </a:solidFill>
                <a:latin typeface="IBM Plex Mono"/>
              </a:rPr>
              <a:t>DEMAND PLAN</a:t>
            </a:r>
            <a:endParaRPr b="1" lang="en-US" sz="750" spc="-1" strike="noStrike">
              <a:solidFill>
                <a:srgbClr val="2d8eff"/>
              </a:solidFill>
              <a:latin typeface="IBM Plex Mono"/>
              <a:ea typeface="IBM Plex Mono"/>
            </a:endParaRPr>
          </a:p>
        </p:txBody>
      </p:sp>
      <p:sp>
        <p:nvSpPr>
          <p:cNvPr id="363" name="fig02-text-147"/>
          <p:cNvSpPr txBox="1"/>
          <p:nvPr/>
        </p:nvSpPr>
        <p:spPr>
          <a:xfrm>
            <a:off x="3143160" y="12120480"/>
            <a:ext cx="1666800" cy="421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zh-CN" sz="1130" spc="-1" strike="noStrike">
                <a:solidFill>
                  <a:srgbClr val="161a25"/>
                </a:solidFill>
                <a:latin typeface="PingFang SC"/>
              </a:rPr>
              <a:t>需求计划</a:t>
            </a:r>
            <a:endParaRPr b="1" lang="en-US" sz="1130" spc="-1" strike="noStrike">
              <a:solidFill>
                <a:srgbClr val="161a25"/>
              </a:solidFill>
              <a:latin typeface="PingFang SC"/>
              <a:ea typeface="PingFang SC"/>
            </a:endParaRPr>
          </a:p>
        </p:txBody>
      </p:sp>
      <p:sp>
        <p:nvSpPr>
          <p:cNvPr id="364" name="fig02-text-148"/>
          <p:cNvSpPr txBox="1"/>
          <p:nvPr/>
        </p:nvSpPr>
        <p:spPr>
          <a:xfrm>
            <a:off x="3143160" y="12318840"/>
            <a:ext cx="1666800" cy="1744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zh-CN" sz="900" spc="-1" strike="noStrike">
                <a:solidFill>
                  <a:srgbClr val="667085"/>
                </a:solidFill>
                <a:latin typeface="PingFang SC"/>
              </a:rPr>
              <a:t>预测 </a:t>
            </a:r>
            <a:r>
              <a:rPr b="0" lang="en-US" sz="900" spc="-1" strike="noStrike">
                <a:solidFill>
                  <a:srgbClr val="667085"/>
                </a:solidFill>
                <a:latin typeface="PingFang SC"/>
              </a:rPr>
              <a:t>/ </a:t>
            </a:r>
            <a:r>
              <a:rPr b="0" lang="zh-CN" sz="900" spc="-1" strike="noStrike">
                <a:solidFill>
                  <a:srgbClr val="667085"/>
                </a:solidFill>
                <a:latin typeface="PingFang SC"/>
              </a:rPr>
              <a:t>确认 </a:t>
            </a:r>
            <a:r>
              <a:rPr b="0" lang="en-US" sz="900" spc="-1" strike="noStrike">
                <a:solidFill>
                  <a:srgbClr val="667085"/>
                </a:solidFill>
                <a:latin typeface="PingFang SC"/>
              </a:rPr>
              <a:t>/ </a:t>
            </a:r>
            <a:r>
              <a:rPr b="0" lang="zh-CN" sz="900" spc="-1" strike="noStrike">
                <a:solidFill>
                  <a:srgbClr val="667085"/>
                </a:solidFill>
                <a:latin typeface="PingFang SC"/>
              </a:rPr>
              <a:t>冻结；按场景、</a:t>
            </a:r>
            <a:endParaRPr b="0" lang="en-US" sz="900" spc="-1" strike="noStrike">
              <a:solidFill>
                <a:srgbClr val="667085"/>
              </a:solidFill>
              <a:latin typeface="PingFang SC"/>
              <a:ea typeface="PingFang SC"/>
            </a:endParaRPr>
          </a:p>
          <a:p>
            <a:r>
              <a:rPr b="0" lang="zh-CN" sz="900" spc="-1" strike="noStrike">
                <a:solidFill>
                  <a:srgbClr val="667085"/>
                </a:solidFill>
                <a:latin typeface="PingFang SC"/>
              </a:rPr>
              <a:t>餐次、对象归集</a:t>
            </a:r>
            <a:endParaRPr b="0" lang="en-US" sz="900" spc="-1" strike="noStrike">
              <a:solidFill>
                <a:srgbClr val="667085"/>
              </a:solidFill>
              <a:latin typeface="PingFang SC"/>
              <a:ea typeface="PingFang SC"/>
            </a:endParaRPr>
          </a:p>
        </p:txBody>
      </p:sp>
      <p:sp>
        <p:nvSpPr>
          <p:cNvPr id="365" name="fig02-card"/>
          <p:cNvSpPr/>
          <p:nvPr/>
        </p:nvSpPr>
        <p:spPr>
          <a:xfrm>
            <a:off x="5429160" y="11772720"/>
            <a:ext cx="1952640" cy="1028880"/>
          </a:xfrm>
          <a:prstGeom prst="roundRect">
            <a:avLst/>
          </a:prstGeom>
          <a:solidFill>
            <a:srgbClr val="ecfbf4"/>
          </a:solidFill>
          <a:ln w="11520">
            <a:solidFill>
              <a:srgbClr val="28cc83"/>
            </a:solidFill>
            <a:round/>
          </a:ln>
        </p:spPr>
        <p:txBody>
          <a:bodyPr lIns="95760" rIns="95760" tIns="50760" bIns="5076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6" name="fig02-card"/>
          <p:cNvSpPr/>
          <p:nvPr/>
        </p:nvSpPr>
        <p:spPr>
          <a:xfrm>
            <a:off x="5562720" y="11906280"/>
            <a:ext cx="1299240" cy="190440"/>
          </a:xfrm>
          <a:prstGeom prst="roundRect">
            <a:avLst/>
          </a:prstGeom>
          <a:solidFill>
            <a:srgbClr val="e5f9f0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7" name="fig02-text-151"/>
          <p:cNvSpPr txBox="1"/>
          <p:nvPr/>
        </p:nvSpPr>
        <p:spPr>
          <a:xfrm>
            <a:off x="5648400" y="11957760"/>
            <a:ext cx="985320" cy="1114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750" spc="-1" strike="noStrike">
                <a:solidFill>
                  <a:srgbClr val="28cc83"/>
                </a:solidFill>
                <a:latin typeface="IBM Plex Mono"/>
              </a:rPr>
              <a:t>PRODUCTION BATCH</a:t>
            </a:r>
            <a:endParaRPr b="1" lang="en-US" sz="750" spc="-1" strike="noStrike">
              <a:solidFill>
                <a:srgbClr val="28cc83"/>
              </a:solidFill>
              <a:latin typeface="IBM Plex Mono"/>
              <a:ea typeface="IBM Plex Mono"/>
            </a:endParaRPr>
          </a:p>
        </p:txBody>
      </p:sp>
      <p:sp>
        <p:nvSpPr>
          <p:cNvPr id="368" name="fig02-text-152"/>
          <p:cNvSpPr txBox="1"/>
          <p:nvPr/>
        </p:nvSpPr>
        <p:spPr>
          <a:xfrm>
            <a:off x="5572080" y="12120480"/>
            <a:ext cx="1666800" cy="421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zh-CN" sz="1130" spc="-1" strike="noStrike">
                <a:solidFill>
                  <a:srgbClr val="161a25"/>
                </a:solidFill>
                <a:latin typeface="PingFang SC"/>
              </a:rPr>
              <a:t>生产批次</a:t>
            </a:r>
            <a:endParaRPr b="1" lang="en-US" sz="1130" spc="-1" strike="noStrike">
              <a:solidFill>
                <a:srgbClr val="161a25"/>
              </a:solidFill>
              <a:latin typeface="PingFang SC"/>
              <a:ea typeface="PingFang SC"/>
            </a:endParaRPr>
          </a:p>
        </p:txBody>
      </p:sp>
      <p:sp>
        <p:nvSpPr>
          <p:cNvPr id="369" name="fig02-text-153"/>
          <p:cNvSpPr txBox="1"/>
          <p:nvPr/>
        </p:nvSpPr>
        <p:spPr>
          <a:xfrm>
            <a:off x="5572080" y="12318840"/>
            <a:ext cx="1666800" cy="1413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zh-CN" sz="900" spc="-1" strike="noStrike">
                <a:solidFill>
                  <a:srgbClr val="667085"/>
                </a:solidFill>
                <a:latin typeface="PingFang SC"/>
              </a:rPr>
              <a:t>计划分配、领料、产出、</a:t>
            </a:r>
            <a:endParaRPr b="0" lang="en-US" sz="900" spc="-1" strike="noStrike">
              <a:solidFill>
                <a:srgbClr val="667085"/>
              </a:solidFill>
              <a:latin typeface="PingFang SC"/>
              <a:ea typeface="PingFang SC"/>
            </a:endParaRPr>
          </a:p>
          <a:p>
            <a:r>
              <a:rPr b="0" lang="zh-CN" sz="900" spc="-1" strike="noStrike">
                <a:solidFill>
                  <a:srgbClr val="667085"/>
                </a:solidFill>
                <a:latin typeface="PingFang SC"/>
              </a:rPr>
              <a:t>质检与版本快照</a:t>
            </a:r>
            <a:endParaRPr b="0" lang="en-US" sz="900" spc="-1" strike="noStrike">
              <a:solidFill>
                <a:srgbClr val="667085"/>
              </a:solidFill>
              <a:latin typeface="PingFang SC"/>
              <a:ea typeface="PingFang SC"/>
            </a:endParaRPr>
          </a:p>
        </p:txBody>
      </p:sp>
      <p:sp>
        <p:nvSpPr>
          <p:cNvPr id="370" name="fig02-card"/>
          <p:cNvSpPr/>
          <p:nvPr/>
        </p:nvSpPr>
        <p:spPr>
          <a:xfrm>
            <a:off x="7858080" y="11772720"/>
            <a:ext cx="3000240" cy="1028880"/>
          </a:xfrm>
          <a:prstGeom prst="roundRect">
            <a:avLst/>
          </a:prstGeom>
          <a:solidFill>
            <a:srgbClr val="fff8e7"/>
          </a:solidFill>
          <a:ln w="11520">
            <a:solidFill>
              <a:srgbClr val="e8a020"/>
            </a:solidFill>
            <a:round/>
          </a:ln>
        </p:spPr>
        <p:txBody>
          <a:bodyPr lIns="95760" rIns="95760" tIns="50760" bIns="5076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1" name="fig02-card"/>
          <p:cNvSpPr/>
          <p:nvPr/>
        </p:nvSpPr>
        <p:spPr>
          <a:xfrm>
            <a:off x="7991640" y="11906280"/>
            <a:ext cx="1228680" cy="190440"/>
          </a:xfrm>
          <a:prstGeom prst="roundRect">
            <a:avLst/>
          </a:prstGeom>
          <a:solidFill>
            <a:srgbClr val="fcf4e4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2" name="fig02-text-156"/>
          <p:cNvSpPr txBox="1"/>
          <p:nvPr/>
        </p:nvSpPr>
        <p:spPr>
          <a:xfrm>
            <a:off x="8077320" y="11957760"/>
            <a:ext cx="925560" cy="1114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750" spc="-1" strike="noStrike">
                <a:solidFill>
                  <a:srgbClr val="e8a020"/>
                </a:solidFill>
                <a:latin typeface="IBM Plex Mono"/>
              </a:rPr>
              <a:t>INVENTORY BATCH</a:t>
            </a:r>
            <a:endParaRPr b="1" lang="en-US" sz="750" spc="-1" strike="noStrike">
              <a:solidFill>
                <a:srgbClr val="e8a020"/>
              </a:solidFill>
              <a:latin typeface="IBM Plex Mono"/>
              <a:ea typeface="IBM Plex Mono"/>
            </a:endParaRPr>
          </a:p>
        </p:txBody>
      </p:sp>
      <p:sp>
        <p:nvSpPr>
          <p:cNvPr id="373" name="fig02-text-157"/>
          <p:cNvSpPr txBox="1"/>
          <p:nvPr/>
        </p:nvSpPr>
        <p:spPr>
          <a:xfrm>
            <a:off x="8001000" y="12120480"/>
            <a:ext cx="2714760" cy="421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zh-CN" sz="1130" spc="-1" strike="noStrike">
                <a:solidFill>
                  <a:srgbClr val="161a25"/>
                </a:solidFill>
                <a:latin typeface="PingFang SC"/>
              </a:rPr>
              <a:t>库存批次 </a:t>
            </a:r>
            <a:r>
              <a:rPr b="1" lang="en-US" sz="1130" spc="-1" strike="noStrike">
                <a:solidFill>
                  <a:srgbClr val="161a25"/>
                </a:solidFill>
                <a:latin typeface="PingFang SC"/>
              </a:rPr>
              <a:t>/ </a:t>
            </a:r>
            <a:r>
              <a:rPr b="1" lang="zh-CN" sz="1130" spc="-1" strike="noStrike">
                <a:solidFill>
                  <a:srgbClr val="161a25"/>
                </a:solidFill>
                <a:latin typeface="PingFang SC"/>
              </a:rPr>
              <a:t>台账事件</a:t>
            </a:r>
            <a:endParaRPr b="1" lang="en-US" sz="1130" spc="-1" strike="noStrike">
              <a:solidFill>
                <a:srgbClr val="161a25"/>
              </a:solidFill>
              <a:latin typeface="PingFang SC"/>
              <a:ea typeface="PingFang SC"/>
            </a:endParaRPr>
          </a:p>
        </p:txBody>
      </p:sp>
      <p:sp>
        <p:nvSpPr>
          <p:cNvPr id="374" name="fig02-text-158"/>
          <p:cNvSpPr txBox="1"/>
          <p:nvPr/>
        </p:nvSpPr>
        <p:spPr>
          <a:xfrm>
            <a:off x="8001000" y="12318840"/>
            <a:ext cx="2714760" cy="752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zh-CN" sz="900" spc="-1" strike="noStrike">
                <a:solidFill>
                  <a:srgbClr val="667085"/>
                </a:solidFill>
                <a:latin typeface="PingFang SC"/>
              </a:rPr>
              <a:t>地点 </a:t>
            </a:r>
            <a:r>
              <a:rPr b="0" lang="en-US" sz="900" spc="-1" strike="noStrike">
                <a:solidFill>
                  <a:srgbClr val="667085"/>
                </a:solidFill>
                <a:latin typeface="PingFang SC"/>
              </a:rPr>
              <a:t>/ </a:t>
            </a:r>
            <a:r>
              <a:rPr b="0" lang="zh-CN" sz="900" spc="-1" strike="noStrike">
                <a:solidFill>
                  <a:srgbClr val="667085"/>
                </a:solidFill>
                <a:latin typeface="PingFang SC"/>
              </a:rPr>
              <a:t>批次 </a:t>
            </a:r>
            <a:r>
              <a:rPr b="0" lang="en-US" sz="900" spc="-1" strike="noStrike">
                <a:solidFill>
                  <a:srgbClr val="667085"/>
                </a:solidFill>
                <a:latin typeface="PingFang SC"/>
              </a:rPr>
              <a:t>/ </a:t>
            </a:r>
            <a:r>
              <a:rPr b="0" lang="zh-CN" sz="900" spc="-1" strike="noStrike">
                <a:solidFill>
                  <a:srgbClr val="667085"/>
                </a:solidFill>
                <a:latin typeface="PingFang SC"/>
              </a:rPr>
              <a:t>效期 </a:t>
            </a:r>
            <a:r>
              <a:rPr b="0" lang="en-US" sz="900" spc="-1" strike="noStrike">
                <a:solidFill>
                  <a:srgbClr val="667085"/>
                </a:solidFill>
                <a:latin typeface="PingFang SC"/>
              </a:rPr>
              <a:t>/ </a:t>
            </a:r>
            <a:r>
              <a:rPr b="0" lang="zh-CN" sz="900" spc="-1" strike="noStrike">
                <a:solidFill>
                  <a:srgbClr val="667085"/>
                </a:solidFill>
                <a:latin typeface="PingFang SC"/>
              </a:rPr>
              <a:t>质量状态 </a:t>
            </a:r>
            <a:r>
              <a:rPr b="0" lang="en-US" sz="900" spc="-1" strike="noStrike">
                <a:solidFill>
                  <a:srgbClr val="667085"/>
                </a:solidFill>
                <a:latin typeface="PingFang SC"/>
              </a:rPr>
              <a:t>/ </a:t>
            </a:r>
            <a:r>
              <a:rPr b="0" lang="zh-CN" sz="900" spc="-1" strike="noStrike">
                <a:solidFill>
                  <a:srgbClr val="667085"/>
                </a:solidFill>
                <a:latin typeface="PingFang SC"/>
              </a:rPr>
              <a:t>可用量</a:t>
            </a:r>
            <a:endParaRPr b="0" lang="en-US" sz="900" spc="-1" strike="noStrike">
              <a:solidFill>
                <a:srgbClr val="667085"/>
              </a:solidFill>
              <a:latin typeface="PingFang SC"/>
              <a:ea typeface="PingFang SC"/>
            </a:endParaRPr>
          </a:p>
        </p:txBody>
      </p:sp>
      <p:sp>
        <p:nvSpPr>
          <p:cNvPr id="375" name="fig02-card"/>
          <p:cNvSpPr/>
          <p:nvPr/>
        </p:nvSpPr>
        <p:spPr>
          <a:xfrm>
            <a:off x="571680" y="13430160"/>
            <a:ext cx="2571840" cy="1028880"/>
          </a:xfrm>
          <a:prstGeom prst="roundRect">
            <a:avLst/>
          </a:prstGeom>
          <a:solidFill>
            <a:srgbClr val="fff8e7"/>
          </a:solidFill>
          <a:ln w="11520">
            <a:solidFill>
              <a:srgbClr val="e8a020"/>
            </a:solidFill>
            <a:round/>
          </a:ln>
        </p:spPr>
        <p:txBody>
          <a:bodyPr lIns="95760" rIns="95760" tIns="50760" bIns="5076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6" name="fig02-card"/>
          <p:cNvSpPr/>
          <p:nvPr/>
        </p:nvSpPr>
        <p:spPr>
          <a:xfrm>
            <a:off x="704880" y="13563720"/>
            <a:ext cx="946800" cy="190440"/>
          </a:xfrm>
          <a:prstGeom prst="roundRect">
            <a:avLst/>
          </a:prstGeom>
          <a:solidFill>
            <a:srgbClr val="fcf4e4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7" name="fig02-text-161"/>
          <p:cNvSpPr txBox="1"/>
          <p:nvPr/>
        </p:nvSpPr>
        <p:spPr>
          <a:xfrm>
            <a:off x="790560" y="13615200"/>
            <a:ext cx="686520" cy="1114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750" spc="-1" strike="noStrike">
                <a:solidFill>
                  <a:srgbClr val="e8a020"/>
                </a:solidFill>
                <a:latin typeface="IBM Plex Mono"/>
              </a:rPr>
              <a:t>SUPPLIER PO</a:t>
            </a:r>
            <a:endParaRPr b="1" lang="en-US" sz="750" spc="-1" strike="noStrike">
              <a:solidFill>
                <a:srgbClr val="e8a020"/>
              </a:solidFill>
              <a:latin typeface="IBM Plex Mono"/>
              <a:ea typeface="IBM Plex Mono"/>
            </a:endParaRPr>
          </a:p>
        </p:txBody>
      </p:sp>
      <p:sp>
        <p:nvSpPr>
          <p:cNvPr id="378" name="fig02-text-162"/>
          <p:cNvSpPr txBox="1"/>
          <p:nvPr/>
        </p:nvSpPr>
        <p:spPr>
          <a:xfrm>
            <a:off x="714240" y="13777920"/>
            <a:ext cx="2286000" cy="421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zh-CN" sz="1130" spc="-1" strike="noStrike">
                <a:solidFill>
                  <a:srgbClr val="161a25"/>
                </a:solidFill>
                <a:latin typeface="PingFang SC"/>
              </a:rPr>
              <a:t>供应商采购订单</a:t>
            </a:r>
            <a:endParaRPr b="1" lang="en-US" sz="1130" spc="-1" strike="noStrike">
              <a:solidFill>
                <a:srgbClr val="161a25"/>
              </a:solidFill>
              <a:latin typeface="PingFang SC"/>
              <a:ea typeface="PingFang SC"/>
            </a:endParaRPr>
          </a:p>
        </p:txBody>
      </p:sp>
      <p:sp>
        <p:nvSpPr>
          <p:cNvPr id="379" name="fig02-text-163"/>
          <p:cNvSpPr txBox="1"/>
          <p:nvPr/>
        </p:nvSpPr>
        <p:spPr>
          <a:xfrm>
            <a:off x="714240" y="13975920"/>
            <a:ext cx="2286000" cy="1082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900" spc="-1" strike="noStrike">
                <a:solidFill>
                  <a:srgbClr val="667085"/>
                </a:solidFill>
                <a:latin typeface="PingFang SC"/>
              </a:rPr>
              <a:t>PO </a:t>
            </a:r>
            <a:r>
              <a:rPr b="0" lang="zh-CN" sz="900" spc="-1" strike="noStrike">
                <a:solidFill>
                  <a:srgbClr val="667085"/>
                </a:solidFill>
                <a:latin typeface="PingFang SC"/>
              </a:rPr>
              <a:t>头 </a:t>
            </a:r>
            <a:r>
              <a:rPr b="0" lang="en-US" sz="900" spc="-1" strike="noStrike">
                <a:solidFill>
                  <a:srgbClr val="667085"/>
                </a:solidFill>
                <a:latin typeface="PingFang SC"/>
              </a:rPr>
              <a:t>/ </a:t>
            </a:r>
            <a:r>
              <a:rPr b="0" lang="zh-CN" sz="900" spc="-1" strike="noStrike">
                <a:solidFill>
                  <a:srgbClr val="667085"/>
                </a:solidFill>
                <a:latin typeface="PingFang SC"/>
              </a:rPr>
              <a:t>行；请购、下达、确认、收货、关闭</a:t>
            </a:r>
            <a:endParaRPr b="0" lang="en-US" sz="900" spc="-1" strike="noStrike">
              <a:solidFill>
                <a:srgbClr val="667085"/>
              </a:solidFill>
              <a:latin typeface="PingFang SC"/>
              <a:ea typeface="PingFang SC"/>
            </a:endParaRPr>
          </a:p>
        </p:txBody>
      </p:sp>
      <p:sp>
        <p:nvSpPr>
          <p:cNvPr id="380" name="fig02-card"/>
          <p:cNvSpPr/>
          <p:nvPr/>
        </p:nvSpPr>
        <p:spPr>
          <a:xfrm>
            <a:off x="3857760" y="13430160"/>
            <a:ext cx="2571840" cy="1028880"/>
          </a:xfrm>
          <a:prstGeom prst="roundRect">
            <a:avLst/>
          </a:prstGeom>
          <a:solidFill>
            <a:srgbClr val="fff8e7"/>
          </a:solidFill>
          <a:ln w="11520">
            <a:solidFill>
              <a:srgbClr val="e8a020"/>
            </a:solidFill>
            <a:round/>
          </a:ln>
        </p:spPr>
        <p:txBody>
          <a:bodyPr lIns="95760" rIns="95760" tIns="50760" bIns="5076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1" name="fig02-card"/>
          <p:cNvSpPr/>
          <p:nvPr/>
        </p:nvSpPr>
        <p:spPr>
          <a:xfrm>
            <a:off x="3990960" y="13563720"/>
            <a:ext cx="857160" cy="190440"/>
          </a:xfrm>
          <a:prstGeom prst="roundRect">
            <a:avLst/>
          </a:prstGeom>
          <a:solidFill>
            <a:srgbClr val="fcf4e4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2" name="fig02-text-166"/>
          <p:cNvSpPr txBox="1"/>
          <p:nvPr/>
        </p:nvSpPr>
        <p:spPr>
          <a:xfrm>
            <a:off x="4076640" y="13615200"/>
            <a:ext cx="594720" cy="1114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750" spc="-1" strike="noStrike">
                <a:solidFill>
                  <a:srgbClr val="e8a020"/>
                </a:solidFill>
                <a:latin typeface="IBM Plex Mono"/>
              </a:rPr>
              <a:t>RECEIVING</a:t>
            </a:r>
            <a:endParaRPr b="1" lang="en-US" sz="750" spc="-1" strike="noStrike">
              <a:solidFill>
                <a:srgbClr val="e8a020"/>
              </a:solidFill>
              <a:latin typeface="IBM Plex Mono"/>
              <a:ea typeface="IBM Plex Mono"/>
            </a:endParaRPr>
          </a:p>
        </p:txBody>
      </p:sp>
      <p:sp>
        <p:nvSpPr>
          <p:cNvPr id="383" name="fig02-text-167"/>
          <p:cNvSpPr txBox="1"/>
          <p:nvPr/>
        </p:nvSpPr>
        <p:spPr>
          <a:xfrm>
            <a:off x="4000320" y="13777920"/>
            <a:ext cx="2286000" cy="421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zh-CN" sz="1130" spc="-1" strike="noStrike">
                <a:solidFill>
                  <a:srgbClr val="161a25"/>
                </a:solidFill>
                <a:latin typeface="PingFang SC"/>
              </a:rPr>
              <a:t>收货、验收与入库</a:t>
            </a:r>
            <a:endParaRPr b="1" lang="en-US" sz="1130" spc="-1" strike="noStrike">
              <a:solidFill>
                <a:srgbClr val="161a25"/>
              </a:solidFill>
              <a:latin typeface="PingFang SC"/>
              <a:ea typeface="PingFang SC"/>
            </a:endParaRPr>
          </a:p>
        </p:txBody>
      </p:sp>
      <p:sp>
        <p:nvSpPr>
          <p:cNvPr id="384" name="fig02-text-168"/>
          <p:cNvSpPr txBox="1"/>
          <p:nvPr/>
        </p:nvSpPr>
        <p:spPr>
          <a:xfrm>
            <a:off x="4000320" y="13975920"/>
            <a:ext cx="2286000" cy="1082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zh-CN" sz="900" spc="-1" strike="noStrike">
                <a:solidFill>
                  <a:srgbClr val="667085"/>
                </a:solidFill>
                <a:latin typeface="PingFang SC"/>
              </a:rPr>
              <a:t>收货 ≠ 验收 ≠ 入库；不合格 </a:t>
            </a:r>
            <a:r>
              <a:rPr b="0" lang="en-US" sz="900" spc="-1" strike="noStrike">
                <a:solidFill>
                  <a:srgbClr val="667085"/>
                </a:solidFill>
                <a:latin typeface="PingFang SC"/>
              </a:rPr>
              <a:t>/ </a:t>
            </a:r>
            <a:r>
              <a:rPr b="0" lang="zh-CN" sz="900" spc="-1" strike="noStrike">
                <a:solidFill>
                  <a:srgbClr val="667085"/>
                </a:solidFill>
                <a:latin typeface="PingFang SC"/>
              </a:rPr>
              <a:t>退货可追溯</a:t>
            </a:r>
            <a:endParaRPr b="0" lang="en-US" sz="900" spc="-1" strike="noStrike">
              <a:solidFill>
                <a:srgbClr val="667085"/>
              </a:solidFill>
              <a:latin typeface="PingFang SC"/>
              <a:ea typeface="PingFang SC"/>
            </a:endParaRPr>
          </a:p>
        </p:txBody>
      </p:sp>
      <p:sp>
        <p:nvSpPr>
          <p:cNvPr id="385" name="fig02-card"/>
          <p:cNvSpPr/>
          <p:nvPr/>
        </p:nvSpPr>
        <p:spPr>
          <a:xfrm>
            <a:off x="7143840" y="13430160"/>
            <a:ext cx="3714840" cy="1028880"/>
          </a:xfrm>
          <a:prstGeom prst="roundRect">
            <a:avLst/>
          </a:prstGeom>
          <a:solidFill>
            <a:srgbClr val="ecfbf4"/>
          </a:solidFill>
          <a:ln w="11520">
            <a:solidFill>
              <a:srgbClr val="28cc83"/>
            </a:solidFill>
            <a:round/>
          </a:ln>
        </p:spPr>
        <p:txBody>
          <a:bodyPr lIns="95760" rIns="95760" tIns="50760" bIns="5076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6" name="fig02-card"/>
          <p:cNvSpPr/>
          <p:nvPr/>
        </p:nvSpPr>
        <p:spPr>
          <a:xfrm>
            <a:off x="7277040" y="13563720"/>
            <a:ext cx="1510560" cy="190440"/>
          </a:xfrm>
          <a:prstGeom prst="roundRect">
            <a:avLst/>
          </a:prstGeom>
          <a:solidFill>
            <a:srgbClr val="e5f9f0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7" name="fig02-text-171"/>
          <p:cNvSpPr txBox="1"/>
          <p:nvPr/>
        </p:nvSpPr>
        <p:spPr>
          <a:xfrm>
            <a:off x="7362720" y="13615200"/>
            <a:ext cx="1136880" cy="1114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750" spc="-1" strike="noStrike">
                <a:solidFill>
                  <a:srgbClr val="28cc83"/>
                </a:solidFill>
                <a:latin typeface="IBM Plex Mono"/>
              </a:rPr>
              <a:t>DELIVERY &amp; FEEDBACK</a:t>
            </a:r>
            <a:endParaRPr b="1" lang="en-US" sz="750" spc="-1" strike="noStrike">
              <a:solidFill>
                <a:srgbClr val="28cc83"/>
              </a:solidFill>
              <a:latin typeface="IBM Plex Mono"/>
              <a:ea typeface="IBM Plex Mono"/>
            </a:endParaRPr>
          </a:p>
        </p:txBody>
      </p:sp>
      <p:sp>
        <p:nvSpPr>
          <p:cNvPr id="388" name="fig02-text-172"/>
          <p:cNvSpPr txBox="1"/>
          <p:nvPr/>
        </p:nvSpPr>
        <p:spPr>
          <a:xfrm>
            <a:off x="7286760" y="13641840"/>
            <a:ext cx="3429000" cy="421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zh-CN" sz="1130" spc="-1" strike="noStrike">
                <a:solidFill>
                  <a:srgbClr val="161a25"/>
                </a:solidFill>
                <a:latin typeface="PingFang SC"/>
              </a:rPr>
              <a:t>配送 </a:t>
            </a:r>
            <a:r>
              <a:rPr b="1" lang="en-US" sz="1130" spc="-1" strike="noStrike">
                <a:solidFill>
                  <a:srgbClr val="161a25"/>
                </a:solidFill>
                <a:latin typeface="PingFang SC"/>
              </a:rPr>
              <a:t>/ </a:t>
            </a:r>
            <a:r>
              <a:rPr b="1" lang="zh-CN" sz="1130" spc="-1" strike="noStrike">
                <a:solidFill>
                  <a:srgbClr val="161a25"/>
                </a:solidFill>
                <a:latin typeface="PingFang SC"/>
              </a:rPr>
              <a:t>交付 </a:t>
            </a:r>
            <a:r>
              <a:rPr b="1" lang="en-US" sz="1130" spc="-1" strike="noStrike">
                <a:solidFill>
                  <a:srgbClr val="161a25"/>
                </a:solidFill>
                <a:latin typeface="PingFang SC"/>
              </a:rPr>
              <a:t>/ </a:t>
            </a:r>
            <a:r>
              <a:rPr b="1" lang="zh-CN" sz="1130" spc="-1" strike="noStrike">
                <a:solidFill>
                  <a:srgbClr val="161a25"/>
                </a:solidFill>
                <a:latin typeface="PingFang SC"/>
              </a:rPr>
              <a:t>反馈</a:t>
            </a:r>
            <a:endParaRPr b="1" lang="en-US" sz="1130" spc="-1" strike="noStrike">
              <a:solidFill>
                <a:srgbClr val="161a25"/>
              </a:solidFill>
              <a:latin typeface="PingFang SC"/>
              <a:ea typeface="PingFang SC"/>
            </a:endParaRPr>
          </a:p>
        </p:txBody>
      </p:sp>
      <p:sp>
        <p:nvSpPr>
          <p:cNvPr id="389" name="fig02-text-173"/>
          <p:cNvSpPr txBox="1"/>
          <p:nvPr/>
        </p:nvSpPr>
        <p:spPr>
          <a:xfrm>
            <a:off x="7286760" y="13839840"/>
            <a:ext cx="3429000" cy="752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zh-CN" sz="900" spc="-1" strike="noStrike">
                <a:solidFill>
                  <a:srgbClr val="667085"/>
                </a:solidFill>
                <a:latin typeface="PingFang SC"/>
              </a:rPr>
              <a:t>订单行 </a:t>
            </a:r>
            <a:r>
              <a:rPr b="0" lang="en-US" sz="900" spc="-1" strike="noStrike">
                <a:solidFill>
                  <a:srgbClr val="667085"/>
                </a:solidFill>
                <a:latin typeface="PingFang SC"/>
              </a:rPr>
              <a:t>/ </a:t>
            </a:r>
            <a:r>
              <a:rPr b="0" lang="zh-CN" sz="900" spc="-1" strike="noStrike">
                <a:solidFill>
                  <a:srgbClr val="667085"/>
                </a:solidFill>
                <a:latin typeface="PingFang SC"/>
              </a:rPr>
              <a:t>路线 </a:t>
            </a:r>
            <a:r>
              <a:rPr b="0" lang="en-US" sz="900" spc="-1" strike="noStrike">
                <a:solidFill>
                  <a:srgbClr val="667085"/>
                </a:solidFill>
                <a:latin typeface="PingFang SC"/>
              </a:rPr>
              <a:t>/ </a:t>
            </a:r>
            <a:r>
              <a:rPr b="0" lang="zh-CN" sz="900" spc="-1" strike="noStrike">
                <a:solidFill>
                  <a:srgbClr val="667085"/>
                </a:solidFill>
                <a:latin typeface="PingFang SC"/>
              </a:rPr>
              <a:t>批次可追溯；反馈指向发生对象</a:t>
            </a:r>
            <a:endParaRPr b="0" lang="en-US" sz="900" spc="-1" strike="noStrike">
              <a:solidFill>
                <a:srgbClr val="667085"/>
              </a:solidFill>
              <a:latin typeface="PingFang SC"/>
              <a:ea typeface="PingFang SC"/>
            </a:endParaRPr>
          </a:p>
        </p:txBody>
      </p:sp>
      <p:sp>
        <p:nvSpPr>
          <p:cNvPr id="390" name="fig02-order-demand"/>
          <p:cNvSpPr/>
          <p:nvPr/>
        </p:nvSpPr>
        <p:spPr>
          <a:xfrm>
            <a:off x="2523960" y="12287160"/>
            <a:ext cx="476280" cy="0"/>
          </a:xfrm>
          <a:prstGeom prst="line">
            <a:avLst/>
          </a:prstGeom>
          <a:ln w="16200">
            <a:solidFill>
              <a:srgbClr val="2d8e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7920" rIns="97920" tIns="-52920" bIns="-5292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1" name="fig02-order-demand-head"/>
          <p:cNvSpPr/>
          <p:nvPr/>
        </p:nvSpPr>
        <p:spPr>
          <a:xfrm>
            <a:off x="2914560" y="12251160"/>
            <a:ext cx="85680" cy="72000"/>
          </a:xfrm>
          <a:custGeom>
            <a:avLst/>
            <a:gdLst/>
            <a:ahLst/>
            <a:rect l="0" t="0" r="r" b="b"/>
            <a:pathLst>
              <a:path w="238" h="200">
                <a:moveTo>
                  <a:pt x="238" y="100"/>
                </a:moveTo>
                <a:lnTo>
                  <a:pt x="0" y="200"/>
                </a:lnTo>
                <a:lnTo>
                  <a:pt x="0" y="0"/>
                </a:lnTo>
                <a:lnTo>
                  <a:pt x="238" y="100"/>
                </a:lnTo>
                <a:close/>
              </a:path>
            </a:pathLst>
          </a:custGeom>
          <a:solidFill>
            <a:srgbClr val="2d8eff"/>
          </a:solidFill>
          <a:ln w="0">
            <a:noFill/>
          </a:ln>
        </p:spPr>
        <p:txBody>
          <a:bodyPr lIns="90000" rIns="90000" tIns="27000" bIns="27000" anchor="ctr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92" name="fig02-175-chip"/>
          <p:cNvSpPr/>
          <p:nvPr/>
        </p:nvSpPr>
        <p:spPr>
          <a:xfrm>
            <a:off x="2311560" y="12071880"/>
            <a:ext cx="901080" cy="171360"/>
          </a:xfrm>
          <a:prstGeom prst="roundRect">
            <a:avLst/>
          </a:prstGeom>
          <a:solidFill>
            <a:srgbClr val="ffffff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3" name="fig02-text-175"/>
          <p:cNvSpPr txBox="1"/>
          <p:nvPr/>
        </p:nvSpPr>
        <p:spPr>
          <a:xfrm>
            <a:off x="2368800" y="12090960"/>
            <a:ext cx="786960" cy="1008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algn="ctr"/>
            <a:r>
              <a:rPr b="1" lang="en-US" sz="750" spc="-1" strike="noStrike">
                <a:solidFill>
                  <a:srgbClr val="667085"/>
                </a:solidFill>
                <a:latin typeface="PingFang SC"/>
              </a:rPr>
              <a:t>M:N · </a:t>
            </a:r>
            <a:r>
              <a:rPr b="1" lang="zh-CN" sz="750" spc="-1" strike="noStrike">
                <a:solidFill>
                  <a:srgbClr val="667085"/>
                </a:solidFill>
                <a:latin typeface="PingFang SC"/>
              </a:rPr>
              <a:t>需求归集</a:t>
            </a:r>
            <a:endParaRPr b="1" lang="en-US" sz="750" spc="-1" strike="noStrike">
              <a:solidFill>
                <a:srgbClr val="667085"/>
              </a:solidFill>
              <a:latin typeface="PingFang SC"/>
              <a:ea typeface="PingFang SC"/>
            </a:endParaRPr>
          </a:p>
        </p:txBody>
      </p:sp>
      <p:sp>
        <p:nvSpPr>
          <p:cNvPr id="394" name="fig02-demand-batch"/>
          <p:cNvSpPr/>
          <p:nvPr/>
        </p:nvSpPr>
        <p:spPr>
          <a:xfrm>
            <a:off x="4952880" y="12287160"/>
            <a:ext cx="476280" cy="0"/>
          </a:xfrm>
          <a:prstGeom prst="line">
            <a:avLst/>
          </a:prstGeom>
          <a:ln w="16200">
            <a:solidFill>
              <a:srgbClr val="28cc8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7920" rIns="97920" tIns="-52920" bIns="-5292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5" name="fig02-demand-batch-head"/>
          <p:cNvSpPr/>
          <p:nvPr/>
        </p:nvSpPr>
        <p:spPr>
          <a:xfrm>
            <a:off x="5343480" y="12251160"/>
            <a:ext cx="85680" cy="72000"/>
          </a:xfrm>
          <a:custGeom>
            <a:avLst/>
            <a:gdLst/>
            <a:ahLst/>
            <a:rect l="0" t="0" r="r" b="b"/>
            <a:pathLst>
              <a:path w="238" h="200">
                <a:moveTo>
                  <a:pt x="238" y="100"/>
                </a:moveTo>
                <a:lnTo>
                  <a:pt x="0" y="200"/>
                </a:lnTo>
                <a:lnTo>
                  <a:pt x="0" y="0"/>
                </a:lnTo>
                <a:lnTo>
                  <a:pt x="238" y="100"/>
                </a:lnTo>
                <a:close/>
              </a:path>
            </a:pathLst>
          </a:custGeom>
          <a:solidFill>
            <a:srgbClr val="28cc83"/>
          </a:solidFill>
          <a:ln w="0">
            <a:noFill/>
          </a:ln>
        </p:spPr>
        <p:txBody>
          <a:bodyPr lIns="90000" rIns="90000" tIns="27000" bIns="27000" anchor="ctr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96" name="fig02-177-chip"/>
          <p:cNvSpPr/>
          <p:nvPr/>
        </p:nvSpPr>
        <p:spPr>
          <a:xfrm>
            <a:off x="4740480" y="12071880"/>
            <a:ext cx="901080" cy="171360"/>
          </a:xfrm>
          <a:prstGeom prst="roundRect">
            <a:avLst/>
          </a:prstGeom>
          <a:solidFill>
            <a:srgbClr val="ffffff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7" name="fig02-text-177"/>
          <p:cNvSpPr txBox="1"/>
          <p:nvPr/>
        </p:nvSpPr>
        <p:spPr>
          <a:xfrm>
            <a:off x="4797720" y="12090960"/>
            <a:ext cx="786960" cy="1008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algn="ctr"/>
            <a:r>
              <a:rPr b="1" lang="en-US" sz="750" spc="-1" strike="noStrike">
                <a:solidFill>
                  <a:srgbClr val="667085"/>
                </a:solidFill>
                <a:latin typeface="PingFang SC"/>
              </a:rPr>
              <a:t>M:N · </a:t>
            </a:r>
            <a:r>
              <a:rPr b="1" lang="zh-CN" sz="750" spc="-1" strike="noStrike">
                <a:solidFill>
                  <a:srgbClr val="667085"/>
                </a:solidFill>
                <a:latin typeface="PingFang SC"/>
              </a:rPr>
              <a:t>生产分配</a:t>
            </a:r>
            <a:endParaRPr b="1" lang="en-US" sz="750" spc="-1" strike="noStrike">
              <a:solidFill>
                <a:srgbClr val="667085"/>
              </a:solidFill>
              <a:latin typeface="PingFang SC"/>
              <a:ea typeface="PingFang SC"/>
            </a:endParaRPr>
          </a:p>
        </p:txBody>
      </p:sp>
      <p:sp>
        <p:nvSpPr>
          <p:cNvPr id="398" name="fig02-batch-inventory"/>
          <p:cNvSpPr/>
          <p:nvPr/>
        </p:nvSpPr>
        <p:spPr>
          <a:xfrm>
            <a:off x="7381800" y="12287160"/>
            <a:ext cx="476280" cy="0"/>
          </a:xfrm>
          <a:prstGeom prst="line">
            <a:avLst/>
          </a:prstGeom>
          <a:ln w="16200">
            <a:solidFill>
              <a:srgbClr val="e8a02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7920" rIns="97920" tIns="-52920" bIns="-5292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9" name="fig02-batch-inventory-head"/>
          <p:cNvSpPr/>
          <p:nvPr/>
        </p:nvSpPr>
        <p:spPr>
          <a:xfrm>
            <a:off x="7772400" y="12251160"/>
            <a:ext cx="85680" cy="72000"/>
          </a:xfrm>
          <a:custGeom>
            <a:avLst/>
            <a:gdLst/>
            <a:ahLst/>
            <a:rect l="0" t="0" r="r" b="b"/>
            <a:pathLst>
              <a:path w="238" h="200">
                <a:moveTo>
                  <a:pt x="238" y="100"/>
                </a:moveTo>
                <a:lnTo>
                  <a:pt x="0" y="200"/>
                </a:lnTo>
                <a:lnTo>
                  <a:pt x="0" y="0"/>
                </a:lnTo>
                <a:lnTo>
                  <a:pt x="238" y="100"/>
                </a:lnTo>
                <a:close/>
              </a:path>
            </a:pathLst>
          </a:custGeom>
          <a:solidFill>
            <a:srgbClr val="e8a020"/>
          </a:solidFill>
          <a:ln w="0">
            <a:noFill/>
          </a:ln>
        </p:spPr>
        <p:txBody>
          <a:bodyPr lIns="90000" rIns="90000" tIns="27000" bIns="2700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0" name="fig02-179-chip"/>
          <p:cNvSpPr/>
          <p:nvPr/>
        </p:nvSpPr>
        <p:spPr>
          <a:xfrm>
            <a:off x="7107480" y="12071880"/>
            <a:ext cx="1024920" cy="171360"/>
          </a:xfrm>
          <a:prstGeom prst="roundRect">
            <a:avLst/>
          </a:prstGeom>
          <a:solidFill>
            <a:srgbClr val="ffffff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1" name="fig02-text-179"/>
          <p:cNvSpPr txBox="1"/>
          <p:nvPr/>
        </p:nvSpPr>
        <p:spPr>
          <a:xfrm>
            <a:off x="7164720" y="12090960"/>
            <a:ext cx="910440" cy="1008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algn="ctr"/>
            <a:r>
              <a:rPr b="1" lang="en-US" sz="750" spc="-1" strike="noStrike">
                <a:solidFill>
                  <a:srgbClr val="667085"/>
                </a:solidFill>
                <a:latin typeface="PingFang SC"/>
              </a:rPr>
              <a:t>M:N · </a:t>
            </a:r>
            <a:r>
              <a:rPr b="1" lang="zh-CN" sz="750" spc="-1" strike="noStrike">
                <a:solidFill>
                  <a:srgbClr val="667085"/>
                </a:solidFill>
                <a:latin typeface="PingFang SC"/>
              </a:rPr>
              <a:t>领料 </a:t>
            </a:r>
            <a:r>
              <a:rPr b="1" lang="en-US" sz="750" spc="-1" strike="noStrike">
                <a:solidFill>
                  <a:srgbClr val="667085"/>
                </a:solidFill>
                <a:latin typeface="PingFang SC"/>
              </a:rPr>
              <a:t>/ </a:t>
            </a:r>
            <a:r>
              <a:rPr b="1" lang="zh-CN" sz="750" spc="-1" strike="noStrike">
                <a:solidFill>
                  <a:srgbClr val="667085"/>
                </a:solidFill>
                <a:latin typeface="PingFang SC"/>
              </a:rPr>
              <a:t>产出</a:t>
            </a:r>
            <a:endParaRPr b="1" lang="en-US" sz="750" spc="-1" strike="noStrike">
              <a:solidFill>
                <a:srgbClr val="667085"/>
              </a:solidFill>
              <a:latin typeface="PingFang SC"/>
              <a:ea typeface="PingFang SC"/>
            </a:endParaRPr>
          </a:p>
        </p:txBody>
      </p:sp>
      <p:sp>
        <p:nvSpPr>
          <p:cNvPr id="402" name="fig02-po-receipt"/>
          <p:cNvSpPr/>
          <p:nvPr/>
        </p:nvSpPr>
        <p:spPr>
          <a:xfrm>
            <a:off x="3143160" y="13944600"/>
            <a:ext cx="714600" cy="0"/>
          </a:xfrm>
          <a:prstGeom prst="line">
            <a:avLst/>
          </a:prstGeom>
          <a:ln w="16200">
            <a:solidFill>
              <a:srgbClr val="e8a02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7920" rIns="97920" tIns="-52920" bIns="-5292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3" name="fig02-po-receipt-head"/>
          <p:cNvSpPr/>
          <p:nvPr/>
        </p:nvSpPr>
        <p:spPr>
          <a:xfrm>
            <a:off x="3772080" y="13908600"/>
            <a:ext cx="85680" cy="72000"/>
          </a:xfrm>
          <a:custGeom>
            <a:avLst/>
            <a:gdLst/>
            <a:ahLst/>
            <a:rect l="0" t="0" r="r" b="b"/>
            <a:pathLst>
              <a:path w="238" h="200">
                <a:moveTo>
                  <a:pt x="238" y="100"/>
                </a:moveTo>
                <a:lnTo>
                  <a:pt x="0" y="200"/>
                </a:lnTo>
                <a:lnTo>
                  <a:pt x="0" y="0"/>
                </a:lnTo>
                <a:lnTo>
                  <a:pt x="238" y="100"/>
                </a:lnTo>
                <a:close/>
              </a:path>
            </a:pathLst>
          </a:custGeom>
          <a:solidFill>
            <a:srgbClr val="e8a020"/>
          </a:solidFill>
          <a:ln w="0">
            <a:noFill/>
          </a:ln>
        </p:spPr>
        <p:txBody>
          <a:bodyPr lIns="90000" rIns="90000" tIns="27000" bIns="2700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4" name="fig02-181-chip"/>
          <p:cNvSpPr/>
          <p:nvPr/>
        </p:nvSpPr>
        <p:spPr>
          <a:xfrm>
            <a:off x="3281040" y="13729320"/>
            <a:ext cx="429480" cy="171360"/>
          </a:xfrm>
          <a:prstGeom prst="roundRect">
            <a:avLst/>
          </a:prstGeom>
          <a:solidFill>
            <a:srgbClr val="ffffff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5" name="fig02-text-181"/>
          <p:cNvSpPr txBox="1"/>
          <p:nvPr/>
        </p:nvSpPr>
        <p:spPr>
          <a:xfrm>
            <a:off x="3337920" y="13748400"/>
            <a:ext cx="315360" cy="1189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algn="ctr"/>
            <a:r>
              <a:rPr b="1" lang="en-US" sz="750" spc="-1" strike="noStrike">
                <a:solidFill>
                  <a:srgbClr val="667085"/>
                </a:solidFill>
                <a:latin typeface="PingFang SC"/>
              </a:rPr>
              <a:t>PO </a:t>
            </a:r>
            <a:r>
              <a:rPr b="1" lang="zh-CN" sz="750" spc="-1" strike="noStrike">
                <a:solidFill>
                  <a:srgbClr val="667085"/>
                </a:solidFill>
                <a:latin typeface="PingFang SC"/>
              </a:rPr>
              <a:t>行</a:t>
            </a:r>
            <a:endParaRPr b="1" lang="en-US" sz="750" spc="-1" strike="noStrike">
              <a:solidFill>
                <a:srgbClr val="667085"/>
              </a:solidFill>
              <a:latin typeface="PingFang SC"/>
              <a:ea typeface="PingFang SC"/>
            </a:endParaRPr>
          </a:p>
        </p:txBody>
      </p:sp>
      <p:sp>
        <p:nvSpPr>
          <p:cNvPr id="406" name="fig02-receipt-inventory"/>
          <p:cNvSpPr/>
          <p:nvPr/>
        </p:nvSpPr>
        <p:spPr>
          <a:xfrm flipV="1">
            <a:off x="6429240" y="12801600"/>
            <a:ext cx="2143080" cy="1143000"/>
          </a:xfrm>
          <a:prstGeom prst="line">
            <a:avLst/>
          </a:prstGeom>
          <a:ln w="16200">
            <a:solidFill>
              <a:srgbClr val="e8a02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7920" rIns="97920" tIns="52920" bIns="5292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7" name="fig02-receipt-inventory-head"/>
          <p:cNvSpPr/>
          <p:nvPr/>
        </p:nvSpPr>
        <p:spPr>
          <a:xfrm>
            <a:off x="8479800" y="12801600"/>
            <a:ext cx="92520" cy="72000"/>
          </a:xfrm>
          <a:custGeom>
            <a:avLst/>
            <a:gdLst/>
            <a:ahLst/>
            <a:rect l="0" t="0" r="r" b="b"/>
            <a:pathLst>
              <a:path w="257" h="200">
                <a:moveTo>
                  <a:pt x="257" y="0"/>
                </a:moveTo>
                <a:lnTo>
                  <a:pt x="94" y="200"/>
                </a:lnTo>
                <a:lnTo>
                  <a:pt x="0" y="24"/>
                </a:lnTo>
                <a:lnTo>
                  <a:pt x="257" y="0"/>
                </a:lnTo>
                <a:close/>
              </a:path>
            </a:pathLst>
          </a:custGeom>
          <a:solidFill>
            <a:srgbClr val="e8a020"/>
          </a:solidFill>
          <a:ln w="0">
            <a:noFill/>
          </a:ln>
        </p:spPr>
        <p:txBody>
          <a:bodyPr lIns="90000" rIns="90000" tIns="27000" bIns="2700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8" name="fig02-text-183"/>
          <p:cNvSpPr txBox="1"/>
          <p:nvPr/>
        </p:nvSpPr>
        <p:spPr>
          <a:xfrm>
            <a:off x="7286760" y="13506480"/>
            <a:ext cx="3429000" cy="421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algn="ctr"/>
            <a:r>
              <a:rPr b="1" lang="zh-CN" sz="750" spc="-1" strike="noStrike">
                <a:solidFill>
                  <a:srgbClr val="667085"/>
                </a:solidFill>
                <a:latin typeface="PingFang SC"/>
              </a:rPr>
              <a:t>入库批次</a:t>
            </a:r>
            <a:endParaRPr b="1" lang="en-US" sz="750" spc="-1" strike="noStrike">
              <a:solidFill>
                <a:srgbClr val="667085"/>
              </a:solidFill>
              <a:latin typeface="PingFang SC"/>
              <a:ea typeface="PingFang SC"/>
            </a:endParaRPr>
          </a:p>
        </p:txBody>
      </p:sp>
      <p:sp>
        <p:nvSpPr>
          <p:cNvPr id="409" name="fig02-batch-delivery"/>
          <p:cNvSpPr/>
          <p:nvPr/>
        </p:nvSpPr>
        <p:spPr>
          <a:xfrm>
            <a:off x="6400800" y="12801600"/>
            <a:ext cx="2600280" cy="628560"/>
          </a:xfrm>
          <a:prstGeom prst="line">
            <a:avLst/>
          </a:prstGeom>
          <a:ln w="16200">
            <a:solidFill>
              <a:srgbClr val="28cc8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7920" rIns="97920" tIns="52920" bIns="5292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0" name="fig02-batch-delivery-head"/>
          <p:cNvSpPr/>
          <p:nvPr/>
        </p:nvSpPr>
        <p:spPr>
          <a:xfrm>
            <a:off x="8909280" y="13375080"/>
            <a:ext cx="91800" cy="70200"/>
          </a:xfrm>
          <a:custGeom>
            <a:avLst/>
            <a:gdLst/>
            <a:ahLst/>
            <a:rect l="0" t="0" r="r" b="b"/>
            <a:pathLst>
              <a:path w="255" h="195">
                <a:moveTo>
                  <a:pt x="255" y="153"/>
                </a:moveTo>
                <a:lnTo>
                  <a:pt x="0" y="195"/>
                </a:lnTo>
                <a:lnTo>
                  <a:pt x="47" y="0"/>
                </a:lnTo>
                <a:lnTo>
                  <a:pt x="255" y="153"/>
                </a:lnTo>
                <a:close/>
              </a:path>
            </a:pathLst>
          </a:custGeom>
          <a:solidFill>
            <a:srgbClr val="28cc83"/>
          </a:solidFill>
          <a:ln w="0">
            <a:noFill/>
          </a:ln>
        </p:spPr>
        <p:txBody>
          <a:bodyPr lIns="90000" rIns="90000" tIns="25200" bIns="25200" anchor="ctr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11" name="fig02-185-chip"/>
          <p:cNvSpPr/>
          <p:nvPr/>
        </p:nvSpPr>
        <p:spPr>
          <a:xfrm>
            <a:off x="7449480" y="13043520"/>
            <a:ext cx="721800" cy="171360"/>
          </a:xfrm>
          <a:prstGeom prst="roundRect">
            <a:avLst/>
          </a:prstGeom>
          <a:solidFill>
            <a:srgbClr val="ffffff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2" name="fig02-text-185"/>
          <p:cNvSpPr txBox="1"/>
          <p:nvPr/>
        </p:nvSpPr>
        <p:spPr>
          <a:xfrm>
            <a:off x="7506720" y="13062600"/>
            <a:ext cx="607680" cy="1413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algn="ctr"/>
            <a:r>
              <a:rPr b="1" lang="zh-CN" sz="750" spc="-1" strike="noStrike">
                <a:solidFill>
                  <a:srgbClr val="667085"/>
                </a:solidFill>
                <a:latin typeface="PingFang SC"/>
              </a:rPr>
              <a:t>出品 </a:t>
            </a:r>
            <a:r>
              <a:rPr b="1" lang="en-US" sz="750" spc="-1" strike="noStrike">
                <a:solidFill>
                  <a:srgbClr val="667085"/>
                </a:solidFill>
                <a:latin typeface="PingFang SC"/>
              </a:rPr>
              <a:t>/ </a:t>
            </a:r>
            <a:r>
              <a:rPr b="1" lang="zh-CN" sz="750" spc="-1" strike="noStrike">
                <a:solidFill>
                  <a:srgbClr val="667085"/>
                </a:solidFill>
                <a:latin typeface="PingFang SC"/>
              </a:rPr>
              <a:t>交付</a:t>
            </a:r>
            <a:endParaRPr b="1" lang="en-US" sz="750" spc="-1" strike="noStrike">
              <a:solidFill>
                <a:srgbClr val="667085"/>
              </a:solidFill>
              <a:latin typeface="PingFang SC"/>
              <a:ea typeface="PingFang SC"/>
            </a:endParaRPr>
          </a:p>
        </p:txBody>
      </p:sp>
      <p:sp>
        <p:nvSpPr>
          <p:cNvPr id="413" name="fig02-order-delivery"/>
          <p:cNvSpPr/>
          <p:nvPr/>
        </p:nvSpPr>
        <p:spPr>
          <a:xfrm>
            <a:off x="1542960" y="12801600"/>
            <a:ext cx="6553440" cy="628560"/>
          </a:xfrm>
          <a:prstGeom prst="line">
            <a:avLst/>
          </a:prstGeom>
          <a:ln w="16200">
            <a:solidFill>
              <a:srgbClr val="2d8e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7920" rIns="97920" tIns="52920" bIns="5292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4" name="fig02-order-delivery-head"/>
          <p:cNvSpPr/>
          <p:nvPr/>
        </p:nvSpPr>
        <p:spPr>
          <a:xfrm>
            <a:off x="8007480" y="13386240"/>
            <a:ext cx="88920" cy="71640"/>
          </a:xfrm>
          <a:custGeom>
            <a:avLst/>
            <a:gdLst/>
            <a:ahLst/>
            <a:rect l="0" t="0" r="r" b="b"/>
            <a:pathLst>
              <a:path w="247" h="199">
                <a:moveTo>
                  <a:pt x="247" y="122"/>
                </a:moveTo>
                <a:lnTo>
                  <a:pt x="0" y="199"/>
                </a:lnTo>
                <a:lnTo>
                  <a:pt x="19" y="0"/>
                </a:lnTo>
                <a:lnTo>
                  <a:pt x="247" y="122"/>
                </a:lnTo>
                <a:close/>
              </a:path>
            </a:pathLst>
          </a:custGeom>
          <a:solidFill>
            <a:srgbClr val="2d8eff"/>
          </a:solidFill>
          <a:ln w="0">
            <a:noFill/>
          </a:ln>
        </p:spPr>
        <p:txBody>
          <a:bodyPr lIns="90000" rIns="90000" tIns="26640" bIns="26640" anchor="ctr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15" name="fig02-187-chip"/>
          <p:cNvSpPr/>
          <p:nvPr/>
        </p:nvSpPr>
        <p:spPr>
          <a:xfrm>
            <a:off x="4592160" y="13158000"/>
            <a:ext cx="721800" cy="171360"/>
          </a:xfrm>
          <a:prstGeom prst="roundRect">
            <a:avLst/>
          </a:prstGeom>
          <a:solidFill>
            <a:srgbClr val="ffffff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6" name="fig02-text-187"/>
          <p:cNvSpPr txBox="1"/>
          <p:nvPr/>
        </p:nvSpPr>
        <p:spPr>
          <a:xfrm>
            <a:off x="4649040" y="13176720"/>
            <a:ext cx="607680" cy="1413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algn="ctr"/>
            <a:r>
              <a:rPr b="1" lang="zh-CN" sz="750" spc="-1" strike="noStrike">
                <a:solidFill>
                  <a:srgbClr val="667085"/>
                </a:solidFill>
                <a:latin typeface="PingFang SC"/>
              </a:rPr>
              <a:t>履约 </a:t>
            </a:r>
            <a:r>
              <a:rPr b="1" lang="en-US" sz="750" spc="-1" strike="noStrike">
                <a:solidFill>
                  <a:srgbClr val="667085"/>
                </a:solidFill>
                <a:latin typeface="PingFang SC"/>
              </a:rPr>
              <a:t>/ </a:t>
            </a:r>
            <a:r>
              <a:rPr b="1" lang="zh-CN" sz="750" spc="-1" strike="noStrike">
                <a:solidFill>
                  <a:srgbClr val="667085"/>
                </a:solidFill>
                <a:latin typeface="PingFang SC"/>
              </a:rPr>
              <a:t>反馈</a:t>
            </a:r>
            <a:endParaRPr b="1" lang="en-US" sz="750" spc="-1" strike="noStrike">
              <a:solidFill>
                <a:srgbClr val="667085"/>
              </a:solidFill>
              <a:latin typeface="PingFang SC"/>
              <a:ea typeface="PingFang SC"/>
            </a:endParaRPr>
          </a:p>
        </p:txBody>
      </p:sp>
      <p:sp>
        <p:nvSpPr>
          <p:cNvPr id="417" name="fig02-card"/>
          <p:cNvSpPr/>
          <p:nvPr/>
        </p:nvSpPr>
        <p:spPr>
          <a:xfrm>
            <a:off x="571680" y="14982840"/>
            <a:ext cx="47520" cy="209520"/>
          </a:xfrm>
          <a:prstGeom prst="roundRect">
            <a:avLst/>
          </a:prstGeom>
          <a:solidFill>
            <a:srgbClr val="4f46e5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18" name="fig02-text-189"/>
          <p:cNvSpPr txBox="1"/>
          <p:nvPr/>
        </p:nvSpPr>
        <p:spPr>
          <a:xfrm>
            <a:off x="743040" y="15062760"/>
            <a:ext cx="236520" cy="85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750" spc="-1" strike="noStrike">
                <a:solidFill>
                  <a:srgbClr val="4f46e5"/>
                </a:solidFill>
                <a:latin typeface="IBM Plex Mono"/>
              </a:rPr>
              <a:t>02E</a:t>
            </a:r>
            <a:endParaRPr b="1" lang="en-US" sz="750" spc="-1" strike="noStrike">
              <a:solidFill>
                <a:srgbClr val="4f46e5"/>
              </a:solidFill>
              <a:latin typeface="IBM Plex Mono"/>
              <a:ea typeface="IBM Plex Mono"/>
            </a:endParaRPr>
          </a:p>
        </p:txBody>
      </p:sp>
      <p:sp>
        <p:nvSpPr>
          <p:cNvPr id="419" name="fig02-text-190"/>
          <p:cNvSpPr txBox="1"/>
          <p:nvPr/>
        </p:nvSpPr>
        <p:spPr>
          <a:xfrm>
            <a:off x="1428840" y="15013800"/>
            <a:ext cx="1252080" cy="752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zh-CN" sz="1200" spc="-1" strike="noStrike">
                <a:solidFill>
                  <a:srgbClr val="161a25"/>
                </a:solidFill>
                <a:latin typeface="PingFang SC"/>
              </a:rPr>
              <a:t>继承与审核约束</a:t>
            </a:r>
            <a:endParaRPr b="1" lang="en-US" sz="1200" spc="-1" strike="noStrike">
              <a:solidFill>
                <a:srgbClr val="161a25"/>
              </a:solidFill>
              <a:latin typeface="PingFang SC"/>
              <a:ea typeface="PingFang SC"/>
            </a:endParaRPr>
          </a:p>
        </p:txBody>
      </p:sp>
      <p:sp>
        <p:nvSpPr>
          <p:cNvPr id="420" name="fig02-text-191"/>
          <p:cNvSpPr txBox="1"/>
          <p:nvPr/>
        </p:nvSpPr>
        <p:spPr>
          <a:xfrm>
            <a:off x="8151480" y="15056280"/>
            <a:ext cx="2707200" cy="1082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algn="r"/>
            <a:r>
              <a:rPr b="0" lang="zh-CN" sz="810" spc="-1" strike="noStrike">
                <a:solidFill>
                  <a:srgbClr val="667085"/>
                </a:solidFill>
                <a:latin typeface="PingFang SC"/>
              </a:rPr>
              <a:t>专项餐基于通用能力池继承规则，不预设独立产品库</a:t>
            </a:r>
            <a:endParaRPr b="0" lang="en-US" sz="810" spc="-1" strike="noStrike">
              <a:solidFill>
                <a:srgbClr val="667085"/>
              </a:solidFill>
              <a:latin typeface="PingFang SC"/>
              <a:ea typeface="PingFang SC"/>
            </a:endParaRPr>
          </a:p>
        </p:txBody>
      </p:sp>
      <p:sp>
        <p:nvSpPr>
          <p:cNvPr id="421" name="fig02-card"/>
          <p:cNvSpPr/>
          <p:nvPr/>
        </p:nvSpPr>
        <p:spPr>
          <a:xfrm>
            <a:off x="571680" y="15430320"/>
            <a:ext cx="4905360" cy="1238400"/>
          </a:xfrm>
          <a:prstGeom prst="roundRect">
            <a:avLst/>
          </a:prstGeom>
          <a:solidFill>
            <a:srgbClr val="f0f1ff"/>
          </a:solidFill>
          <a:ln w="11520">
            <a:solidFill>
              <a:srgbClr val="4f46e5"/>
            </a:solidFill>
            <a:round/>
          </a:ln>
        </p:spPr>
        <p:txBody>
          <a:bodyPr lIns="95760" rIns="95760" tIns="50760" bIns="5076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2" name="fig02-card"/>
          <p:cNvSpPr/>
          <p:nvPr/>
        </p:nvSpPr>
        <p:spPr>
          <a:xfrm>
            <a:off x="704880" y="15563880"/>
            <a:ext cx="1792440" cy="190440"/>
          </a:xfrm>
          <a:prstGeom prst="roundRect">
            <a:avLst/>
          </a:prstGeom>
          <a:solidFill>
            <a:srgbClr val="eae9fc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3" name="fig02-text-194"/>
          <p:cNvSpPr txBox="1"/>
          <p:nvPr/>
        </p:nvSpPr>
        <p:spPr>
          <a:xfrm>
            <a:off x="790560" y="15615360"/>
            <a:ext cx="1375560" cy="1114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750" spc="-1" strike="noStrike">
                <a:solidFill>
                  <a:srgbClr val="4f46e5"/>
                </a:solidFill>
                <a:latin typeface="IBM Plex Mono"/>
              </a:rPr>
              <a:t>INHERITANCE · CANDIDATE</a:t>
            </a:r>
            <a:endParaRPr b="1" lang="en-US" sz="750" spc="-1" strike="noStrike">
              <a:solidFill>
                <a:srgbClr val="4f46e5"/>
              </a:solidFill>
              <a:latin typeface="IBM Plex Mono"/>
              <a:ea typeface="IBM Plex Mono"/>
            </a:endParaRPr>
          </a:p>
        </p:txBody>
      </p:sp>
      <p:sp>
        <p:nvSpPr>
          <p:cNvPr id="424" name="fig02-text-195"/>
          <p:cNvSpPr txBox="1"/>
          <p:nvPr/>
        </p:nvSpPr>
        <p:spPr>
          <a:xfrm>
            <a:off x="714240" y="15778080"/>
            <a:ext cx="4619520" cy="421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zh-CN" sz="1130" spc="-1" strike="noStrike">
                <a:solidFill>
                  <a:srgbClr val="161a25"/>
                </a:solidFill>
                <a:latin typeface="PingFang SC"/>
              </a:rPr>
              <a:t>通用能力池 → 专项 </a:t>
            </a:r>
            <a:r>
              <a:rPr b="1" lang="en-US" sz="1130" spc="-1" strike="noStrike">
                <a:solidFill>
                  <a:srgbClr val="161a25"/>
                </a:solidFill>
                <a:latin typeface="PingFang SC"/>
              </a:rPr>
              <a:t>/ </a:t>
            </a:r>
            <a:r>
              <a:rPr b="1" lang="zh-CN" sz="1130" spc="-1" strike="noStrike">
                <a:solidFill>
                  <a:srgbClr val="161a25"/>
                </a:solidFill>
                <a:latin typeface="PingFang SC"/>
              </a:rPr>
              <a:t>场景配置</a:t>
            </a:r>
            <a:endParaRPr b="1" lang="en-US" sz="1130" spc="-1" strike="noStrike">
              <a:solidFill>
                <a:srgbClr val="161a25"/>
              </a:solidFill>
              <a:latin typeface="PingFang SC"/>
              <a:ea typeface="PingFang SC"/>
            </a:endParaRPr>
          </a:p>
        </p:txBody>
      </p:sp>
      <p:sp>
        <p:nvSpPr>
          <p:cNvPr id="425" name="fig02-text-196"/>
          <p:cNvSpPr txBox="1"/>
          <p:nvPr/>
        </p:nvSpPr>
        <p:spPr>
          <a:xfrm>
            <a:off x="714240" y="15989760"/>
            <a:ext cx="4619520" cy="2000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zh-CN" sz="900" spc="-1" strike="noStrike">
                <a:solidFill>
                  <a:srgbClr val="667085"/>
                </a:solidFill>
                <a:latin typeface="PingFang SC"/>
              </a:rPr>
              <a:t>控糖餐、月子餐、专家餐、围餐等：继承 </a:t>
            </a:r>
            <a:r>
              <a:rPr b="0" lang="en-US" sz="900" spc="-1" strike="noStrike">
                <a:solidFill>
                  <a:srgbClr val="667085"/>
                </a:solidFill>
                <a:latin typeface="PingFang SC"/>
              </a:rPr>
              <a:t>Product / Ingredient / Recipe /</a:t>
            </a:r>
            <a:endParaRPr b="0" lang="en-US" sz="900" spc="-1" strike="noStrike">
              <a:solidFill>
                <a:srgbClr val="667085"/>
              </a:solidFill>
              <a:latin typeface="PingFang SC"/>
              <a:ea typeface="PingFang SC"/>
            </a:endParaRPr>
          </a:p>
          <a:p>
            <a:r>
              <a:rPr b="0" lang="en-US" sz="900" spc="-1" strike="noStrike">
                <a:solidFill>
                  <a:srgbClr val="667085"/>
                </a:solidFill>
                <a:latin typeface="PingFang SC"/>
              </a:rPr>
              <a:t> </a:t>
            </a:r>
            <a:r>
              <a:rPr b="0" lang="en-US" sz="900" spc="-1" strike="noStrike">
                <a:solidFill>
                  <a:srgbClr val="667085"/>
                </a:solidFill>
                <a:latin typeface="PingFang SC"/>
              </a:rPr>
              <a:t>SOP </a:t>
            </a:r>
            <a:r>
              <a:rPr b="0" lang="zh-CN" sz="900" spc="-1" strike="noStrike">
                <a:solidFill>
                  <a:srgbClr val="667085"/>
                </a:solidFill>
                <a:latin typeface="PingFang SC"/>
              </a:rPr>
              <a:t>的适用版本；再按专业与场景规则做范围配置。</a:t>
            </a:r>
            <a:endParaRPr b="0" lang="en-US" sz="900" spc="-1" strike="noStrike">
              <a:solidFill>
                <a:srgbClr val="667085"/>
              </a:solidFill>
              <a:latin typeface="PingFang SC"/>
              <a:ea typeface="PingFang SC"/>
            </a:endParaRPr>
          </a:p>
          <a:p>
            <a:r>
              <a:rPr b="0" lang="zh-CN" sz="900" spc="-1" strike="noStrike">
                <a:solidFill>
                  <a:srgbClr val="667085"/>
                </a:solidFill>
                <a:latin typeface="PingFang SC"/>
              </a:rPr>
              <a:t>任何覆盖须记录来源、理由、生效期、审核与责任人。</a:t>
            </a:r>
            <a:endParaRPr b="0" lang="en-US" sz="900" spc="-1" strike="noStrike">
              <a:solidFill>
                <a:srgbClr val="667085"/>
              </a:solidFill>
              <a:latin typeface="PingFang SC"/>
              <a:ea typeface="PingFang SC"/>
            </a:endParaRPr>
          </a:p>
        </p:txBody>
      </p:sp>
      <p:sp>
        <p:nvSpPr>
          <p:cNvPr id="426" name="fig02-card"/>
          <p:cNvSpPr/>
          <p:nvPr/>
        </p:nvSpPr>
        <p:spPr>
          <a:xfrm>
            <a:off x="5952960" y="15430320"/>
            <a:ext cx="4905360" cy="1238400"/>
          </a:xfrm>
          <a:prstGeom prst="roundRect">
            <a:avLst/>
          </a:prstGeom>
          <a:solidFill>
            <a:srgbClr val="fff8e7"/>
          </a:solidFill>
          <a:ln w="11520">
            <a:solidFill>
              <a:srgbClr val="e8a020"/>
            </a:solidFill>
            <a:round/>
          </a:ln>
        </p:spPr>
        <p:txBody>
          <a:bodyPr lIns="95760" rIns="95760" tIns="50760" bIns="5076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7" name="fig02-card"/>
          <p:cNvSpPr/>
          <p:nvPr/>
        </p:nvSpPr>
        <p:spPr>
          <a:xfrm>
            <a:off x="6086520" y="15563880"/>
            <a:ext cx="1299240" cy="190440"/>
          </a:xfrm>
          <a:prstGeom prst="roundRect">
            <a:avLst/>
          </a:prstGeom>
          <a:solidFill>
            <a:srgbClr val="fcf4e4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8" name="fig02-text-199"/>
          <p:cNvSpPr txBox="1"/>
          <p:nvPr/>
        </p:nvSpPr>
        <p:spPr>
          <a:xfrm>
            <a:off x="6172200" y="15615360"/>
            <a:ext cx="929880" cy="1114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750" spc="-1" strike="noStrike">
                <a:solidFill>
                  <a:srgbClr val="e8a020"/>
                </a:solidFill>
                <a:latin typeface="IBM Plex Mono"/>
              </a:rPr>
              <a:t>TO VERIFY · KIMI</a:t>
            </a:r>
            <a:endParaRPr b="1" lang="en-US" sz="750" spc="-1" strike="noStrike">
              <a:solidFill>
                <a:srgbClr val="e8a020"/>
              </a:solidFill>
              <a:latin typeface="IBM Plex Mono"/>
              <a:ea typeface="IBM Plex Mono"/>
            </a:endParaRPr>
          </a:p>
        </p:txBody>
      </p:sp>
      <p:sp>
        <p:nvSpPr>
          <p:cNvPr id="429" name="fig02-text-200"/>
          <p:cNvSpPr txBox="1"/>
          <p:nvPr/>
        </p:nvSpPr>
        <p:spPr>
          <a:xfrm>
            <a:off x="6095880" y="15778080"/>
            <a:ext cx="4619520" cy="421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1130" spc="-1" strike="noStrike">
                <a:solidFill>
                  <a:srgbClr val="161a25"/>
                </a:solidFill>
                <a:latin typeface="PingFang SC"/>
              </a:rPr>
              <a:t>104 </a:t>
            </a:r>
            <a:r>
              <a:rPr b="1" lang="zh-CN" sz="1130" spc="-1" strike="noStrike">
                <a:solidFill>
                  <a:srgbClr val="161a25"/>
                </a:solidFill>
                <a:latin typeface="PingFang SC"/>
              </a:rPr>
              <a:t>结构点 </a:t>
            </a:r>
            <a:r>
              <a:rPr b="1" lang="en-US" sz="1130" spc="-1" strike="noStrike">
                <a:solidFill>
                  <a:srgbClr val="161a25"/>
                </a:solidFill>
                <a:latin typeface="PingFang SC"/>
              </a:rPr>
              <a:t>/ 141 </a:t>
            </a:r>
            <a:r>
              <a:rPr b="1" lang="zh-CN" sz="1130" spc="-1" strike="noStrike">
                <a:solidFill>
                  <a:srgbClr val="161a25"/>
                </a:solidFill>
                <a:latin typeface="PingFang SC"/>
              </a:rPr>
              <a:t>产品 </a:t>
            </a:r>
            <a:r>
              <a:rPr b="1" lang="en-US" sz="1130" spc="-1" strike="noStrike">
                <a:solidFill>
                  <a:srgbClr val="161a25"/>
                </a:solidFill>
                <a:latin typeface="PingFang SC"/>
              </a:rPr>
              <a:t>SKU</a:t>
            </a:r>
            <a:endParaRPr b="1" lang="en-US" sz="1130" spc="-1" strike="noStrike">
              <a:solidFill>
                <a:srgbClr val="161a25"/>
              </a:solidFill>
              <a:latin typeface="PingFang SC"/>
              <a:ea typeface="PingFang SC"/>
            </a:endParaRPr>
          </a:p>
        </p:txBody>
      </p:sp>
      <p:sp>
        <p:nvSpPr>
          <p:cNvPr id="430" name="fig02-text-201"/>
          <p:cNvSpPr txBox="1"/>
          <p:nvPr/>
        </p:nvSpPr>
        <p:spPr>
          <a:xfrm>
            <a:off x="6095880" y="15989760"/>
            <a:ext cx="4619520" cy="1413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zh-CN" sz="900" spc="-1" strike="noStrike">
                <a:solidFill>
                  <a:srgbClr val="667085"/>
                </a:solidFill>
                <a:latin typeface="PingFang SC"/>
              </a:rPr>
              <a:t>仅作为待核验母表事实；本轮不重编、不固化为正式编号或现行规模。</a:t>
            </a:r>
            <a:endParaRPr b="0" lang="en-US" sz="900" spc="-1" strike="noStrike">
              <a:solidFill>
                <a:srgbClr val="667085"/>
              </a:solidFill>
              <a:latin typeface="PingFang SC"/>
              <a:ea typeface="PingFang SC"/>
            </a:endParaRPr>
          </a:p>
          <a:p>
            <a:r>
              <a:rPr b="0" lang="zh-CN" sz="900" spc="-1" strike="noStrike">
                <a:solidFill>
                  <a:srgbClr val="667085"/>
                </a:solidFill>
                <a:latin typeface="PingFang SC"/>
              </a:rPr>
              <a:t>应先核对：对象层级、名称、状态、价格、映射关系、源版本与责任源。</a:t>
            </a:r>
            <a:endParaRPr b="0" lang="en-US" sz="900" spc="-1" strike="noStrike">
              <a:solidFill>
                <a:srgbClr val="667085"/>
              </a:solidFill>
              <a:latin typeface="PingFang SC"/>
              <a:ea typeface="PingFang SC"/>
            </a:endParaRPr>
          </a:p>
        </p:txBody>
      </p:sp>
      <p:sp>
        <p:nvSpPr>
          <p:cNvPr id="431" name="fig02-card"/>
          <p:cNvSpPr/>
          <p:nvPr/>
        </p:nvSpPr>
        <p:spPr>
          <a:xfrm>
            <a:off x="571680" y="17469000"/>
            <a:ext cx="10287000" cy="9360"/>
          </a:xfrm>
          <a:prstGeom prst="rect">
            <a:avLst/>
          </a:prstGeom>
          <a:solidFill>
            <a:srgbClr val="d9dee7"/>
          </a:solidFill>
          <a:ln w="0">
            <a:noFill/>
          </a:ln>
        </p:spPr>
        <p:txBody>
          <a:bodyPr lIns="90000" rIns="90000" tIns="-35640" bIns="-3564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2" name="fig02-text-203"/>
          <p:cNvSpPr txBox="1"/>
          <p:nvPr/>
        </p:nvSpPr>
        <p:spPr>
          <a:xfrm>
            <a:off x="571680" y="17647200"/>
            <a:ext cx="4433040" cy="1082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810" spc="-1" strike="noStrike">
                <a:solidFill>
                  <a:srgbClr val="667085"/>
                </a:solidFill>
                <a:latin typeface="IBM Plex Mono"/>
              </a:rPr>
              <a:t>SOURCE · </a:t>
            </a:r>
            <a:r>
              <a:rPr b="0" lang="zh-CN" sz="810" spc="-1" strike="noStrike">
                <a:solidFill>
                  <a:srgbClr val="667085"/>
                </a:solidFill>
                <a:latin typeface="IBM Plex Mono"/>
              </a:rPr>
              <a:t>用户任务书 </a:t>
            </a:r>
            <a:r>
              <a:rPr b="0" lang="en-US" sz="810" spc="-1" strike="noStrike">
                <a:solidFill>
                  <a:srgbClr val="667085"/>
                </a:solidFill>
                <a:latin typeface="IBM Plex Mono"/>
              </a:rPr>
              <a:t>+ </a:t>
            </a:r>
            <a:r>
              <a:rPr b="0" lang="zh-CN" sz="810" spc="-1" strike="noStrike">
                <a:solidFill>
                  <a:srgbClr val="667085"/>
                </a:solidFill>
                <a:latin typeface="IBM Plex Mono"/>
              </a:rPr>
              <a:t>番医总控台 </a:t>
            </a:r>
            <a:r>
              <a:rPr b="0" lang="en-US" sz="810" spc="-1" strike="noStrike">
                <a:solidFill>
                  <a:srgbClr val="667085"/>
                </a:solidFill>
                <a:latin typeface="IBM Plex Mono"/>
              </a:rPr>
              <a:t>V0.1.16 + </a:t>
            </a:r>
            <a:r>
              <a:rPr b="0" lang="zh-CN" sz="810" spc="-1" strike="noStrike">
                <a:solidFill>
                  <a:srgbClr val="667085"/>
                </a:solidFill>
                <a:latin typeface="IBM Plex Mono"/>
              </a:rPr>
              <a:t>餐食运营台 </a:t>
            </a:r>
            <a:r>
              <a:rPr b="0" lang="en-US" sz="810" spc="-1" strike="noStrike">
                <a:solidFill>
                  <a:srgbClr val="667085"/>
                </a:solidFill>
                <a:latin typeface="IBM Plex Mono"/>
              </a:rPr>
              <a:t>V0.1.12 + </a:t>
            </a:r>
            <a:r>
              <a:rPr b="0" lang="zh-CN" sz="810" spc="-1" strike="noStrike">
                <a:solidFill>
                  <a:srgbClr val="667085"/>
                </a:solidFill>
                <a:latin typeface="IBM Plex Mono"/>
              </a:rPr>
              <a:t>数据字典 </a:t>
            </a:r>
            <a:r>
              <a:rPr b="0" lang="en-US" sz="810" spc="-1" strike="noStrike">
                <a:solidFill>
                  <a:srgbClr val="667085"/>
                </a:solidFill>
                <a:latin typeface="IBM Plex Mono"/>
              </a:rPr>
              <a:t>v0.3</a:t>
            </a:r>
            <a:endParaRPr b="0" lang="en-US" sz="810" spc="-1" strike="noStrike">
              <a:solidFill>
                <a:srgbClr val="667085"/>
              </a:solidFill>
              <a:latin typeface="IBM Plex Mono"/>
              <a:ea typeface="IBM Plex Mono"/>
            </a:endParaRPr>
          </a:p>
        </p:txBody>
      </p:sp>
      <p:sp>
        <p:nvSpPr>
          <p:cNvPr id="433" name="fig02-text-204"/>
          <p:cNvSpPr txBox="1"/>
          <p:nvPr/>
        </p:nvSpPr>
        <p:spPr>
          <a:xfrm>
            <a:off x="8957880" y="17647200"/>
            <a:ext cx="1900440" cy="1082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algn="r"/>
            <a:r>
              <a:rPr b="0" lang="zh-CN" sz="810" spc="-1" strike="noStrike">
                <a:solidFill>
                  <a:srgbClr val="e60012"/>
                </a:solidFill>
                <a:latin typeface="PingFang SC"/>
              </a:rPr>
              <a:t>首批候选｜待业务审核｜非实施批准</a:t>
            </a:r>
            <a:endParaRPr b="0" lang="en-US" sz="810" spc="-1" strike="noStrike">
              <a:solidFill>
                <a:srgbClr val="e60012"/>
              </a:solidFill>
              <a:latin typeface="PingFang SC"/>
              <a:ea typeface="PingFang SC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" name="fig03-text-2"/>
          <p:cNvSpPr txBox="1"/>
          <p:nvPr/>
        </p:nvSpPr>
        <p:spPr>
          <a:xfrm>
            <a:off x="571680" y="527760"/>
            <a:ext cx="2941920" cy="1114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750" spc="-1" strike="noStrike">
                <a:solidFill>
                  <a:srgbClr val="4f46e5"/>
                </a:solidFill>
                <a:latin typeface="IBM Plex Mono"/>
              </a:rPr>
              <a:t>PANYI · DUAL INTELLIGENCE · ARCHITECTURE PACK · V0.1</a:t>
            </a:r>
            <a:endParaRPr b="1" lang="en-US" sz="750" spc="-1" strike="noStrike">
              <a:solidFill>
                <a:srgbClr val="4f46e5"/>
              </a:solidFill>
              <a:latin typeface="IBM Plex Mono"/>
              <a:ea typeface="IBM Plex Mono"/>
            </a:endParaRPr>
          </a:p>
        </p:txBody>
      </p:sp>
      <p:sp>
        <p:nvSpPr>
          <p:cNvPr id="435" name="fig03-text-3"/>
          <p:cNvSpPr txBox="1"/>
          <p:nvPr/>
        </p:nvSpPr>
        <p:spPr>
          <a:xfrm>
            <a:off x="571680" y="783000"/>
            <a:ext cx="3897720" cy="421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zh-CN" sz="2250" spc="-1" strike="noStrike">
                <a:solidFill>
                  <a:srgbClr val="161a25"/>
                </a:solidFill>
                <a:latin typeface="PingFang SC"/>
              </a:rPr>
              <a:t>业务工作链与受控进化流程</a:t>
            </a:r>
            <a:endParaRPr b="1" lang="en-US" sz="2250" spc="-1" strike="noStrike">
              <a:solidFill>
                <a:srgbClr val="161a25"/>
              </a:solidFill>
              <a:latin typeface="PingFang SC"/>
              <a:ea typeface="PingFang SC"/>
            </a:endParaRPr>
          </a:p>
        </p:txBody>
      </p:sp>
      <p:sp>
        <p:nvSpPr>
          <p:cNvPr id="436" name="fig03-text-4"/>
          <p:cNvSpPr txBox="1"/>
          <p:nvPr/>
        </p:nvSpPr>
        <p:spPr>
          <a:xfrm>
            <a:off x="571680" y="1180800"/>
            <a:ext cx="4006080" cy="602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050" spc="-1" strike="noStrike">
                <a:solidFill>
                  <a:srgbClr val="667085"/>
                </a:solidFill>
                <a:latin typeface="Space Grotesk"/>
              </a:rPr>
              <a:t>Operational Work Chain &amp; Controlled Evolution Flow</a:t>
            </a:r>
            <a:endParaRPr b="0" lang="en-US" sz="1050" spc="-1" strike="noStrike">
              <a:solidFill>
                <a:srgbClr val="667085"/>
              </a:solidFill>
              <a:latin typeface="Space Grotesk"/>
              <a:ea typeface="Space Grotesk"/>
            </a:endParaRPr>
          </a:p>
        </p:txBody>
      </p:sp>
      <p:sp>
        <p:nvSpPr>
          <p:cNvPr id="437" name="fig03-card"/>
          <p:cNvSpPr/>
          <p:nvPr/>
        </p:nvSpPr>
        <p:spPr>
          <a:xfrm>
            <a:off x="571680" y="1504800"/>
            <a:ext cx="10287000" cy="9360"/>
          </a:xfrm>
          <a:prstGeom prst="rect">
            <a:avLst/>
          </a:prstGeom>
          <a:solidFill>
            <a:srgbClr val="d9dee7"/>
          </a:solidFill>
          <a:ln w="0">
            <a:noFill/>
          </a:ln>
        </p:spPr>
        <p:txBody>
          <a:bodyPr lIns="90000" rIns="90000" tIns="-35640" bIns="-3564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8" name="fig03-card"/>
          <p:cNvSpPr/>
          <p:nvPr/>
        </p:nvSpPr>
        <p:spPr>
          <a:xfrm>
            <a:off x="571680" y="1657440"/>
            <a:ext cx="952560" cy="228600"/>
          </a:xfrm>
          <a:prstGeom prst="roundRect">
            <a:avLst/>
          </a:prstGeom>
          <a:solidFill>
            <a:srgbClr val="161a25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39" name="fig03-text-7"/>
          <p:cNvSpPr txBox="1"/>
          <p:nvPr/>
        </p:nvSpPr>
        <p:spPr>
          <a:xfrm>
            <a:off x="853920" y="1728000"/>
            <a:ext cx="387720" cy="1114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algn="ctr"/>
            <a:r>
              <a:rPr b="1" lang="en-US" sz="750" spc="-1" strike="noStrike">
                <a:solidFill>
                  <a:srgbClr val="ffffff"/>
                </a:solidFill>
                <a:latin typeface="IBM Plex Mono"/>
              </a:rPr>
              <a:t>FIG 03</a:t>
            </a:r>
            <a:endParaRPr b="1" lang="en-US" sz="750" spc="-1" strike="noStrike">
              <a:solidFill>
                <a:srgbClr val="ffffff"/>
              </a:solidFill>
              <a:latin typeface="IBM Plex Mono"/>
              <a:ea typeface="IBM Plex Mono"/>
            </a:endParaRPr>
          </a:p>
        </p:txBody>
      </p:sp>
      <p:sp>
        <p:nvSpPr>
          <p:cNvPr id="440" name="fig03-card"/>
          <p:cNvSpPr/>
          <p:nvPr/>
        </p:nvSpPr>
        <p:spPr>
          <a:xfrm>
            <a:off x="1619280" y="1657440"/>
            <a:ext cx="2381400" cy="228600"/>
          </a:xfrm>
          <a:prstGeom prst="roundRect">
            <a:avLst/>
          </a:prstGeom>
          <a:solidFill>
            <a:srgbClr val="f5f1ff"/>
          </a:solidFill>
          <a:ln w="9360">
            <a:solidFill>
              <a:srgbClr val="8b5aca"/>
            </a:solidFill>
            <a:round/>
          </a:ln>
        </p:spPr>
        <p:txBody>
          <a:bodyPr lIns="94680" rIns="94680" tIns="49680" bIns="4968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1" name="fig03-text-9"/>
          <p:cNvSpPr txBox="1"/>
          <p:nvPr/>
        </p:nvSpPr>
        <p:spPr>
          <a:xfrm>
            <a:off x="2016360" y="1728000"/>
            <a:ext cx="1586880" cy="85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algn="ctr"/>
            <a:r>
              <a:rPr b="1" lang="en-US" sz="750" spc="-1" strike="noStrike">
                <a:solidFill>
                  <a:srgbClr val="8b5aca"/>
                </a:solidFill>
                <a:latin typeface="IBM Plex Mono"/>
              </a:rPr>
              <a:t>CANDIDATE · REVIEW REQUIRED</a:t>
            </a:r>
            <a:endParaRPr b="1" lang="en-US" sz="750" spc="-1" strike="noStrike">
              <a:solidFill>
                <a:srgbClr val="8b5aca"/>
              </a:solidFill>
              <a:latin typeface="IBM Plex Mono"/>
              <a:ea typeface="IBM Plex Mono"/>
            </a:endParaRPr>
          </a:p>
        </p:txBody>
      </p:sp>
      <p:sp>
        <p:nvSpPr>
          <p:cNvPr id="442" name="fig03-text-10"/>
          <p:cNvSpPr txBox="1"/>
          <p:nvPr/>
        </p:nvSpPr>
        <p:spPr>
          <a:xfrm>
            <a:off x="9209160" y="1721160"/>
            <a:ext cx="1649520" cy="85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algn="r"/>
            <a:r>
              <a:rPr b="0" lang="en-US" sz="810" spc="-1" strike="noStrike">
                <a:solidFill>
                  <a:srgbClr val="667085"/>
                </a:solidFill>
                <a:latin typeface="IBM Plex Mono"/>
              </a:rPr>
              <a:t>1200 × 1900 · EDITABLE PPTX</a:t>
            </a:r>
            <a:endParaRPr b="0" lang="en-US" sz="810" spc="-1" strike="noStrike">
              <a:solidFill>
                <a:srgbClr val="667085"/>
              </a:solidFill>
              <a:latin typeface="IBM Plex Mono"/>
              <a:ea typeface="IBM Plex Mono"/>
            </a:endParaRPr>
          </a:p>
        </p:txBody>
      </p:sp>
      <p:sp>
        <p:nvSpPr>
          <p:cNvPr id="443" name="fig03-card"/>
          <p:cNvSpPr/>
          <p:nvPr/>
        </p:nvSpPr>
        <p:spPr>
          <a:xfrm>
            <a:off x="571680" y="2104920"/>
            <a:ext cx="47520" cy="209520"/>
          </a:xfrm>
          <a:prstGeom prst="roundRect">
            <a:avLst/>
          </a:prstGeom>
          <a:solidFill>
            <a:srgbClr val="4f46e5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44" name="fig03-text-12"/>
          <p:cNvSpPr txBox="1"/>
          <p:nvPr/>
        </p:nvSpPr>
        <p:spPr>
          <a:xfrm>
            <a:off x="743040" y="2185200"/>
            <a:ext cx="236520" cy="85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750" spc="-1" strike="noStrike">
                <a:solidFill>
                  <a:srgbClr val="4f46e5"/>
                </a:solidFill>
                <a:latin typeface="IBM Plex Mono"/>
              </a:rPr>
              <a:t>03A</a:t>
            </a:r>
            <a:endParaRPr b="1" lang="en-US" sz="750" spc="-1" strike="noStrike">
              <a:solidFill>
                <a:srgbClr val="4f46e5"/>
              </a:solidFill>
              <a:latin typeface="IBM Plex Mono"/>
              <a:ea typeface="IBM Plex Mono"/>
            </a:endParaRPr>
          </a:p>
        </p:txBody>
      </p:sp>
      <p:sp>
        <p:nvSpPr>
          <p:cNvPr id="445" name="fig03-text-13"/>
          <p:cNvSpPr txBox="1"/>
          <p:nvPr/>
        </p:nvSpPr>
        <p:spPr>
          <a:xfrm>
            <a:off x="1428840" y="2135880"/>
            <a:ext cx="1593360" cy="752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zh-CN" sz="1200" spc="-1" strike="noStrike">
                <a:solidFill>
                  <a:srgbClr val="161a25"/>
                </a:solidFill>
                <a:latin typeface="PingFang SC"/>
              </a:rPr>
              <a:t>入口与四类受控版本</a:t>
            </a:r>
            <a:endParaRPr b="1" lang="en-US" sz="1200" spc="-1" strike="noStrike">
              <a:solidFill>
                <a:srgbClr val="161a25"/>
              </a:solidFill>
              <a:latin typeface="PingFang SC"/>
              <a:ea typeface="PingFang SC"/>
            </a:endParaRPr>
          </a:p>
        </p:txBody>
      </p:sp>
      <p:sp>
        <p:nvSpPr>
          <p:cNvPr id="446" name="fig03-text-14"/>
          <p:cNvSpPr txBox="1"/>
          <p:nvPr/>
        </p:nvSpPr>
        <p:spPr>
          <a:xfrm>
            <a:off x="7345080" y="2178360"/>
            <a:ext cx="3513600" cy="1082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algn="r"/>
            <a:r>
              <a:rPr b="0" lang="zh-CN" sz="810" spc="-1" strike="noStrike">
                <a:solidFill>
                  <a:srgbClr val="667085"/>
                </a:solidFill>
                <a:latin typeface="PingFang SC"/>
              </a:rPr>
              <a:t>发布菜单不等于生产指令；只有确认需求和批准生产计划可驱动执行</a:t>
            </a:r>
            <a:endParaRPr b="0" lang="en-US" sz="810" spc="-1" strike="noStrike">
              <a:solidFill>
                <a:srgbClr val="667085"/>
              </a:solidFill>
              <a:latin typeface="PingFang SC"/>
              <a:ea typeface="PingFang SC"/>
            </a:endParaRPr>
          </a:p>
        </p:txBody>
      </p:sp>
      <p:sp>
        <p:nvSpPr>
          <p:cNvPr id="447" name="fig03-card"/>
          <p:cNvSpPr/>
          <p:nvPr/>
        </p:nvSpPr>
        <p:spPr>
          <a:xfrm>
            <a:off x="571680" y="2533680"/>
            <a:ext cx="10287000" cy="762120"/>
          </a:xfrm>
          <a:prstGeom prst="roundRect">
            <a:avLst/>
          </a:prstGeom>
          <a:solidFill>
            <a:srgbClr val="f0f1ff"/>
          </a:solidFill>
          <a:ln w="11520">
            <a:solidFill>
              <a:srgbClr val="4f46e5"/>
            </a:solidFill>
            <a:round/>
          </a:ln>
        </p:spPr>
        <p:txBody>
          <a:bodyPr lIns="95760" rIns="95760" tIns="50760" bIns="5076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8" name="fig03-card"/>
          <p:cNvSpPr/>
          <p:nvPr/>
        </p:nvSpPr>
        <p:spPr>
          <a:xfrm>
            <a:off x="704880" y="2666880"/>
            <a:ext cx="1933560" cy="190440"/>
          </a:xfrm>
          <a:prstGeom prst="roundRect">
            <a:avLst/>
          </a:prstGeom>
          <a:solidFill>
            <a:srgbClr val="eae9fc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9" name="fig03-text-17"/>
          <p:cNvSpPr txBox="1"/>
          <p:nvPr/>
        </p:nvSpPr>
        <p:spPr>
          <a:xfrm>
            <a:off x="790560" y="2718360"/>
            <a:ext cx="1467360" cy="1114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750" spc="-1" strike="noStrike">
                <a:solidFill>
                  <a:srgbClr val="4f46e5"/>
                </a:solidFill>
                <a:latin typeface="IBM Plex Mono"/>
              </a:rPr>
              <a:t>INPUT PACKAGE · CANDIDATE</a:t>
            </a:r>
            <a:endParaRPr b="1" lang="en-US" sz="750" spc="-1" strike="noStrike">
              <a:solidFill>
                <a:srgbClr val="4f46e5"/>
              </a:solidFill>
              <a:latin typeface="IBM Plex Mono"/>
              <a:ea typeface="IBM Plex Mono"/>
            </a:endParaRPr>
          </a:p>
        </p:txBody>
      </p:sp>
      <p:sp>
        <p:nvSpPr>
          <p:cNvPr id="450" name="fig03-text-18"/>
          <p:cNvSpPr txBox="1"/>
          <p:nvPr/>
        </p:nvSpPr>
        <p:spPr>
          <a:xfrm>
            <a:off x="714240" y="2881440"/>
            <a:ext cx="10001160" cy="421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zh-CN" sz="1130" spc="-1" strike="noStrike">
                <a:solidFill>
                  <a:srgbClr val="161a25"/>
                </a:solidFill>
                <a:latin typeface="PingFang SC"/>
              </a:rPr>
              <a:t>每周全部启用场景的菜单计划包</a:t>
            </a:r>
            <a:endParaRPr b="1" lang="en-US" sz="1130" spc="-1" strike="noStrike">
              <a:solidFill>
                <a:srgbClr val="161a25"/>
              </a:solidFill>
              <a:latin typeface="PingFang SC"/>
              <a:ea typeface="PingFang SC"/>
            </a:endParaRPr>
          </a:p>
        </p:txBody>
      </p:sp>
      <p:sp>
        <p:nvSpPr>
          <p:cNvPr id="451" name="fig03-text-19"/>
          <p:cNvSpPr txBox="1"/>
          <p:nvPr/>
        </p:nvSpPr>
        <p:spPr>
          <a:xfrm>
            <a:off x="714240" y="3079440"/>
            <a:ext cx="10001160" cy="421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zh-CN" sz="900" spc="-1" strike="noStrike">
                <a:solidFill>
                  <a:srgbClr val="667085"/>
                </a:solidFill>
                <a:latin typeface="PingFang SC"/>
              </a:rPr>
              <a:t>覆盖常规场景与临时场景；包含适用范围、菜单候选、专业规则引用、历史事实与待核事项。</a:t>
            </a:r>
            <a:endParaRPr b="0" lang="en-US" sz="900" spc="-1" strike="noStrike">
              <a:solidFill>
                <a:srgbClr val="667085"/>
              </a:solidFill>
              <a:latin typeface="PingFang SC"/>
              <a:ea typeface="PingFang SC"/>
            </a:endParaRPr>
          </a:p>
        </p:txBody>
      </p:sp>
      <p:sp>
        <p:nvSpPr>
          <p:cNvPr id="452" name="fig03-card"/>
          <p:cNvSpPr/>
          <p:nvPr/>
        </p:nvSpPr>
        <p:spPr>
          <a:xfrm>
            <a:off x="571680" y="3581280"/>
            <a:ext cx="2381400" cy="952560"/>
          </a:xfrm>
          <a:prstGeom prst="roundRect">
            <a:avLst/>
          </a:prstGeom>
          <a:solidFill>
            <a:srgbClr val="f5f1ff"/>
          </a:solidFill>
          <a:ln w="11520">
            <a:solidFill>
              <a:srgbClr val="8b5aca"/>
            </a:solidFill>
            <a:round/>
          </a:ln>
        </p:spPr>
        <p:txBody>
          <a:bodyPr lIns="95760" rIns="95760" tIns="50760" bIns="5076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3" name="fig03-card"/>
          <p:cNvSpPr/>
          <p:nvPr/>
        </p:nvSpPr>
        <p:spPr>
          <a:xfrm>
            <a:off x="704880" y="3714840"/>
            <a:ext cx="1440360" cy="190440"/>
          </a:xfrm>
          <a:prstGeom prst="roundRect">
            <a:avLst/>
          </a:prstGeom>
          <a:solidFill>
            <a:srgbClr val="f1ebf9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4" name="fig03-text-22"/>
          <p:cNvSpPr txBox="1"/>
          <p:nvPr/>
        </p:nvSpPr>
        <p:spPr>
          <a:xfrm>
            <a:off x="790560" y="3766320"/>
            <a:ext cx="1104840" cy="1114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750" spc="-1" strike="noStrike">
                <a:solidFill>
                  <a:srgbClr val="8b5aca"/>
                </a:solidFill>
                <a:latin typeface="IBM Plex Mono"/>
              </a:rPr>
              <a:t>CONTROLLED VERSION</a:t>
            </a:r>
            <a:endParaRPr b="1" lang="en-US" sz="750" spc="-1" strike="noStrike">
              <a:solidFill>
                <a:srgbClr val="8b5aca"/>
              </a:solidFill>
              <a:latin typeface="IBM Plex Mono"/>
              <a:ea typeface="IBM Plex Mono"/>
            </a:endParaRPr>
          </a:p>
        </p:txBody>
      </p:sp>
      <p:sp>
        <p:nvSpPr>
          <p:cNvPr id="455" name="fig03-text-23"/>
          <p:cNvSpPr txBox="1"/>
          <p:nvPr/>
        </p:nvSpPr>
        <p:spPr>
          <a:xfrm>
            <a:off x="714240" y="3929040"/>
            <a:ext cx="2095560" cy="421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zh-CN" sz="1130" spc="-1" strike="noStrike">
                <a:solidFill>
                  <a:srgbClr val="161a25"/>
                </a:solidFill>
                <a:latin typeface="PingFang SC"/>
              </a:rPr>
              <a:t>菜单版本</a:t>
            </a:r>
            <a:endParaRPr b="1" lang="en-US" sz="1130" spc="-1" strike="noStrike">
              <a:solidFill>
                <a:srgbClr val="161a25"/>
              </a:solidFill>
              <a:latin typeface="PingFang SC"/>
              <a:ea typeface="PingFang SC"/>
            </a:endParaRPr>
          </a:p>
        </p:txBody>
      </p:sp>
      <p:sp>
        <p:nvSpPr>
          <p:cNvPr id="456" name="fig03-text-24"/>
          <p:cNvSpPr txBox="1"/>
          <p:nvPr/>
        </p:nvSpPr>
        <p:spPr>
          <a:xfrm>
            <a:off x="714240" y="4127040"/>
            <a:ext cx="2095560" cy="1082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zh-CN" sz="900" spc="-1" strike="noStrike">
                <a:solidFill>
                  <a:srgbClr val="667085"/>
                </a:solidFill>
                <a:latin typeface="PingFang SC"/>
              </a:rPr>
              <a:t>草稿 → 待审核 → 已批准 → 已发布 </a:t>
            </a:r>
            <a:r>
              <a:rPr b="0" lang="en-US" sz="900" spc="-1" strike="noStrike">
                <a:solidFill>
                  <a:srgbClr val="667085"/>
                </a:solidFill>
                <a:latin typeface="PingFang SC"/>
              </a:rPr>
              <a:t>/ </a:t>
            </a:r>
            <a:r>
              <a:rPr b="0" lang="zh-CN" sz="900" spc="-1" strike="noStrike">
                <a:solidFill>
                  <a:srgbClr val="667085"/>
                </a:solidFill>
                <a:latin typeface="PingFang SC"/>
              </a:rPr>
              <a:t>生效</a:t>
            </a:r>
            <a:endParaRPr b="0" lang="en-US" sz="900" spc="-1" strike="noStrike">
              <a:solidFill>
                <a:srgbClr val="667085"/>
              </a:solidFill>
              <a:latin typeface="PingFang SC"/>
              <a:ea typeface="PingFang SC"/>
            </a:endParaRPr>
          </a:p>
        </p:txBody>
      </p:sp>
      <p:sp>
        <p:nvSpPr>
          <p:cNvPr id="457" name="fig03-card"/>
          <p:cNvSpPr/>
          <p:nvPr/>
        </p:nvSpPr>
        <p:spPr>
          <a:xfrm>
            <a:off x="3143160" y="3581280"/>
            <a:ext cx="2381400" cy="952560"/>
          </a:xfrm>
          <a:prstGeom prst="roundRect">
            <a:avLst/>
          </a:prstGeom>
          <a:solidFill>
            <a:srgbClr val="eef6ff"/>
          </a:solidFill>
          <a:ln w="11520">
            <a:solidFill>
              <a:srgbClr val="2d8eff"/>
            </a:solidFill>
            <a:round/>
          </a:ln>
        </p:spPr>
        <p:txBody>
          <a:bodyPr lIns="95760" rIns="95760" tIns="50760" bIns="5076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8" name="fig03-card"/>
          <p:cNvSpPr/>
          <p:nvPr/>
        </p:nvSpPr>
        <p:spPr>
          <a:xfrm>
            <a:off x="3276720" y="3714840"/>
            <a:ext cx="1440360" cy="190440"/>
          </a:xfrm>
          <a:prstGeom prst="roundRect">
            <a:avLst/>
          </a:prstGeom>
          <a:solidFill>
            <a:srgbClr val="e6f1ff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9" name="fig03-text-27"/>
          <p:cNvSpPr txBox="1"/>
          <p:nvPr/>
        </p:nvSpPr>
        <p:spPr>
          <a:xfrm>
            <a:off x="3362400" y="3766320"/>
            <a:ext cx="1104840" cy="1114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750" spc="-1" strike="noStrike">
                <a:solidFill>
                  <a:srgbClr val="2d8eff"/>
                </a:solidFill>
                <a:latin typeface="IBM Plex Mono"/>
              </a:rPr>
              <a:t>CONTROLLED VERSION</a:t>
            </a:r>
            <a:endParaRPr b="1" lang="en-US" sz="750" spc="-1" strike="noStrike">
              <a:solidFill>
                <a:srgbClr val="2d8eff"/>
              </a:solidFill>
              <a:latin typeface="IBM Plex Mono"/>
              <a:ea typeface="IBM Plex Mono"/>
            </a:endParaRPr>
          </a:p>
        </p:txBody>
      </p:sp>
      <p:sp>
        <p:nvSpPr>
          <p:cNvPr id="460" name="fig03-text-28"/>
          <p:cNvSpPr txBox="1"/>
          <p:nvPr/>
        </p:nvSpPr>
        <p:spPr>
          <a:xfrm>
            <a:off x="3286080" y="3929040"/>
            <a:ext cx="2095560" cy="421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zh-CN" sz="1130" spc="-1" strike="noStrike">
                <a:solidFill>
                  <a:srgbClr val="161a25"/>
                </a:solidFill>
                <a:latin typeface="PingFang SC"/>
              </a:rPr>
              <a:t>需求版本</a:t>
            </a:r>
            <a:endParaRPr b="1" lang="en-US" sz="1130" spc="-1" strike="noStrike">
              <a:solidFill>
                <a:srgbClr val="161a25"/>
              </a:solidFill>
              <a:latin typeface="PingFang SC"/>
              <a:ea typeface="PingFang SC"/>
            </a:endParaRPr>
          </a:p>
        </p:txBody>
      </p:sp>
      <p:sp>
        <p:nvSpPr>
          <p:cNvPr id="461" name="fig03-text-29"/>
          <p:cNvSpPr txBox="1"/>
          <p:nvPr/>
        </p:nvSpPr>
        <p:spPr>
          <a:xfrm>
            <a:off x="3286080" y="4127040"/>
            <a:ext cx="2095560" cy="752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zh-CN" sz="900" spc="-1" strike="noStrike">
                <a:solidFill>
                  <a:srgbClr val="667085"/>
                </a:solidFill>
                <a:latin typeface="PingFang SC"/>
              </a:rPr>
              <a:t>预测 → 待确认 → 已确认 → 已冻结</a:t>
            </a:r>
            <a:endParaRPr b="0" lang="en-US" sz="900" spc="-1" strike="noStrike">
              <a:solidFill>
                <a:srgbClr val="667085"/>
              </a:solidFill>
              <a:latin typeface="PingFang SC"/>
              <a:ea typeface="PingFang SC"/>
            </a:endParaRPr>
          </a:p>
        </p:txBody>
      </p:sp>
      <p:sp>
        <p:nvSpPr>
          <p:cNvPr id="462" name="fig03-card"/>
          <p:cNvSpPr/>
          <p:nvPr/>
        </p:nvSpPr>
        <p:spPr>
          <a:xfrm>
            <a:off x="5715000" y="3581280"/>
            <a:ext cx="2381400" cy="952560"/>
          </a:xfrm>
          <a:prstGeom prst="roundRect">
            <a:avLst/>
          </a:prstGeom>
          <a:solidFill>
            <a:srgbClr val="ecfbf4"/>
          </a:solidFill>
          <a:ln w="11520">
            <a:solidFill>
              <a:srgbClr val="28cc83"/>
            </a:solidFill>
            <a:round/>
          </a:ln>
        </p:spPr>
        <p:txBody>
          <a:bodyPr lIns="95760" rIns="95760" tIns="50760" bIns="5076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3" name="fig03-card"/>
          <p:cNvSpPr/>
          <p:nvPr/>
        </p:nvSpPr>
        <p:spPr>
          <a:xfrm>
            <a:off x="5848200" y="3714840"/>
            <a:ext cx="1440360" cy="190440"/>
          </a:xfrm>
          <a:prstGeom prst="roundRect">
            <a:avLst/>
          </a:prstGeom>
          <a:solidFill>
            <a:srgbClr val="e5f9f0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4" name="fig03-text-32"/>
          <p:cNvSpPr txBox="1"/>
          <p:nvPr/>
        </p:nvSpPr>
        <p:spPr>
          <a:xfrm>
            <a:off x="5934240" y="3766320"/>
            <a:ext cx="1104840" cy="1114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750" spc="-1" strike="noStrike">
                <a:solidFill>
                  <a:srgbClr val="28cc83"/>
                </a:solidFill>
                <a:latin typeface="IBM Plex Mono"/>
              </a:rPr>
              <a:t>CONTROLLED VERSION</a:t>
            </a:r>
            <a:endParaRPr b="1" lang="en-US" sz="750" spc="-1" strike="noStrike">
              <a:solidFill>
                <a:srgbClr val="28cc83"/>
              </a:solidFill>
              <a:latin typeface="IBM Plex Mono"/>
              <a:ea typeface="IBM Plex Mono"/>
            </a:endParaRPr>
          </a:p>
        </p:txBody>
      </p:sp>
      <p:sp>
        <p:nvSpPr>
          <p:cNvPr id="465" name="fig03-text-33"/>
          <p:cNvSpPr txBox="1"/>
          <p:nvPr/>
        </p:nvSpPr>
        <p:spPr>
          <a:xfrm>
            <a:off x="5857920" y="3929040"/>
            <a:ext cx="2095560" cy="421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zh-CN" sz="1130" spc="-1" strike="noStrike">
                <a:solidFill>
                  <a:srgbClr val="161a25"/>
                </a:solidFill>
                <a:latin typeface="PingFang SC"/>
              </a:rPr>
              <a:t>生产版本</a:t>
            </a:r>
            <a:endParaRPr b="1" lang="en-US" sz="1130" spc="-1" strike="noStrike">
              <a:solidFill>
                <a:srgbClr val="161a25"/>
              </a:solidFill>
              <a:latin typeface="PingFang SC"/>
              <a:ea typeface="PingFang SC"/>
            </a:endParaRPr>
          </a:p>
        </p:txBody>
      </p:sp>
      <p:sp>
        <p:nvSpPr>
          <p:cNvPr id="466" name="fig03-text-34"/>
          <p:cNvSpPr txBox="1"/>
          <p:nvPr/>
        </p:nvSpPr>
        <p:spPr>
          <a:xfrm>
            <a:off x="5857920" y="4127040"/>
            <a:ext cx="2095560" cy="1082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zh-CN" sz="900" spc="-1" strike="noStrike">
                <a:solidFill>
                  <a:srgbClr val="667085"/>
                </a:solidFill>
                <a:latin typeface="PingFang SC"/>
              </a:rPr>
              <a:t>草拟 → 审核 → 已批准 → 已冻结 → 放行</a:t>
            </a:r>
            <a:endParaRPr b="0" lang="en-US" sz="900" spc="-1" strike="noStrike">
              <a:solidFill>
                <a:srgbClr val="667085"/>
              </a:solidFill>
              <a:latin typeface="PingFang SC"/>
              <a:ea typeface="PingFang SC"/>
            </a:endParaRPr>
          </a:p>
        </p:txBody>
      </p:sp>
      <p:sp>
        <p:nvSpPr>
          <p:cNvPr id="467" name="fig03-card"/>
          <p:cNvSpPr/>
          <p:nvPr/>
        </p:nvSpPr>
        <p:spPr>
          <a:xfrm>
            <a:off x="8286840" y="3581280"/>
            <a:ext cx="2381400" cy="952560"/>
          </a:xfrm>
          <a:prstGeom prst="roundRect">
            <a:avLst/>
          </a:prstGeom>
          <a:solidFill>
            <a:srgbClr val="fff8e7"/>
          </a:solidFill>
          <a:ln w="11520">
            <a:solidFill>
              <a:srgbClr val="e8a020"/>
            </a:solidFill>
            <a:round/>
          </a:ln>
        </p:spPr>
        <p:txBody>
          <a:bodyPr lIns="95760" rIns="95760" tIns="50760" bIns="5076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8" name="fig03-card"/>
          <p:cNvSpPr/>
          <p:nvPr/>
        </p:nvSpPr>
        <p:spPr>
          <a:xfrm>
            <a:off x="8420040" y="3714840"/>
            <a:ext cx="1440360" cy="190440"/>
          </a:xfrm>
          <a:prstGeom prst="roundRect">
            <a:avLst/>
          </a:prstGeom>
          <a:solidFill>
            <a:srgbClr val="fcf4e4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9" name="fig03-text-37"/>
          <p:cNvSpPr txBox="1"/>
          <p:nvPr/>
        </p:nvSpPr>
        <p:spPr>
          <a:xfrm>
            <a:off x="8505720" y="3766320"/>
            <a:ext cx="1104840" cy="1114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750" spc="-1" strike="noStrike">
                <a:solidFill>
                  <a:srgbClr val="e8a020"/>
                </a:solidFill>
                <a:latin typeface="IBM Plex Mono"/>
              </a:rPr>
              <a:t>CONTROLLED VERSION</a:t>
            </a:r>
            <a:endParaRPr b="1" lang="en-US" sz="750" spc="-1" strike="noStrike">
              <a:solidFill>
                <a:srgbClr val="e8a020"/>
              </a:solidFill>
              <a:latin typeface="IBM Plex Mono"/>
              <a:ea typeface="IBM Plex Mono"/>
            </a:endParaRPr>
          </a:p>
        </p:txBody>
      </p:sp>
      <p:sp>
        <p:nvSpPr>
          <p:cNvPr id="470" name="fig03-text-38"/>
          <p:cNvSpPr txBox="1"/>
          <p:nvPr/>
        </p:nvSpPr>
        <p:spPr>
          <a:xfrm>
            <a:off x="8429760" y="3929040"/>
            <a:ext cx="2095560" cy="421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zh-CN" sz="1130" spc="-1" strike="noStrike">
                <a:solidFill>
                  <a:srgbClr val="161a25"/>
                </a:solidFill>
                <a:latin typeface="PingFang SC"/>
              </a:rPr>
              <a:t>采购 </a:t>
            </a:r>
            <a:r>
              <a:rPr b="1" lang="en-US" sz="1130" spc="-1" strike="noStrike">
                <a:solidFill>
                  <a:srgbClr val="161a25"/>
                </a:solidFill>
                <a:latin typeface="PingFang SC"/>
              </a:rPr>
              <a:t>/ </a:t>
            </a:r>
            <a:r>
              <a:rPr b="1" lang="zh-CN" sz="1130" spc="-1" strike="noStrike">
                <a:solidFill>
                  <a:srgbClr val="161a25"/>
                </a:solidFill>
                <a:latin typeface="PingFang SC"/>
              </a:rPr>
              <a:t>库存执行</a:t>
            </a:r>
            <a:endParaRPr b="1" lang="en-US" sz="1130" spc="-1" strike="noStrike">
              <a:solidFill>
                <a:srgbClr val="161a25"/>
              </a:solidFill>
              <a:latin typeface="PingFang SC"/>
              <a:ea typeface="PingFang SC"/>
            </a:endParaRPr>
          </a:p>
        </p:txBody>
      </p:sp>
      <p:sp>
        <p:nvSpPr>
          <p:cNvPr id="471" name="fig03-text-39"/>
          <p:cNvSpPr txBox="1"/>
          <p:nvPr/>
        </p:nvSpPr>
        <p:spPr>
          <a:xfrm>
            <a:off x="8429760" y="4127040"/>
            <a:ext cx="2095560" cy="1413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zh-CN" sz="900" spc="-1" strike="noStrike">
                <a:solidFill>
                  <a:srgbClr val="667085"/>
                </a:solidFill>
                <a:latin typeface="PingFang SC"/>
              </a:rPr>
              <a:t>请购 → </a:t>
            </a:r>
            <a:r>
              <a:rPr b="0" lang="en-US" sz="900" spc="-1" strike="noStrike">
                <a:solidFill>
                  <a:srgbClr val="667085"/>
                </a:solidFill>
                <a:latin typeface="PingFang SC"/>
              </a:rPr>
              <a:t>PO → </a:t>
            </a:r>
            <a:r>
              <a:rPr b="0" lang="zh-CN" sz="900" spc="-1" strike="noStrike">
                <a:solidFill>
                  <a:srgbClr val="667085"/>
                </a:solidFill>
                <a:latin typeface="PingFang SC"/>
              </a:rPr>
              <a:t>收货验收 → 入库 </a:t>
            </a:r>
            <a:r>
              <a:rPr b="0" lang="en-US" sz="900" spc="-1" strike="noStrike">
                <a:solidFill>
                  <a:srgbClr val="667085"/>
                </a:solidFill>
                <a:latin typeface="PingFang SC"/>
              </a:rPr>
              <a:t>/ </a:t>
            </a:r>
            <a:r>
              <a:rPr b="0" lang="zh-CN" sz="900" spc="-1" strike="noStrike">
                <a:solidFill>
                  <a:srgbClr val="667085"/>
                </a:solidFill>
                <a:latin typeface="PingFang SC"/>
              </a:rPr>
              <a:t>领料 </a:t>
            </a:r>
            <a:r>
              <a:rPr b="0" lang="en-US" sz="900" spc="-1" strike="noStrike">
                <a:solidFill>
                  <a:srgbClr val="667085"/>
                </a:solidFill>
                <a:latin typeface="PingFang SC"/>
              </a:rPr>
              <a:t>/</a:t>
            </a:r>
            <a:endParaRPr b="0" lang="en-US" sz="900" spc="-1" strike="noStrike">
              <a:solidFill>
                <a:srgbClr val="667085"/>
              </a:solidFill>
              <a:latin typeface="PingFang SC"/>
              <a:ea typeface="PingFang SC"/>
            </a:endParaRPr>
          </a:p>
          <a:p>
            <a:r>
              <a:rPr b="0" lang="en-US" sz="900" spc="-1" strike="noStrike">
                <a:solidFill>
                  <a:srgbClr val="667085"/>
                </a:solidFill>
                <a:latin typeface="PingFang SC"/>
              </a:rPr>
              <a:t> </a:t>
            </a:r>
            <a:r>
              <a:rPr b="0" lang="zh-CN" sz="900" spc="-1" strike="noStrike">
                <a:solidFill>
                  <a:srgbClr val="667085"/>
                </a:solidFill>
                <a:latin typeface="PingFang SC"/>
              </a:rPr>
              <a:t>对账</a:t>
            </a:r>
            <a:endParaRPr b="0" lang="en-US" sz="900" spc="-1" strike="noStrike">
              <a:solidFill>
                <a:srgbClr val="667085"/>
              </a:solidFill>
              <a:latin typeface="PingFang SC"/>
              <a:ea typeface="PingFang SC"/>
            </a:endParaRPr>
          </a:p>
        </p:txBody>
      </p:sp>
      <p:sp>
        <p:nvSpPr>
          <p:cNvPr id="472" name="fig03-card"/>
          <p:cNvSpPr/>
          <p:nvPr/>
        </p:nvSpPr>
        <p:spPr>
          <a:xfrm>
            <a:off x="571680" y="4848120"/>
            <a:ext cx="47520" cy="209520"/>
          </a:xfrm>
          <a:prstGeom prst="roundRect">
            <a:avLst/>
          </a:prstGeom>
          <a:solidFill>
            <a:srgbClr val="4f46e5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73" name="fig03-text-41"/>
          <p:cNvSpPr txBox="1"/>
          <p:nvPr/>
        </p:nvSpPr>
        <p:spPr>
          <a:xfrm>
            <a:off x="743040" y="4928400"/>
            <a:ext cx="236520" cy="85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750" spc="-1" strike="noStrike">
                <a:solidFill>
                  <a:srgbClr val="4f46e5"/>
                </a:solidFill>
                <a:latin typeface="IBM Plex Mono"/>
              </a:rPr>
              <a:t>03B</a:t>
            </a:r>
            <a:endParaRPr b="1" lang="en-US" sz="750" spc="-1" strike="noStrike">
              <a:solidFill>
                <a:srgbClr val="4f46e5"/>
              </a:solidFill>
              <a:latin typeface="IBM Plex Mono"/>
              <a:ea typeface="IBM Plex Mono"/>
            </a:endParaRPr>
          </a:p>
        </p:txBody>
      </p:sp>
      <p:sp>
        <p:nvSpPr>
          <p:cNvPr id="474" name="fig03-text-42"/>
          <p:cNvSpPr txBox="1"/>
          <p:nvPr/>
        </p:nvSpPr>
        <p:spPr>
          <a:xfrm>
            <a:off x="1428840" y="4879080"/>
            <a:ext cx="2252160" cy="752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zh-CN" sz="1200" spc="-1" strike="noStrike">
                <a:solidFill>
                  <a:srgbClr val="161a25"/>
                </a:solidFill>
                <a:latin typeface="PingFang SC"/>
              </a:rPr>
              <a:t>阶段 </a:t>
            </a:r>
            <a:r>
              <a:rPr b="1" lang="en-US" sz="1200" spc="-1" strike="noStrike">
                <a:solidFill>
                  <a:srgbClr val="161a25"/>
                </a:solidFill>
                <a:latin typeface="PingFang SC"/>
              </a:rPr>
              <a:t>1</a:t>
            </a:r>
            <a:r>
              <a:rPr b="1" lang="zh-CN" sz="1200" spc="-1" strike="noStrike">
                <a:solidFill>
                  <a:srgbClr val="161a25"/>
                </a:solidFill>
                <a:latin typeface="PingFang SC"/>
              </a:rPr>
              <a:t>｜菜单形成与需求确认</a:t>
            </a:r>
            <a:endParaRPr b="1" lang="en-US" sz="1200" spc="-1" strike="noStrike">
              <a:solidFill>
                <a:srgbClr val="161a25"/>
              </a:solidFill>
              <a:latin typeface="PingFang SC"/>
              <a:ea typeface="PingFang SC"/>
            </a:endParaRPr>
          </a:p>
        </p:txBody>
      </p:sp>
      <p:sp>
        <p:nvSpPr>
          <p:cNvPr id="475" name="fig03-text-43"/>
          <p:cNvSpPr txBox="1"/>
          <p:nvPr/>
        </p:nvSpPr>
        <p:spPr>
          <a:xfrm>
            <a:off x="8612280" y="4921560"/>
            <a:ext cx="2246400" cy="1082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algn="r"/>
            <a:r>
              <a:rPr b="0" lang="zh-CN" sz="810" spc="-1" strike="noStrike">
                <a:solidFill>
                  <a:srgbClr val="667085"/>
                </a:solidFill>
                <a:latin typeface="PingFang SC"/>
              </a:rPr>
              <a:t>菜单候选可发布；确认需求才进入执行驱动</a:t>
            </a:r>
            <a:endParaRPr b="0" lang="en-US" sz="810" spc="-1" strike="noStrike">
              <a:solidFill>
                <a:srgbClr val="667085"/>
              </a:solidFill>
              <a:latin typeface="PingFang SC"/>
              <a:ea typeface="PingFang SC"/>
            </a:endParaRPr>
          </a:p>
        </p:txBody>
      </p:sp>
      <p:sp>
        <p:nvSpPr>
          <p:cNvPr id="476" name="fig03-card"/>
          <p:cNvSpPr/>
          <p:nvPr/>
        </p:nvSpPr>
        <p:spPr>
          <a:xfrm>
            <a:off x="571680" y="5315040"/>
            <a:ext cx="2095560" cy="1200240"/>
          </a:xfrm>
          <a:prstGeom prst="roundRect">
            <a:avLst/>
          </a:prstGeom>
          <a:solidFill>
            <a:srgbClr val="f5f1ff"/>
          </a:solidFill>
          <a:ln w="11520">
            <a:solidFill>
              <a:srgbClr val="8b5aca"/>
            </a:solidFill>
            <a:round/>
          </a:ln>
        </p:spPr>
        <p:txBody>
          <a:bodyPr lIns="95760" rIns="95760" tIns="50760" bIns="5076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7" name="fig03-card"/>
          <p:cNvSpPr/>
          <p:nvPr/>
        </p:nvSpPr>
        <p:spPr>
          <a:xfrm>
            <a:off x="704880" y="5448240"/>
            <a:ext cx="857160" cy="190440"/>
          </a:xfrm>
          <a:prstGeom prst="roundRect">
            <a:avLst/>
          </a:prstGeom>
          <a:solidFill>
            <a:srgbClr val="f1ebf9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8" name="fig03-text-46"/>
          <p:cNvSpPr txBox="1"/>
          <p:nvPr/>
        </p:nvSpPr>
        <p:spPr>
          <a:xfrm>
            <a:off x="790560" y="5499720"/>
            <a:ext cx="176760" cy="602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750" spc="-1" strike="noStrike">
                <a:solidFill>
                  <a:srgbClr val="8b5aca"/>
                </a:solidFill>
                <a:latin typeface="IBM Plex Mono"/>
              </a:rPr>
              <a:t>01</a:t>
            </a:r>
            <a:endParaRPr b="1" lang="en-US" sz="750" spc="-1" strike="noStrike">
              <a:solidFill>
                <a:srgbClr val="8b5aca"/>
              </a:solidFill>
              <a:latin typeface="IBM Plex Mono"/>
              <a:ea typeface="IBM Plex Mono"/>
            </a:endParaRPr>
          </a:p>
        </p:txBody>
      </p:sp>
      <p:sp>
        <p:nvSpPr>
          <p:cNvPr id="479" name="fig03-text-47"/>
          <p:cNvSpPr txBox="1"/>
          <p:nvPr/>
        </p:nvSpPr>
        <p:spPr>
          <a:xfrm>
            <a:off x="714240" y="5662440"/>
            <a:ext cx="1809720" cy="421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zh-CN" sz="1130" spc="-1" strike="noStrike">
                <a:solidFill>
                  <a:srgbClr val="161a25"/>
                </a:solidFill>
                <a:latin typeface="PingFang SC"/>
              </a:rPr>
              <a:t>菜单生成</a:t>
            </a:r>
            <a:endParaRPr b="1" lang="en-US" sz="1130" spc="-1" strike="noStrike">
              <a:solidFill>
                <a:srgbClr val="161a25"/>
              </a:solidFill>
              <a:latin typeface="PingFang SC"/>
              <a:ea typeface="PingFang SC"/>
            </a:endParaRPr>
          </a:p>
        </p:txBody>
      </p:sp>
      <p:sp>
        <p:nvSpPr>
          <p:cNvPr id="480" name="fig03-text-48"/>
          <p:cNvSpPr txBox="1"/>
          <p:nvPr/>
        </p:nvSpPr>
        <p:spPr>
          <a:xfrm>
            <a:off x="714240" y="5874120"/>
            <a:ext cx="1809720" cy="1082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zh-CN" sz="900" spc="-1" strike="noStrike">
                <a:solidFill>
                  <a:srgbClr val="667085"/>
                </a:solidFill>
                <a:latin typeface="PingFang SC"/>
              </a:rPr>
              <a:t>常规与临时场景</a:t>
            </a:r>
            <a:endParaRPr b="0" lang="en-US" sz="900" spc="-1" strike="noStrike">
              <a:solidFill>
                <a:srgbClr val="667085"/>
              </a:solidFill>
              <a:latin typeface="PingFang SC"/>
              <a:ea typeface="PingFang SC"/>
            </a:endParaRPr>
          </a:p>
          <a:p>
            <a:r>
              <a:rPr b="0" lang="zh-CN" sz="900" spc="-1" strike="noStrike">
                <a:solidFill>
                  <a:srgbClr val="667085"/>
                </a:solidFill>
                <a:latin typeface="PingFang SC"/>
              </a:rPr>
              <a:t>产品 </a:t>
            </a:r>
            <a:r>
              <a:rPr b="0" lang="en-US" sz="900" spc="-1" strike="noStrike">
                <a:solidFill>
                  <a:srgbClr val="667085"/>
                </a:solidFill>
                <a:latin typeface="PingFang SC"/>
              </a:rPr>
              <a:t>/ </a:t>
            </a:r>
            <a:r>
              <a:rPr b="0" lang="zh-CN" sz="900" spc="-1" strike="noStrike">
                <a:solidFill>
                  <a:srgbClr val="667085"/>
                </a:solidFill>
                <a:latin typeface="PingFang SC"/>
              </a:rPr>
              <a:t>结构点 </a:t>
            </a:r>
            <a:r>
              <a:rPr b="0" lang="en-US" sz="900" spc="-1" strike="noStrike">
                <a:solidFill>
                  <a:srgbClr val="667085"/>
                </a:solidFill>
                <a:latin typeface="PingFang SC"/>
              </a:rPr>
              <a:t>/ </a:t>
            </a:r>
            <a:r>
              <a:rPr b="0" lang="zh-CN" sz="900" spc="-1" strike="noStrike">
                <a:solidFill>
                  <a:srgbClr val="667085"/>
                </a:solidFill>
                <a:latin typeface="PingFang SC"/>
              </a:rPr>
              <a:t>专业规则引用</a:t>
            </a:r>
            <a:endParaRPr b="0" lang="en-US" sz="900" spc="-1" strike="noStrike">
              <a:solidFill>
                <a:srgbClr val="667085"/>
              </a:solidFill>
              <a:latin typeface="PingFang SC"/>
              <a:ea typeface="PingFang SC"/>
            </a:endParaRPr>
          </a:p>
        </p:txBody>
      </p:sp>
      <p:sp>
        <p:nvSpPr>
          <p:cNvPr id="481" name="fig03-poly"/>
          <p:cNvSpPr/>
          <p:nvPr/>
        </p:nvSpPr>
        <p:spPr>
          <a:xfrm>
            <a:off x="2867040" y="5486400"/>
            <a:ext cx="1123920" cy="857160"/>
          </a:xfrm>
          <a:custGeom>
            <a:avLst/>
            <a:gdLst/>
            <a:ahLst/>
            <a:rect l="0" t="0" r="r" b="b"/>
            <a:pathLst>
              <a:path w="3122" h="2381">
                <a:moveTo>
                  <a:pt x="1561" y="0"/>
                </a:moveTo>
                <a:lnTo>
                  <a:pt x="3122" y="1191"/>
                </a:lnTo>
                <a:lnTo>
                  <a:pt x="1561" y="2381"/>
                </a:lnTo>
                <a:lnTo>
                  <a:pt x="0" y="1191"/>
                </a:lnTo>
                <a:lnTo>
                  <a:pt x="1561" y="0"/>
                </a:lnTo>
                <a:close/>
              </a:path>
            </a:pathLst>
          </a:custGeom>
          <a:solidFill>
            <a:srgbClr val="fff1f2"/>
          </a:solidFill>
          <a:ln w="12240">
            <a:solidFill>
              <a:srgbClr val="e60012"/>
            </a:solidFill>
            <a:round/>
          </a:ln>
        </p:spPr>
        <p:txBody>
          <a:bodyPr lIns="96120" rIns="96120" tIns="51120" bIns="5112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2" name="fig03-text-50"/>
          <p:cNvSpPr txBox="1"/>
          <p:nvPr/>
        </p:nvSpPr>
        <p:spPr>
          <a:xfrm>
            <a:off x="3170160" y="5769360"/>
            <a:ext cx="518040" cy="2181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algn="ctr"/>
            <a:r>
              <a:rPr b="0" lang="zh-CN" sz="810" spc="-1" strike="noStrike">
                <a:solidFill>
                  <a:srgbClr val="e60012"/>
                </a:solidFill>
                <a:latin typeface="PingFang SC"/>
              </a:rPr>
              <a:t>专业审核</a:t>
            </a:r>
            <a:endParaRPr b="0" lang="en-US" sz="810" spc="-1" strike="noStrike">
              <a:solidFill>
                <a:srgbClr val="e60012"/>
              </a:solidFill>
              <a:latin typeface="PingFang SC"/>
              <a:ea typeface="PingFang SC"/>
            </a:endParaRPr>
          </a:p>
          <a:p>
            <a:pPr algn="ctr"/>
            <a:r>
              <a:rPr b="0" lang="en-US" sz="810" spc="-1" strike="noStrike">
                <a:solidFill>
                  <a:srgbClr val="e60012"/>
                </a:solidFill>
                <a:latin typeface="PingFang SC"/>
              </a:rPr>
              <a:t>HUMAN</a:t>
            </a:r>
            <a:endParaRPr b="0" lang="en-US" sz="810" spc="-1" strike="noStrike">
              <a:solidFill>
                <a:srgbClr val="e60012"/>
              </a:solidFill>
              <a:latin typeface="PingFang SC"/>
              <a:ea typeface="PingFang SC"/>
            </a:endParaRPr>
          </a:p>
        </p:txBody>
      </p:sp>
      <p:sp>
        <p:nvSpPr>
          <p:cNvPr id="483" name="fig03-card"/>
          <p:cNvSpPr/>
          <p:nvPr/>
        </p:nvSpPr>
        <p:spPr>
          <a:xfrm>
            <a:off x="4762440" y="5315040"/>
            <a:ext cx="2095560" cy="1200240"/>
          </a:xfrm>
          <a:prstGeom prst="roundRect">
            <a:avLst/>
          </a:prstGeom>
          <a:solidFill>
            <a:srgbClr val="f5f1ff"/>
          </a:solidFill>
          <a:ln w="11520">
            <a:solidFill>
              <a:srgbClr val="8b5aca"/>
            </a:solidFill>
            <a:round/>
          </a:ln>
        </p:spPr>
        <p:txBody>
          <a:bodyPr lIns="95760" rIns="95760" tIns="50760" bIns="5076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4" name="fig03-card"/>
          <p:cNvSpPr/>
          <p:nvPr/>
        </p:nvSpPr>
        <p:spPr>
          <a:xfrm>
            <a:off x="4896000" y="5448240"/>
            <a:ext cx="857160" cy="190440"/>
          </a:xfrm>
          <a:prstGeom prst="roundRect">
            <a:avLst/>
          </a:prstGeom>
          <a:solidFill>
            <a:srgbClr val="f1ebf9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5" name="fig03-text-53"/>
          <p:cNvSpPr txBox="1"/>
          <p:nvPr/>
        </p:nvSpPr>
        <p:spPr>
          <a:xfrm>
            <a:off x="4981680" y="5499720"/>
            <a:ext cx="176760" cy="602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750" spc="-1" strike="noStrike">
                <a:solidFill>
                  <a:srgbClr val="8b5aca"/>
                </a:solidFill>
                <a:latin typeface="IBM Plex Mono"/>
              </a:rPr>
              <a:t>02</a:t>
            </a:r>
            <a:endParaRPr b="1" lang="en-US" sz="750" spc="-1" strike="noStrike">
              <a:solidFill>
                <a:srgbClr val="8b5aca"/>
              </a:solidFill>
              <a:latin typeface="IBM Plex Mono"/>
              <a:ea typeface="IBM Plex Mono"/>
            </a:endParaRPr>
          </a:p>
        </p:txBody>
      </p:sp>
      <p:sp>
        <p:nvSpPr>
          <p:cNvPr id="486" name="fig03-text-54"/>
          <p:cNvSpPr txBox="1"/>
          <p:nvPr/>
        </p:nvSpPr>
        <p:spPr>
          <a:xfrm>
            <a:off x="4905360" y="5662440"/>
            <a:ext cx="1809720" cy="421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zh-CN" sz="1130" spc="-1" strike="noStrike">
                <a:solidFill>
                  <a:srgbClr val="161a25"/>
                </a:solidFill>
                <a:latin typeface="PingFang SC"/>
              </a:rPr>
              <a:t>菜单发布</a:t>
            </a:r>
            <a:endParaRPr b="1" lang="en-US" sz="1130" spc="-1" strike="noStrike">
              <a:solidFill>
                <a:srgbClr val="161a25"/>
              </a:solidFill>
              <a:latin typeface="PingFang SC"/>
              <a:ea typeface="PingFang SC"/>
            </a:endParaRPr>
          </a:p>
        </p:txBody>
      </p:sp>
      <p:sp>
        <p:nvSpPr>
          <p:cNvPr id="487" name="fig03-text-55"/>
          <p:cNvSpPr txBox="1"/>
          <p:nvPr/>
        </p:nvSpPr>
        <p:spPr>
          <a:xfrm>
            <a:off x="4905360" y="5874120"/>
            <a:ext cx="1809720" cy="1413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zh-CN" sz="900" spc="-1" strike="noStrike">
                <a:solidFill>
                  <a:srgbClr val="667085"/>
                </a:solidFill>
                <a:latin typeface="PingFang SC"/>
              </a:rPr>
              <a:t>可供选择菜单 </a:t>
            </a:r>
            <a:r>
              <a:rPr b="0" lang="en-US" sz="900" spc="-1" strike="noStrike">
                <a:solidFill>
                  <a:srgbClr val="667085"/>
                </a:solidFill>
                <a:latin typeface="PingFang SC"/>
              </a:rPr>
              <a:t>/ </a:t>
            </a:r>
            <a:r>
              <a:rPr b="0" lang="zh-CN" sz="900" spc="-1" strike="noStrike">
                <a:solidFill>
                  <a:srgbClr val="667085"/>
                </a:solidFill>
                <a:latin typeface="PingFang SC"/>
              </a:rPr>
              <a:t>备选池</a:t>
            </a:r>
            <a:endParaRPr b="0" lang="en-US" sz="900" spc="-1" strike="noStrike">
              <a:solidFill>
                <a:srgbClr val="667085"/>
              </a:solidFill>
              <a:latin typeface="PingFang SC"/>
              <a:ea typeface="PingFang SC"/>
            </a:endParaRPr>
          </a:p>
          <a:p>
            <a:r>
              <a:rPr b="0" lang="zh-CN" sz="900" spc="-1" strike="noStrike">
                <a:solidFill>
                  <a:srgbClr val="667085"/>
                </a:solidFill>
                <a:latin typeface="PingFang SC"/>
              </a:rPr>
              <a:t>锁定菜单版本与适用范围</a:t>
            </a:r>
            <a:endParaRPr b="0" lang="en-US" sz="900" spc="-1" strike="noStrike">
              <a:solidFill>
                <a:srgbClr val="667085"/>
              </a:solidFill>
              <a:latin typeface="PingFang SC"/>
              <a:ea typeface="PingFang SC"/>
            </a:endParaRPr>
          </a:p>
        </p:txBody>
      </p:sp>
      <p:sp>
        <p:nvSpPr>
          <p:cNvPr id="488" name="fig03-card"/>
          <p:cNvSpPr/>
          <p:nvPr/>
        </p:nvSpPr>
        <p:spPr>
          <a:xfrm>
            <a:off x="7429680" y="5315040"/>
            <a:ext cx="2857680" cy="1200240"/>
          </a:xfrm>
          <a:prstGeom prst="roundRect">
            <a:avLst/>
          </a:prstGeom>
          <a:solidFill>
            <a:srgbClr val="eef6ff"/>
          </a:solidFill>
          <a:ln w="11520">
            <a:solidFill>
              <a:srgbClr val="2d8eff"/>
            </a:solidFill>
            <a:round/>
          </a:ln>
        </p:spPr>
        <p:txBody>
          <a:bodyPr lIns="95760" rIns="95760" tIns="50760" bIns="5076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9" name="fig03-card"/>
          <p:cNvSpPr/>
          <p:nvPr/>
        </p:nvSpPr>
        <p:spPr>
          <a:xfrm>
            <a:off x="7562880" y="5448240"/>
            <a:ext cx="857160" cy="190440"/>
          </a:xfrm>
          <a:prstGeom prst="roundRect">
            <a:avLst/>
          </a:prstGeom>
          <a:solidFill>
            <a:srgbClr val="e6f1ff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0" name="fig03-text-58"/>
          <p:cNvSpPr txBox="1"/>
          <p:nvPr/>
        </p:nvSpPr>
        <p:spPr>
          <a:xfrm>
            <a:off x="7648560" y="5499720"/>
            <a:ext cx="176760" cy="602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750" spc="-1" strike="noStrike">
                <a:solidFill>
                  <a:srgbClr val="2d8eff"/>
                </a:solidFill>
                <a:latin typeface="IBM Plex Mono"/>
              </a:rPr>
              <a:t>03</a:t>
            </a:r>
            <a:endParaRPr b="1" lang="en-US" sz="750" spc="-1" strike="noStrike">
              <a:solidFill>
                <a:srgbClr val="2d8eff"/>
              </a:solidFill>
              <a:latin typeface="IBM Plex Mono"/>
              <a:ea typeface="IBM Plex Mono"/>
            </a:endParaRPr>
          </a:p>
        </p:txBody>
      </p:sp>
      <p:sp>
        <p:nvSpPr>
          <p:cNvPr id="491" name="fig03-text-59"/>
          <p:cNvSpPr txBox="1"/>
          <p:nvPr/>
        </p:nvSpPr>
        <p:spPr>
          <a:xfrm>
            <a:off x="7572240" y="5662440"/>
            <a:ext cx="2571840" cy="421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zh-CN" sz="1130" spc="-1" strike="noStrike">
                <a:solidFill>
                  <a:srgbClr val="161a25"/>
                </a:solidFill>
                <a:latin typeface="PingFang SC"/>
              </a:rPr>
              <a:t>需求合并与预测</a:t>
            </a:r>
            <a:endParaRPr b="1" lang="en-US" sz="1130" spc="-1" strike="noStrike">
              <a:solidFill>
                <a:srgbClr val="161a25"/>
              </a:solidFill>
              <a:latin typeface="PingFang SC"/>
              <a:ea typeface="PingFang SC"/>
            </a:endParaRPr>
          </a:p>
        </p:txBody>
      </p:sp>
      <p:sp>
        <p:nvSpPr>
          <p:cNvPr id="492" name="fig03-text-60"/>
          <p:cNvSpPr txBox="1"/>
          <p:nvPr/>
        </p:nvSpPr>
        <p:spPr>
          <a:xfrm>
            <a:off x="7572240" y="5874120"/>
            <a:ext cx="2571840" cy="1413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zh-CN" sz="900" spc="-1" strike="noStrike">
                <a:solidFill>
                  <a:srgbClr val="667085"/>
                </a:solidFill>
                <a:latin typeface="PingFang SC"/>
              </a:rPr>
              <a:t>订单 </a:t>
            </a:r>
            <a:r>
              <a:rPr b="0" lang="en-US" sz="900" spc="-1" strike="noStrike">
                <a:solidFill>
                  <a:srgbClr val="667085"/>
                </a:solidFill>
                <a:latin typeface="PingFang SC"/>
              </a:rPr>
              <a:t>/ </a:t>
            </a:r>
            <a:r>
              <a:rPr b="0" lang="zh-CN" sz="900" spc="-1" strike="noStrike">
                <a:solidFill>
                  <a:srgbClr val="667085"/>
                </a:solidFill>
                <a:latin typeface="PingFang SC"/>
              </a:rPr>
              <a:t>预约 </a:t>
            </a:r>
            <a:r>
              <a:rPr b="0" lang="en-US" sz="900" spc="-1" strike="noStrike">
                <a:solidFill>
                  <a:srgbClr val="667085"/>
                </a:solidFill>
                <a:latin typeface="PingFang SC"/>
              </a:rPr>
              <a:t>/ </a:t>
            </a:r>
            <a:r>
              <a:rPr b="0" lang="zh-CN" sz="900" spc="-1" strike="noStrike">
                <a:solidFill>
                  <a:srgbClr val="667085"/>
                </a:solidFill>
                <a:latin typeface="PingFang SC"/>
              </a:rPr>
              <a:t>历史实绩 </a:t>
            </a:r>
            <a:r>
              <a:rPr b="0" lang="en-US" sz="900" spc="-1" strike="noStrike">
                <a:solidFill>
                  <a:srgbClr val="667085"/>
                </a:solidFill>
                <a:latin typeface="PingFang SC"/>
              </a:rPr>
              <a:t>/ </a:t>
            </a:r>
            <a:r>
              <a:rPr b="0" lang="zh-CN" sz="900" spc="-1" strike="noStrike">
                <a:solidFill>
                  <a:srgbClr val="667085"/>
                </a:solidFill>
                <a:latin typeface="PingFang SC"/>
              </a:rPr>
              <a:t>临时需求</a:t>
            </a:r>
            <a:endParaRPr b="0" lang="en-US" sz="900" spc="-1" strike="noStrike">
              <a:solidFill>
                <a:srgbClr val="667085"/>
              </a:solidFill>
              <a:latin typeface="PingFang SC"/>
              <a:ea typeface="PingFang SC"/>
            </a:endParaRPr>
          </a:p>
          <a:p>
            <a:r>
              <a:rPr b="0" lang="zh-CN" sz="900" spc="-1" strike="noStrike">
                <a:solidFill>
                  <a:srgbClr val="667085"/>
                </a:solidFill>
                <a:latin typeface="PingFang SC"/>
              </a:rPr>
              <a:t>预测值、确认值与差异原因分开保存</a:t>
            </a:r>
            <a:endParaRPr b="0" lang="en-US" sz="900" spc="-1" strike="noStrike">
              <a:solidFill>
                <a:srgbClr val="667085"/>
              </a:solidFill>
              <a:latin typeface="PingFang SC"/>
              <a:ea typeface="PingFang SC"/>
            </a:endParaRPr>
          </a:p>
        </p:txBody>
      </p:sp>
      <p:sp>
        <p:nvSpPr>
          <p:cNvPr id="493" name="fig03-f1-g1"/>
          <p:cNvSpPr/>
          <p:nvPr/>
        </p:nvSpPr>
        <p:spPr>
          <a:xfrm>
            <a:off x="2666880" y="5915160"/>
            <a:ext cx="200160" cy="0"/>
          </a:xfrm>
          <a:prstGeom prst="line">
            <a:avLst/>
          </a:prstGeom>
          <a:ln w="16200">
            <a:solidFill>
              <a:srgbClr val="8b5ac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7920" rIns="97920" tIns="-52920" bIns="-5292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4" name="fig03-f1-g1-head"/>
          <p:cNvSpPr/>
          <p:nvPr/>
        </p:nvSpPr>
        <p:spPr>
          <a:xfrm>
            <a:off x="2781360" y="5879160"/>
            <a:ext cx="85680" cy="72000"/>
          </a:xfrm>
          <a:custGeom>
            <a:avLst/>
            <a:gdLst/>
            <a:ahLst/>
            <a:rect l="0" t="0" r="r" b="b"/>
            <a:pathLst>
              <a:path w="238" h="200">
                <a:moveTo>
                  <a:pt x="238" y="100"/>
                </a:moveTo>
                <a:lnTo>
                  <a:pt x="0" y="200"/>
                </a:lnTo>
                <a:lnTo>
                  <a:pt x="0" y="0"/>
                </a:lnTo>
                <a:lnTo>
                  <a:pt x="238" y="100"/>
                </a:lnTo>
                <a:close/>
              </a:path>
            </a:pathLst>
          </a:custGeom>
          <a:solidFill>
            <a:srgbClr val="8b5aca"/>
          </a:solidFill>
          <a:ln w="0">
            <a:noFill/>
          </a:ln>
        </p:spPr>
        <p:txBody>
          <a:bodyPr lIns="90000" rIns="90000" tIns="27000" bIns="27000" anchor="ctr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95" name="fig03-g1-f2"/>
          <p:cNvSpPr/>
          <p:nvPr/>
        </p:nvSpPr>
        <p:spPr>
          <a:xfrm>
            <a:off x="3990960" y="5915160"/>
            <a:ext cx="771480" cy="0"/>
          </a:xfrm>
          <a:prstGeom prst="line">
            <a:avLst/>
          </a:prstGeom>
          <a:ln w="16200">
            <a:solidFill>
              <a:srgbClr val="e6001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7920" rIns="97920" tIns="-52920" bIns="-5292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6" name="fig03-g1-f2-head"/>
          <p:cNvSpPr/>
          <p:nvPr/>
        </p:nvSpPr>
        <p:spPr>
          <a:xfrm>
            <a:off x="4676760" y="5879160"/>
            <a:ext cx="85680" cy="72000"/>
          </a:xfrm>
          <a:custGeom>
            <a:avLst/>
            <a:gdLst/>
            <a:ahLst/>
            <a:rect l="0" t="0" r="r" b="b"/>
            <a:pathLst>
              <a:path w="238" h="200">
                <a:moveTo>
                  <a:pt x="238" y="100"/>
                </a:moveTo>
                <a:lnTo>
                  <a:pt x="0" y="200"/>
                </a:lnTo>
                <a:lnTo>
                  <a:pt x="0" y="0"/>
                </a:lnTo>
                <a:lnTo>
                  <a:pt x="238" y="100"/>
                </a:lnTo>
                <a:close/>
              </a:path>
            </a:pathLst>
          </a:custGeom>
          <a:solidFill>
            <a:srgbClr val="e60012"/>
          </a:solidFill>
          <a:ln w="0">
            <a:noFill/>
          </a:ln>
        </p:spPr>
        <p:txBody>
          <a:bodyPr lIns="90000" rIns="90000" tIns="27000" bIns="27000" anchor="ctr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97" name="fig03-63-chip"/>
          <p:cNvSpPr/>
          <p:nvPr/>
        </p:nvSpPr>
        <p:spPr>
          <a:xfrm>
            <a:off x="4001400" y="5680800"/>
            <a:ext cx="721800" cy="171360"/>
          </a:xfrm>
          <a:prstGeom prst="roundRect">
            <a:avLst/>
          </a:prstGeom>
          <a:solidFill>
            <a:srgbClr val="ffffff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8" name="fig03-text-63"/>
          <p:cNvSpPr txBox="1"/>
          <p:nvPr/>
        </p:nvSpPr>
        <p:spPr>
          <a:xfrm>
            <a:off x="4058640" y="5699880"/>
            <a:ext cx="607680" cy="1413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algn="ctr"/>
            <a:r>
              <a:rPr b="1" lang="zh-CN" sz="750" spc="-1" strike="noStrike">
                <a:solidFill>
                  <a:srgbClr val="667085"/>
                </a:solidFill>
                <a:latin typeface="PingFang SC"/>
              </a:rPr>
              <a:t>通过 </a:t>
            </a:r>
            <a:r>
              <a:rPr b="1" lang="en-US" sz="750" spc="-1" strike="noStrike">
                <a:solidFill>
                  <a:srgbClr val="667085"/>
                </a:solidFill>
                <a:latin typeface="PingFang SC"/>
              </a:rPr>
              <a:t>/ </a:t>
            </a:r>
            <a:r>
              <a:rPr b="1" lang="zh-CN" sz="750" spc="-1" strike="noStrike">
                <a:solidFill>
                  <a:srgbClr val="667085"/>
                </a:solidFill>
                <a:latin typeface="PingFang SC"/>
              </a:rPr>
              <a:t>退回</a:t>
            </a:r>
            <a:endParaRPr b="1" lang="en-US" sz="750" spc="-1" strike="noStrike">
              <a:solidFill>
                <a:srgbClr val="667085"/>
              </a:solidFill>
              <a:latin typeface="PingFang SC"/>
              <a:ea typeface="PingFang SC"/>
            </a:endParaRPr>
          </a:p>
        </p:txBody>
      </p:sp>
      <p:sp>
        <p:nvSpPr>
          <p:cNvPr id="499" name="fig03-f2-f3"/>
          <p:cNvSpPr/>
          <p:nvPr/>
        </p:nvSpPr>
        <p:spPr>
          <a:xfrm>
            <a:off x="6858000" y="5915160"/>
            <a:ext cx="571680" cy="0"/>
          </a:xfrm>
          <a:prstGeom prst="line">
            <a:avLst/>
          </a:prstGeom>
          <a:ln w="16200">
            <a:solidFill>
              <a:srgbClr val="2d8e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7920" rIns="97920" tIns="-52920" bIns="-5292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0" name="fig03-f2-f3-head"/>
          <p:cNvSpPr/>
          <p:nvPr/>
        </p:nvSpPr>
        <p:spPr>
          <a:xfrm>
            <a:off x="7343640" y="5879160"/>
            <a:ext cx="86040" cy="72000"/>
          </a:xfrm>
          <a:custGeom>
            <a:avLst/>
            <a:gdLst/>
            <a:ahLst/>
            <a:rect l="0" t="0" r="r" b="b"/>
            <a:pathLst>
              <a:path w="239" h="200">
                <a:moveTo>
                  <a:pt x="239" y="100"/>
                </a:moveTo>
                <a:lnTo>
                  <a:pt x="0" y="200"/>
                </a:lnTo>
                <a:lnTo>
                  <a:pt x="0" y="0"/>
                </a:lnTo>
                <a:lnTo>
                  <a:pt x="239" y="100"/>
                </a:lnTo>
                <a:close/>
              </a:path>
            </a:pathLst>
          </a:custGeom>
          <a:solidFill>
            <a:srgbClr val="2d8eff"/>
          </a:solidFill>
          <a:ln w="0">
            <a:noFill/>
          </a:ln>
        </p:spPr>
        <p:txBody>
          <a:bodyPr lIns="90000" rIns="90000" tIns="27000" bIns="27000" anchor="ctr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01" name="fig03-65-chip"/>
          <p:cNvSpPr/>
          <p:nvPr/>
        </p:nvSpPr>
        <p:spPr>
          <a:xfrm>
            <a:off x="6844680" y="5680800"/>
            <a:ext cx="598320" cy="171360"/>
          </a:xfrm>
          <a:prstGeom prst="roundRect">
            <a:avLst/>
          </a:prstGeom>
          <a:solidFill>
            <a:srgbClr val="ffffff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2" name="fig03-text-65"/>
          <p:cNvSpPr txBox="1"/>
          <p:nvPr/>
        </p:nvSpPr>
        <p:spPr>
          <a:xfrm>
            <a:off x="6901920" y="5699880"/>
            <a:ext cx="483840" cy="1413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algn="ctr"/>
            <a:r>
              <a:rPr b="1" lang="zh-CN" sz="750" spc="-1" strike="noStrike">
                <a:solidFill>
                  <a:srgbClr val="667085"/>
                </a:solidFill>
                <a:latin typeface="PingFang SC"/>
              </a:rPr>
              <a:t>可选菜单</a:t>
            </a:r>
            <a:endParaRPr b="1" lang="en-US" sz="750" spc="-1" strike="noStrike">
              <a:solidFill>
                <a:srgbClr val="667085"/>
              </a:solidFill>
              <a:latin typeface="PingFang SC"/>
              <a:ea typeface="PingFang SC"/>
            </a:endParaRPr>
          </a:p>
        </p:txBody>
      </p:sp>
      <p:sp>
        <p:nvSpPr>
          <p:cNvPr id="503" name="fig03-poly"/>
          <p:cNvSpPr/>
          <p:nvPr/>
        </p:nvSpPr>
        <p:spPr>
          <a:xfrm>
            <a:off x="8582040" y="6600960"/>
            <a:ext cx="1123920" cy="857160"/>
          </a:xfrm>
          <a:custGeom>
            <a:avLst/>
            <a:gdLst/>
            <a:ahLst/>
            <a:rect l="0" t="0" r="r" b="b"/>
            <a:pathLst>
              <a:path w="3122" h="2381">
                <a:moveTo>
                  <a:pt x="1561" y="0"/>
                </a:moveTo>
                <a:lnTo>
                  <a:pt x="3122" y="1190"/>
                </a:lnTo>
                <a:lnTo>
                  <a:pt x="1561" y="2381"/>
                </a:lnTo>
                <a:lnTo>
                  <a:pt x="0" y="1190"/>
                </a:lnTo>
                <a:lnTo>
                  <a:pt x="1561" y="0"/>
                </a:lnTo>
                <a:close/>
              </a:path>
            </a:pathLst>
          </a:custGeom>
          <a:solidFill>
            <a:srgbClr val="fff1f2"/>
          </a:solidFill>
          <a:ln w="12240">
            <a:solidFill>
              <a:srgbClr val="e60012"/>
            </a:solidFill>
            <a:round/>
          </a:ln>
        </p:spPr>
        <p:txBody>
          <a:bodyPr lIns="96120" rIns="96120" tIns="51120" bIns="5112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4" name="fig03-text-67"/>
          <p:cNvSpPr txBox="1"/>
          <p:nvPr/>
        </p:nvSpPr>
        <p:spPr>
          <a:xfrm>
            <a:off x="8885160" y="6883920"/>
            <a:ext cx="518040" cy="2181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algn="ctr"/>
            <a:r>
              <a:rPr b="0" lang="zh-CN" sz="810" spc="-1" strike="noStrike">
                <a:solidFill>
                  <a:srgbClr val="e60012"/>
                </a:solidFill>
                <a:latin typeface="PingFang SC"/>
              </a:rPr>
              <a:t>确认需求</a:t>
            </a:r>
            <a:endParaRPr b="0" lang="en-US" sz="810" spc="-1" strike="noStrike">
              <a:solidFill>
                <a:srgbClr val="e60012"/>
              </a:solidFill>
              <a:latin typeface="PingFang SC"/>
              <a:ea typeface="PingFang SC"/>
            </a:endParaRPr>
          </a:p>
          <a:p>
            <a:pPr algn="ctr"/>
            <a:r>
              <a:rPr b="0" lang="en-US" sz="810" spc="-1" strike="noStrike">
                <a:solidFill>
                  <a:srgbClr val="e60012"/>
                </a:solidFill>
                <a:latin typeface="PingFang SC"/>
              </a:rPr>
              <a:t>HUMAN</a:t>
            </a:r>
            <a:endParaRPr b="0" lang="en-US" sz="810" spc="-1" strike="noStrike">
              <a:solidFill>
                <a:srgbClr val="e60012"/>
              </a:solidFill>
              <a:latin typeface="PingFang SC"/>
              <a:ea typeface="PingFang SC"/>
            </a:endParaRPr>
          </a:p>
        </p:txBody>
      </p:sp>
      <p:sp>
        <p:nvSpPr>
          <p:cNvPr id="505" name="fig03-f3-g2"/>
          <p:cNvSpPr/>
          <p:nvPr/>
        </p:nvSpPr>
        <p:spPr>
          <a:xfrm>
            <a:off x="8858160" y="6515280"/>
            <a:ext cx="285840" cy="85680"/>
          </a:xfrm>
          <a:prstGeom prst="line">
            <a:avLst/>
          </a:prstGeom>
          <a:ln w="16200">
            <a:solidFill>
              <a:srgbClr val="2d8e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7920" rIns="97920" tIns="32760" bIns="3276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6" name="fig03-f3-g2-head"/>
          <p:cNvSpPr/>
          <p:nvPr/>
        </p:nvSpPr>
        <p:spPr>
          <a:xfrm>
            <a:off x="9051480" y="6541560"/>
            <a:ext cx="92520" cy="69120"/>
          </a:xfrm>
          <a:custGeom>
            <a:avLst/>
            <a:gdLst/>
            <a:ahLst/>
            <a:rect l="0" t="0" r="r" b="b"/>
            <a:pathLst>
              <a:path w="257" h="192">
                <a:moveTo>
                  <a:pt x="257" y="165"/>
                </a:moveTo>
                <a:lnTo>
                  <a:pt x="0" y="192"/>
                </a:lnTo>
                <a:lnTo>
                  <a:pt x="58" y="0"/>
                </a:lnTo>
                <a:lnTo>
                  <a:pt x="257" y="165"/>
                </a:lnTo>
                <a:close/>
              </a:path>
            </a:pathLst>
          </a:custGeom>
          <a:solidFill>
            <a:srgbClr val="2d8eff"/>
          </a:solidFill>
          <a:ln w="0">
            <a:noFill/>
          </a:ln>
        </p:spPr>
        <p:txBody>
          <a:bodyPr lIns="90000" rIns="90000" tIns="24120" bIns="24120" anchor="ctr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07" name="fig03-69-chip"/>
          <p:cNvSpPr/>
          <p:nvPr/>
        </p:nvSpPr>
        <p:spPr>
          <a:xfrm>
            <a:off x="8713440" y="6757200"/>
            <a:ext cx="384840" cy="171360"/>
          </a:xfrm>
          <a:prstGeom prst="roundRect">
            <a:avLst/>
          </a:prstGeom>
          <a:solidFill>
            <a:srgbClr val="ffffff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8" name="fig03-text-69"/>
          <p:cNvSpPr txBox="1"/>
          <p:nvPr/>
        </p:nvSpPr>
        <p:spPr>
          <a:xfrm>
            <a:off x="8770680" y="6775920"/>
            <a:ext cx="270360" cy="752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algn="ctr"/>
            <a:r>
              <a:rPr b="1" lang="zh-CN" sz="750" spc="-1" strike="noStrike">
                <a:solidFill>
                  <a:srgbClr val="667085"/>
                </a:solidFill>
                <a:latin typeface="PingFang SC"/>
              </a:rPr>
              <a:t>确认</a:t>
            </a:r>
            <a:endParaRPr b="1" lang="en-US" sz="750" spc="-1" strike="noStrike">
              <a:solidFill>
                <a:srgbClr val="667085"/>
              </a:solidFill>
              <a:latin typeface="PingFang SC"/>
              <a:ea typeface="PingFang SC"/>
            </a:endParaRPr>
          </a:p>
        </p:txBody>
      </p:sp>
      <p:sp>
        <p:nvSpPr>
          <p:cNvPr id="509" name="fig03-card"/>
          <p:cNvSpPr/>
          <p:nvPr/>
        </p:nvSpPr>
        <p:spPr>
          <a:xfrm>
            <a:off x="571680" y="6762600"/>
            <a:ext cx="2048040" cy="209520"/>
          </a:xfrm>
          <a:prstGeom prst="roundRect">
            <a:avLst/>
          </a:prstGeom>
          <a:solidFill>
            <a:srgbClr val="fffefb"/>
          </a:solidFill>
          <a:ln w="7560">
            <a:solidFill>
              <a:srgbClr val="e8a020"/>
            </a:solidFill>
            <a:round/>
          </a:ln>
        </p:spPr>
        <p:txBody>
          <a:bodyPr lIns="93600" rIns="93600" tIns="48600" bIns="4860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0" name="fig03-text-71"/>
          <p:cNvSpPr txBox="1"/>
          <p:nvPr/>
        </p:nvSpPr>
        <p:spPr>
          <a:xfrm>
            <a:off x="1078200" y="6823800"/>
            <a:ext cx="1034280" cy="1082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algn="ctr"/>
            <a:r>
              <a:rPr b="1" lang="zh-CN" sz="750" spc="-1" strike="noStrike">
                <a:solidFill>
                  <a:srgbClr val="e8a020"/>
                </a:solidFill>
                <a:latin typeface="IBM Plex Mono"/>
              </a:rPr>
              <a:t>备选菜单 ≠ 生产指令</a:t>
            </a:r>
            <a:endParaRPr b="1" lang="en-US" sz="750" spc="-1" strike="noStrike">
              <a:solidFill>
                <a:srgbClr val="e8a020"/>
              </a:solidFill>
              <a:latin typeface="IBM Plex Mono"/>
              <a:ea typeface="IBM Plex Mono"/>
            </a:endParaRPr>
          </a:p>
        </p:txBody>
      </p:sp>
      <p:sp>
        <p:nvSpPr>
          <p:cNvPr id="511" name="fig03-card"/>
          <p:cNvSpPr/>
          <p:nvPr/>
        </p:nvSpPr>
        <p:spPr>
          <a:xfrm>
            <a:off x="2857680" y="6762600"/>
            <a:ext cx="2952720" cy="209520"/>
          </a:xfrm>
          <a:prstGeom prst="roundRect">
            <a:avLst/>
          </a:prstGeom>
          <a:solidFill>
            <a:srgbClr val="fcfefd"/>
          </a:solidFill>
          <a:ln w="7560">
            <a:solidFill>
              <a:srgbClr val="28cc83"/>
            </a:solidFill>
            <a:round/>
          </a:ln>
        </p:spPr>
        <p:txBody>
          <a:bodyPr lIns="93600" rIns="93600" tIns="48600" bIns="4860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2" name="fig03-text-73"/>
          <p:cNvSpPr txBox="1"/>
          <p:nvPr/>
        </p:nvSpPr>
        <p:spPr>
          <a:xfrm>
            <a:off x="3549960" y="6823800"/>
            <a:ext cx="1567800" cy="1082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algn="ctr"/>
            <a:r>
              <a:rPr b="1" lang="zh-CN" sz="750" spc="-1" strike="noStrike">
                <a:solidFill>
                  <a:srgbClr val="28cc83"/>
                </a:solidFill>
                <a:latin typeface="IBM Plex Mono"/>
              </a:rPr>
              <a:t>已确认需求 </a:t>
            </a:r>
            <a:r>
              <a:rPr b="1" lang="en-US" sz="750" spc="-1" strike="noStrike">
                <a:solidFill>
                  <a:srgbClr val="28cc83"/>
                </a:solidFill>
                <a:latin typeface="IBM Plex Mono"/>
              </a:rPr>
              <a:t>= </a:t>
            </a:r>
            <a:r>
              <a:rPr b="1" lang="zh-CN" sz="750" spc="-1" strike="noStrike">
                <a:solidFill>
                  <a:srgbClr val="28cc83"/>
                </a:solidFill>
                <a:latin typeface="IBM Plex Mono"/>
              </a:rPr>
              <a:t>下游唯一合法输入</a:t>
            </a:r>
            <a:endParaRPr b="1" lang="en-US" sz="750" spc="-1" strike="noStrike">
              <a:solidFill>
                <a:srgbClr val="28cc83"/>
              </a:solidFill>
              <a:latin typeface="IBM Plex Mono"/>
              <a:ea typeface="IBM Plex Mono"/>
            </a:endParaRPr>
          </a:p>
        </p:txBody>
      </p:sp>
      <p:sp>
        <p:nvSpPr>
          <p:cNvPr id="513" name="fig03-card"/>
          <p:cNvSpPr/>
          <p:nvPr/>
        </p:nvSpPr>
        <p:spPr>
          <a:xfrm>
            <a:off x="6191280" y="6762600"/>
            <a:ext cx="3143160" cy="209520"/>
          </a:xfrm>
          <a:prstGeom prst="roundRect">
            <a:avLst/>
          </a:prstGeom>
          <a:solidFill>
            <a:srgbClr val="fffdfd"/>
          </a:solidFill>
          <a:ln w="7560">
            <a:solidFill>
              <a:srgbClr val="e60012"/>
            </a:solidFill>
            <a:round/>
          </a:ln>
        </p:spPr>
        <p:txBody>
          <a:bodyPr lIns="93600" rIns="93600" tIns="48600" bIns="4860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4" name="fig03-text-75"/>
          <p:cNvSpPr txBox="1"/>
          <p:nvPr/>
        </p:nvSpPr>
        <p:spPr>
          <a:xfrm>
            <a:off x="6925680" y="6823800"/>
            <a:ext cx="1674360" cy="1082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algn="ctr"/>
            <a:r>
              <a:rPr b="1" lang="zh-CN" sz="750" spc="-1" strike="noStrike">
                <a:solidFill>
                  <a:srgbClr val="e60012"/>
                </a:solidFill>
                <a:latin typeface="IBM Plex Mono"/>
              </a:rPr>
              <a:t>冻结前可调整 </a:t>
            </a:r>
            <a:r>
              <a:rPr b="1" lang="en-US" sz="750" spc="-1" strike="noStrike">
                <a:solidFill>
                  <a:srgbClr val="e60012"/>
                </a:solidFill>
                <a:latin typeface="IBM Plex Mono"/>
              </a:rPr>
              <a:t>/ </a:t>
            </a:r>
            <a:r>
              <a:rPr b="1" lang="zh-CN" sz="750" spc="-1" strike="noStrike">
                <a:solidFill>
                  <a:srgbClr val="e60012"/>
                </a:solidFill>
                <a:latin typeface="IBM Plex Mono"/>
              </a:rPr>
              <a:t>冻结后走异常变更</a:t>
            </a:r>
            <a:endParaRPr b="1" lang="en-US" sz="750" spc="-1" strike="noStrike">
              <a:solidFill>
                <a:srgbClr val="e60012"/>
              </a:solidFill>
              <a:latin typeface="IBM Plex Mono"/>
              <a:ea typeface="IBM Plex Mono"/>
            </a:endParaRPr>
          </a:p>
        </p:txBody>
      </p:sp>
      <p:sp>
        <p:nvSpPr>
          <p:cNvPr id="515" name="fig03-card"/>
          <p:cNvSpPr/>
          <p:nvPr/>
        </p:nvSpPr>
        <p:spPr>
          <a:xfrm>
            <a:off x="571680" y="7839000"/>
            <a:ext cx="47520" cy="209520"/>
          </a:xfrm>
          <a:prstGeom prst="roundRect">
            <a:avLst/>
          </a:prstGeom>
          <a:solidFill>
            <a:srgbClr val="4f46e5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16" name="fig03-text-77"/>
          <p:cNvSpPr txBox="1"/>
          <p:nvPr/>
        </p:nvSpPr>
        <p:spPr>
          <a:xfrm>
            <a:off x="743040" y="7918920"/>
            <a:ext cx="236520" cy="85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750" spc="-1" strike="noStrike">
                <a:solidFill>
                  <a:srgbClr val="4f46e5"/>
                </a:solidFill>
                <a:latin typeface="IBM Plex Mono"/>
              </a:rPr>
              <a:t>03C</a:t>
            </a:r>
            <a:endParaRPr b="1" lang="en-US" sz="750" spc="-1" strike="noStrike">
              <a:solidFill>
                <a:srgbClr val="4f46e5"/>
              </a:solidFill>
              <a:latin typeface="IBM Plex Mono"/>
              <a:ea typeface="IBM Plex Mono"/>
            </a:endParaRPr>
          </a:p>
        </p:txBody>
      </p:sp>
      <p:sp>
        <p:nvSpPr>
          <p:cNvPr id="517" name="fig03-text-78"/>
          <p:cNvSpPr txBox="1"/>
          <p:nvPr/>
        </p:nvSpPr>
        <p:spPr>
          <a:xfrm>
            <a:off x="1428840" y="7869960"/>
            <a:ext cx="2422800" cy="752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zh-CN" sz="1200" spc="-1" strike="noStrike">
                <a:solidFill>
                  <a:srgbClr val="161a25"/>
                </a:solidFill>
                <a:latin typeface="PingFang SC"/>
              </a:rPr>
              <a:t>阶段 </a:t>
            </a:r>
            <a:r>
              <a:rPr b="1" lang="en-US" sz="1200" spc="-1" strike="noStrike">
                <a:solidFill>
                  <a:srgbClr val="161a25"/>
                </a:solidFill>
                <a:latin typeface="PingFang SC"/>
              </a:rPr>
              <a:t>2</a:t>
            </a:r>
            <a:r>
              <a:rPr b="1" lang="zh-CN" sz="1200" spc="-1" strike="noStrike">
                <a:solidFill>
                  <a:srgbClr val="161a25"/>
                </a:solidFill>
                <a:latin typeface="PingFang SC"/>
              </a:rPr>
              <a:t>｜生产、物料与采购计划</a:t>
            </a:r>
            <a:endParaRPr b="1" lang="en-US" sz="1200" spc="-1" strike="noStrike">
              <a:solidFill>
                <a:srgbClr val="161a25"/>
              </a:solidFill>
              <a:latin typeface="PingFang SC"/>
              <a:ea typeface="PingFang SC"/>
            </a:endParaRPr>
          </a:p>
        </p:txBody>
      </p:sp>
      <p:sp>
        <p:nvSpPr>
          <p:cNvPr id="518" name="fig03-text-79"/>
          <p:cNvSpPr txBox="1"/>
          <p:nvPr/>
        </p:nvSpPr>
        <p:spPr>
          <a:xfrm>
            <a:off x="7805880" y="7912440"/>
            <a:ext cx="3052800" cy="1082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algn="r"/>
            <a:r>
              <a:rPr b="0" lang="zh-CN" sz="810" spc="-1" strike="noStrike">
                <a:solidFill>
                  <a:srgbClr val="667085"/>
                </a:solidFill>
                <a:latin typeface="PingFang SC"/>
              </a:rPr>
              <a:t>共享采购合并净需求；专项采购独立标识、授权与成本归集</a:t>
            </a:r>
            <a:endParaRPr b="0" lang="en-US" sz="810" spc="-1" strike="noStrike">
              <a:solidFill>
                <a:srgbClr val="667085"/>
              </a:solidFill>
              <a:latin typeface="PingFang SC"/>
              <a:ea typeface="PingFang SC"/>
            </a:endParaRPr>
          </a:p>
        </p:txBody>
      </p:sp>
      <p:sp>
        <p:nvSpPr>
          <p:cNvPr id="519" name="fig03-card"/>
          <p:cNvSpPr/>
          <p:nvPr/>
        </p:nvSpPr>
        <p:spPr>
          <a:xfrm>
            <a:off x="571680" y="8305920"/>
            <a:ext cx="2095560" cy="1200240"/>
          </a:xfrm>
          <a:prstGeom prst="roundRect">
            <a:avLst/>
          </a:prstGeom>
          <a:solidFill>
            <a:srgbClr val="ecfbf4"/>
          </a:solidFill>
          <a:ln w="11520">
            <a:solidFill>
              <a:srgbClr val="28cc83"/>
            </a:solidFill>
            <a:round/>
          </a:ln>
        </p:spPr>
        <p:txBody>
          <a:bodyPr lIns="95760" rIns="95760" tIns="50760" bIns="5076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0" name="fig03-card"/>
          <p:cNvSpPr/>
          <p:nvPr/>
        </p:nvSpPr>
        <p:spPr>
          <a:xfrm>
            <a:off x="704880" y="8439120"/>
            <a:ext cx="857160" cy="190440"/>
          </a:xfrm>
          <a:prstGeom prst="roundRect">
            <a:avLst/>
          </a:prstGeom>
          <a:solidFill>
            <a:srgbClr val="e5f9f0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1" name="fig03-text-82"/>
          <p:cNvSpPr txBox="1"/>
          <p:nvPr/>
        </p:nvSpPr>
        <p:spPr>
          <a:xfrm>
            <a:off x="790560" y="8490600"/>
            <a:ext cx="176760" cy="602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750" spc="-1" strike="noStrike">
                <a:solidFill>
                  <a:srgbClr val="28cc83"/>
                </a:solidFill>
                <a:latin typeface="IBM Plex Mono"/>
              </a:rPr>
              <a:t>04</a:t>
            </a:r>
            <a:endParaRPr b="1" lang="en-US" sz="750" spc="-1" strike="noStrike">
              <a:solidFill>
                <a:srgbClr val="28cc83"/>
              </a:solidFill>
              <a:latin typeface="IBM Plex Mono"/>
              <a:ea typeface="IBM Plex Mono"/>
            </a:endParaRPr>
          </a:p>
        </p:txBody>
      </p:sp>
      <p:sp>
        <p:nvSpPr>
          <p:cNvPr id="522" name="fig03-text-83"/>
          <p:cNvSpPr txBox="1"/>
          <p:nvPr/>
        </p:nvSpPr>
        <p:spPr>
          <a:xfrm>
            <a:off x="714240" y="8653320"/>
            <a:ext cx="1809720" cy="421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zh-CN" sz="1130" spc="-1" strike="noStrike">
                <a:solidFill>
                  <a:srgbClr val="161a25"/>
                </a:solidFill>
                <a:latin typeface="PingFang SC"/>
              </a:rPr>
              <a:t>生产计划</a:t>
            </a:r>
            <a:endParaRPr b="1" lang="en-US" sz="1130" spc="-1" strike="noStrike">
              <a:solidFill>
                <a:srgbClr val="161a25"/>
              </a:solidFill>
              <a:latin typeface="PingFang SC"/>
              <a:ea typeface="PingFang SC"/>
            </a:endParaRPr>
          </a:p>
        </p:txBody>
      </p:sp>
      <p:sp>
        <p:nvSpPr>
          <p:cNvPr id="523" name="fig03-text-84"/>
          <p:cNvSpPr txBox="1"/>
          <p:nvPr/>
        </p:nvSpPr>
        <p:spPr>
          <a:xfrm>
            <a:off x="714240" y="8865000"/>
            <a:ext cx="1809720" cy="1744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zh-CN" sz="900" spc="-1" strike="noStrike">
                <a:solidFill>
                  <a:srgbClr val="667085"/>
                </a:solidFill>
                <a:latin typeface="PingFang SC"/>
              </a:rPr>
              <a:t>产量、批次、产线、工时、</a:t>
            </a:r>
            <a:endParaRPr b="0" lang="en-US" sz="900" spc="-1" strike="noStrike">
              <a:solidFill>
                <a:srgbClr val="667085"/>
              </a:solidFill>
              <a:latin typeface="PingFang SC"/>
              <a:ea typeface="PingFang SC"/>
            </a:endParaRPr>
          </a:p>
          <a:p>
            <a:r>
              <a:rPr b="0" lang="zh-CN" sz="900" spc="-1" strike="noStrike">
                <a:solidFill>
                  <a:srgbClr val="667085"/>
                </a:solidFill>
                <a:latin typeface="PingFang SC"/>
              </a:rPr>
              <a:t>出品时点</a:t>
            </a:r>
            <a:endParaRPr b="0" lang="en-US" sz="900" spc="-1" strike="noStrike">
              <a:solidFill>
                <a:srgbClr val="667085"/>
              </a:solidFill>
              <a:latin typeface="PingFang SC"/>
              <a:ea typeface="PingFang SC"/>
            </a:endParaRPr>
          </a:p>
          <a:p>
            <a:r>
              <a:rPr b="0" lang="zh-CN" sz="900" spc="-1" strike="noStrike">
                <a:solidFill>
                  <a:srgbClr val="667085"/>
                </a:solidFill>
                <a:latin typeface="PingFang SC"/>
              </a:rPr>
              <a:t>需求冻结点与临时变更窗口</a:t>
            </a:r>
            <a:endParaRPr b="0" lang="en-US" sz="900" spc="-1" strike="noStrike">
              <a:solidFill>
                <a:srgbClr val="667085"/>
              </a:solidFill>
              <a:latin typeface="PingFang SC"/>
              <a:ea typeface="PingFang SC"/>
            </a:endParaRPr>
          </a:p>
        </p:txBody>
      </p:sp>
      <p:sp>
        <p:nvSpPr>
          <p:cNvPr id="524" name="fig03-card"/>
          <p:cNvSpPr/>
          <p:nvPr/>
        </p:nvSpPr>
        <p:spPr>
          <a:xfrm>
            <a:off x="3238560" y="8305920"/>
            <a:ext cx="2095560" cy="1200240"/>
          </a:xfrm>
          <a:prstGeom prst="roundRect">
            <a:avLst/>
          </a:prstGeom>
          <a:solidFill>
            <a:srgbClr val="fff8e7"/>
          </a:solidFill>
          <a:ln w="11520">
            <a:solidFill>
              <a:srgbClr val="e8a020"/>
            </a:solidFill>
            <a:round/>
          </a:ln>
        </p:spPr>
        <p:txBody>
          <a:bodyPr lIns="95760" rIns="95760" tIns="50760" bIns="5076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5" name="fig03-card"/>
          <p:cNvSpPr/>
          <p:nvPr/>
        </p:nvSpPr>
        <p:spPr>
          <a:xfrm>
            <a:off x="3371760" y="8439120"/>
            <a:ext cx="857160" cy="190440"/>
          </a:xfrm>
          <a:prstGeom prst="roundRect">
            <a:avLst/>
          </a:prstGeom>
          <a:solidFill>
            <a:srgbClr val="fcf4e4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6" name="fig03-text-87"/>
          <p:cNvSpPr txBox="1"/>
          <p:nvPr/>
        </p:nvSpPr>
        <p:spPr>
          <a:xfrm>
            <a:off x="3457440" y="8490600"/>
            <a:ext cx="176760" cy="602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750" spc="-1" strike="noStrike">
                <a:solidFill>
                  <a:srgbClr val="e8a020"/>
                </a:solidFill>
                <a:latin typeface="IBM Plex Mono"/>
              </a:rPr>
              <a:t>05</a:t>
            </a:r>
            <a:endParaRPr b="1" lang="en-US" sz="750" spc="-1" strike="noStrike">
              <a:solidFill>
                <a:srgbClr val="e8a020"/>
              </a:solidFill>
              <a:latin typeface="IBM Plex Mono"/>
              <a:ea typeface="IBM Plex Mono"/>
            </a:endParaRPr>
          </a:p>
        </p:txBody>
      </p:sp>
      <p:sp>
        <p:nvSpPr>
          <p:cNvPr id="527" name="fig03-text-88"/>
          <p:cNvSpPr txBox="1"/>
          <p:nvPr/>
        </p:nvSpPr>
        <p:spPr>
          <a:xfrm>
            <a:off x="3381480" y="8653320"/>
            <a:ext cx="1809720" cy="677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zh-CN" sz="1130" spc="-1" strike="noStrike">
                <a:solidFill>
                  <a:srgbClr val="161a25"/>
                </a:solidFill>
                <a:latin typeface="PingFang SC"/>
              </a:rPr>
              <a:t>物料需求 </a:t>
            </a:r>
            <a:r>
              <a:rPr b="1" lang="en-US" sz="1130" spc="-1" strike="noStrike">
                <a:solidFill>
                  <a:srgbClr val="161a25"/>
                </a:solidFill>
                <a:latin typeface="PingFang SC"/>
              </a:rPr>
              <a:t>/ MRP</a:t>
            </a:r>
            <a:endParaRPr b="1" lang="en-US" sz="1130" spc="-1" strike="noStrike">
              <a:solidFill>
                <a:srgbClr val="161a25"/>
              </a:solidFill>
              <a:latin typeface="PingFang SC"/>
              <a:ea typeface="PingFang SC"/>
            </a:endParaRPr>
          </a:p>
        </p:txBody>
      </p:sp>
      <p:sp>
        <p:nvSpPr>
          <p:cNvPr id="528" name="fig03-text-89"/>
          <p:cNvSpPr txBox="1"/>
          <p:nvPr/>
        </p:nvSpPr>
        <p:spPr>
          <a:xfrm>
            <a:off x="3381480" y="8865000"/>
            <a:ext cx="1809720" cy="1413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900" spc="-1" strike="noStrike">
                <a:solidFill>
                  <a:srgbClr val="667085"/>
                </a:solidFill>
                <a:latin typeface="PingFang SC"/>
              </a:rPr>
              <a:t>BOM</a:t>
            </a:r>
            <a:r>
              <a:rPr b="0" lang="zh-CN" sz="900" spc="-1" strike="noStrike">
                <a:solidFill>
                  <a:srgbClr val="667085"/>
                </a:solidFill>
                <a:latin typeface="PingFang SC"/>
              </a:rPr>
              <a:t>、损耗、单位换算、可用库存、</a:t>
            </a:r>
            <a:endParaRPr b="0" lang="en-US" sz="900" spc="-1" strike="noStrike">
              <a:solidFill>
                <a:srgbClr val="667085"/>
              </a:solidFill>
              <a:latin typeface="PingFang SC"/>
              <a:ea typeface="PingFang SC"/>
            </a:endParaRPr>
          </a:p>
          <a:p>
            <a:r>
              <a:rPr b="0" lang="zh-CN" sz="900" spc="-1" strike="noStrike">
                <a:solidFill>
                  <a:srgbClr val="667085"/>
                </a:solidFill>
                <a:latin typeface="PingFang SC"/>
              </a:rPr>
              <a:t>在途、替代规则</a:t>
            </a:r>
            <a:endParaRPr b="0" lang="en-US" sz="900" spc="-1" strike="noStrike">
              <a:solidFill>
                <a:srgbClr val="667085"/>
              </a:solidFill>
              <a:latin typeface="PingFang SC"/>
              <a:ea typeface="PingFang SC"/>
            </a:endParaRPr>
          </a:p>
        </p:txBody>
      </p:sp>
      <p:sp>
        <p:nvSpPr>
          <p:cNvPr id="529" name="fig03-poly"/>
          <p:cNvSpPr/>
          <p:nvPr/>
        </p:nvSpPr>
        <p:spPr>
          <a:xfrm>
            <a:off x="5533920" y="8477280"/>
            <a:ext cx="1123920" cy="857160"/>
          </a:xfrm>
          <a:custGeom>
            <a:avLst/>
            <a:gdLst/>
            <a:ahLst/>
            <a:rect l="0" t="0" r="r" b="b"/>
            <a:pathLst>
              <a:path w="3122" h="2381">
                <a:moveTo>
                  <a:pt x="1561" y="0"/>
                </a:moveTo>
                <a:lnTo>
                  <a:pt x="3122" y="1191"/>
                </a:lnTo>
                <a:lnTo>
                  <a:pt x="1561" y="2381"/>
                </a:lnTo>
                <a:lnTo>
                  <a:pt x="0" y="1191"/>
                </a:lnTo>
                <a:lnTo>
                  <a:pt x="1561" y="0"/>
                </a:lnTo>
                <a:close/>
              </a:path>
            </a:pathLst>
          </a:custGeom>
          <a:solidFill>
            <a:srgbClr val="fff1f2"/>
          </a:solidFill>
          <a:ln w="12240">
            <a:solidFill>
              <a:srgbClr val="e60012"/>
            </a:solidFill>
            <a:round/>
          </a:ln>
        </p:spPr>
        <p:txBody>
          <a:bodyPr lIns="96120" rIns="96120" tIns="51120" bIns="5112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0" name="fig03-text-91"/>
          <p:cNvSpPr txBox="1"/>
          <p:nvPr/>
        </p:nvSpPr>
        <p:spPr>
          <a:xfrm>
            <a:off x="5837040" y="8760240"/>
            <a:ext cx="518040" cy="2181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algn="ctr"/>
            <a:r>
              <a:rPr b="0" lang="zh-CN" sz="810" spc="-1" strike="noStrike">
                <a:solidFill>
                  <a:srgbClr val="e60012"/>
                </a:solidFill>
                <a:latin typeface="PingFang SC"/>
              </a:rPr>
              <a:t>物料复核</a:t>
            </a:r>
            <a:endParaRPr b="0" lang="en-US" sz="810" spc="-1" strike="noStrike">
              <a:solidFill>
                <a:srgbClr val="e60012"/>
              </a:solidFill>
              <a:latin typeface="PingFang SC"/>
              <a:ea typeface="PingFang SC"/>
            </a:endParaRPr>
          </a:p>
          <a:p>
            <a:pPr algn="ctr"/>
            <a:r>
              <a:rPr b="0" lang="en-US" sz="810" spc="-1" strike="noStrike">
                <a:solidFill>
                  <a:srgbClr val="e60012"/>
                </a:solidFill>
                <a:latin typeface="PingFang SC"/>
              </a:rPr>
              <a:t>HUMAN</a:t>
            </a:r>
            <a:endParaRPr b="0" lang="en-US" sz="810" spc="-1" strike="noStrike">
              <a:solidFill>
                <a:srgbClr val="e60012"/>
              </a:solidFill>
              <a:latin typeface="PingFang SC"/>
              <a:ea typeface="PingFang SC"/>
            </a:endParaRPr>
          </a:p>
        </p:txBody>
      </p:sp>
      <p:sp>
        <p:nvSpPr>
          <p:cNvPr id="531" name="fig03-card"/>
          <p:cNvSpPr/>
          <p:nvPr/>
        </p:nvSpPr>
        <p:spPr>
          <a:xfrm>
            <a:off x="7429680" y="8305920"/>
            <a:ext cx="2857680" cy="1200240"/>
          </a:xfrm>
          <a:prstGeom prst="roundRect">
            <a:avLst/>
          </a:prstGeom>
          <a:solidFill>
            <a:srgbClr val="fff8e7"/>
          </a:solidFill>
          <a:ln w="11520">
            <a:solidFill>
              <a:srgbClr val="e8a020"/>
            </a:solidFill>
            <a:round/>
          </a:ln>
        </p:spPr>
        <p:txBody>
          <a:bodyPr lIns="95760" rIns="95760" tIns="50760" bIns="5076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2" name="fig03-card"/>
          <p:cNvSpPr/>
          <p:nvPr/>
        </p:nvSpPr>
        <p:spPr>
          <a:xfrm>
            <a:off x="7562880" y="8439120"/>
            <a:ext cx="857160" cy="190440"/>
          </a:xfrm>
          <a:prstGeom prst="roundRect">
            <a:avLst/>
          </a:prstGeom>
          <a:solidFill>
            <a:srgbClr val="fcf4e4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3" name="fig03-text-94"/>
          <p:cNvSpPr txBox="1"/>
          <p:nvPr/>
        </p:nvSpPr>
        <p:spPr>
          <a:xfrm>
            <a:off x="7648560" y="8490600"/>
            <a:ext cx="176760" cy="602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750" spc="-1" strike="noStrike">
                <a:solidFill>
                  <a:srgbClr val="e8a020"/>
                </a:solidFill>
                <a:latin typeface="IBM Plex Mono"/>
              </a:rPr>
              <a:t>06</a:t>
            </a:r>
            <a:endParaRPr b="1" lang="en-US" sz="750" spc="-1" strike="noStrike">
              <a:solidFill>
                <a:srgbClr val="e8a020"/>
              </a:solidFill>
              <a:latin typeface="IBM Plex Mono"/>
              <a:ea typeface="IBM Plex Mono"/>
            </a:endParaRPr>
          </a:p>
        </p:txBody>
      </p:sp>
      <p:sp>
        <p:nvSpPr>
          <p:cNvPr id="534" name="fig03-text-95"/>
          <p:cNvSpPr txBox="1"/>
          <p:nvPr/>
        </p:nvSpPr>
        <p:spPr>
          <a:xfrm>
            <a:off x="7572240" y="8653320"/>
            <a:ext cx="2571840" cy="421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zh-CN" sz="1130" spc="-1" strike="noStrike">
                <a:solidFill>
                  <a:srgbClr val="161a25"/>
                </a:solidFill>
                <a:latin typeface="PingFang SC"/>
              </a:rPr>
              <a:t>采购下单</a:t>
            </a:r>
            <a:endParaRPr b="1" lang="en-US" sz="1130" spc="-1" strike="noStrike">
              <a:solidFill>
                <a:srgbClr val="161a25"/>
              </a:solidFill>
              <a:latin typeface="PingFang SC"/>
              <a:ea typeface="PingFang SC"/>
            </a:endParaRPr>
          </a:p>
        </p:txBody>
      </p:sp>
      <p:sp>
        <p:nvSpPr>
          <p:cNvPr id="535" name="fig03-text-96"/>
          <p:cNvSpPr txBox="1"/>
          <p:nvPr/>
        </p:nvSpPr>
        <p:spPr>
          <a:xfrm>
            <a:off x="7572240" y="8865000"/>
            <a:ext cx="2571840" cy="1744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zh-CN" sz="900" spc="-1" strike="noStrike">
                <a:solidFill>
                  <a:srgbClr val="667085"/>
                </a:solidFill>
                <a:latin typeface="PingFang SC"/>
              </a:rPr>
              <a:t>共享采购：多场景净需求合并</a:t>
            </a:r>
            <a:endParaRPr b="0" lang="en-US" sz="900" spc="-1" strike="noStrike">
              <a:solidFill>
                <a:srgbClr val="667085"/>
              </a:solidFill>
              <a:latin typeface="PingFang SC"/>
              <a:ea typeface="PingFang SC"/>
            </a:endParaRPr>
          </a:p>
          <a:p>
            <a:r>
              <a:rPr b="0" lang="zh-CN" sz="900" spc="-1" strike="noStrike">
                <a:solidFill>
                  <a:srgbClr val="667085"/>
                </a:solidFill>
                <a:latin typeface="PingFang SC"/>
              </a:rPr>
              <a:t>专项采购：专用标识 </a:t>
            </a:r>
            <a:r>
              <a:rPr b="0" lang="en-US" sz="900" spc="-1" strike="noStrike">
                <a:solidFill>
                  <a:srgbClr val="667085"/>
                </a:solidFill>
                <a:latin typeface="PingFang SC"/>
              </a:rPr>
              <a:t>/ </a:t>
            </a:r>
            <a:r>
              <a:rPr b="0" lang="zh-CN" sz="900" spc="-1" strike="noStrike">
                <a:solidFill>
                  <a:srgbClr val="667085"/>
                </a:solidFill>
                <a:latin typeface="PingFang SC"/>
              </a:rPr>
              <a:t>独立授权 </a:t>
            </a:r>
            <a:r>
              <a:rPr b="0" lang="en-US" sz="900" spc="-1" strike="noStrike">
                <a:solidFill>
                  <a:srgbClr val="667085"/>
                </a:solidFill>
                <a:latin typeface="PingFang SC"/>
              </a:rPr>
              <a:t>/ </a:t>
            </a:r>
            <a:r>
              <a:rPr b="0" lang="zh-CN" sz="900" spc="-1" strike="noStrike">
                <a:solidFill>
                  <a:srgbClr val="667085"/>
                </a:solidFill>
                <a:latin typeface="PingFang SC"/>
              </a:rPr>
              <a:t>预算与供货规则</a:t>
            </a:r>
            <a:endParaRPr b="0" lang="en-US" sz="900" spc="-1" strike="noStrike">
              <a:solidFill>
                <a:srgbClr val="667085"/>
              </a:solidFill>
              <a:latin typeface="PingFang SC"/>
              <a:ea typeface="PingFang SC"/>
            </a:endParaRPr>
          </a:p>
        </p:txBody>
      </p:sp>
      <p:sp>
        <p:nvSpPr>
          <p:cNvPr id="536" name="fig03-g2-f4"/>
          <p:cNvSpPr/>
          <p:nvPr/>
        </p:nvSpPr>
        <p:spPr>
          <a:xfrm>
            <a:off x="2666880" y="7458120"/>
            <a:ext cx="7039080" cy="847800"/>
          </a:xfrm>
          <a:custGeom>
            <a:avLst/>
            <a:gdLst/>
            <a:ahLst/>
            <a:rect l="0" t="0" r="r" b="b"/>
            <a:pathLst>
              <a:path fill="none" w="19553" h="2355">
                <a:moveTo>
                  <a:pt x="19553" y="0"/>
                </a:moveTo>
                <a:lnTo>
                  <a:pt x="19168" y="317"/>
                </a:lnTo>
                <a:lnTo>
                  <a:pt x="18105" y="584"/>
                </a:lnTo>
                <a:lnTo>
                  <a:pt x="16498" y="811"/>
                </a:lnTo>
                <a:lnTo>
                  <a:pt x="14484" y="1004"/>
                </a:lnTo>
                <a:lnTo>
                  <a:pt x="12198" y="1173"/>
                </a:lnTo>
                <a:lnTo>
                  <a:pt x="9777" y="1326"/>
                </a:lnTo>
                <a:lnTo>
                  <a:pt x="7355" y="1471"/>
                </a:lnTo>
                <a:lnTo>
                  <a:pt x="5070" y="1615"/>
                </a:lnTo>
                <a:lnTo>
                  <a:pt x="3055" y="1767"/>
                </a:lnTo>
                <a:lnTo>
                  <a:pt x="1449" y="1936"/>
                </a:lnTo>
                <a:lnTo>
                  <a:pt x="385" y="2129"/>
                </a:lnTo>
                <a:lnTo>
                  <a:pt x="0" y="2355"/>
                </a:lnTo>
              </a:path>
            </a:pathLst>
          </a:custGeom>
          <a:ln w="16200">
            <a:solidFill>
              <a:srgbClr val="28cc83"/>
            </a:solidFill>
            <a:round/>
          </a:ln>
        </p:spPr>
        <p:txBody>
          <a:bodyPr lIns="97920" rIns="97920" tIns="52920" bIns="5292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7" name="fig03-g2-f4-head"/>
          <p:cNvSpPr/>
          <p:nvPr/>
        </p:nvSpPr>
        <p:spPr>
          <a:xfrm>
            <a:off x="2666880" y="8247240"/>
            <a:ext cx="92520" cy="69480"/>
          </a:xfrm>
          <a:custGeom>
            <a:avLst/>
            <a:gdLst/>
            <a:ahLst/>
            <a:rect l="0" t="0" r="r" b="b"/>
            <a:pathLst>
              <a:path w="257" h="193">
                <a:moveTo>
                  <a:pt x="0" y="163"/>
                </a:moveTo>
                <a:lnTo>
                  <a:pt x="201" y="0"/>
                </a:lnTo>
                <a:lnTo>
                  <a:pt x="257" y="193"/>
                </a:lnTo>
                <a:lnTo>
                  <a:pt x="0" y="163"/>
                </a:lnTo>
                <a:close/>
              </a:path>
            </a:pathLst>
          </a:custGeom>
          <a:solidFill>
            <a:srgbClr val="28cc83"/>
          </a:solidFill>
          <a:ln w="0">
            <a:noFill/>
          </a:ln>
        </p:spPr>
        <p:txBody>
          <a:bodyPr lIns="90000" rIns="90000" tIns="24480" bIns="24480" anchor="ctr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38" name="fig03-98-chip"/>
          <p:cNvSpPr/>
          <p:nvPr/>
        </p:nvSpPr>
        <p:spPr>
          <a:xfrm>
            <a:off x="5838840" y="7804800"/>
            <a:ext cx="704880" cy="171360"/>
          </a:xfrm>
          <a:prstGeom prst="roundRect">
            <a:avLst/>
          </a:prstGeom>
          <a:solidFill>
            <a:srgbClr val="ffffff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9" name="fig03-text-98"/>
          <p:cNvSpPr txBox="1"/>
          <p:nvPr/>
        </p:nvSpPr>
        <p:spPr>
          <a:xfrm>
            <a:off x="5896080" y="7823880"/>
            <a:ext cx="590400" cy="1744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algn="ctr"/>
            <a:r>
              <a:rPr b="1" lang="zh-CN" sz="750" spc="-1" strike="noStrike">
                <a:solidFill>
                  <a:srgbClr val="28cc83"/>
                </a:solidFill>
                <a:latin typeface="PingFang SC"/>
              </a:rPr>
              <a:t>已确认需求</a:t>
            </a:r>
            <a:endParaRPr b="1" lang="en-US" sz="750" spc="-1" strike="noStrike">
              <a:solidFill>
                <a:srgbClr val="28cc83"/>
              </a:solidFill>
              <a:latin typeface="PingFang SC"/>
              <a:ea typeface="PingFang SC"/>
            </a:endParaRPr>
          </a:p>
        </p:txBody>
      </p:sp>
      <p:sp>
        <p:nvSpPr>
          <p:cNvPr id="540" name="fig03-f4-f5"/>
          <p:cNvSpPr/>
          <p:nvPr/>
        </p:nvSpPr>
        <p:spPr>
          <a:xfrm>
            <a:off x="2666880" y="8906040"/>
            <a:ext cx="571680" cy="0"/>
          </a:xfrm>
          <a:prstGeom prst="line">
            <a:avLst/>
          </a:prstGeom>
          <a:ln w="16200">
            <a:solidFill>
              <a:srgbClr val="28cc8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7920" rIns="97920" tIns="-52920" bIns="-5292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1" name="fig03-f4-f5-head"/>
          <p:cNvSpPr/>
          <p:nvPr/>
        </p:nvSpPr>
        <p:spPr>
          <a:xfrm>
            <a:off x="3152880" y="8870040"/>
            <a:ext cx="85680" cy="72000"/>
          </a:xfrm>
          <a:custGeom>
            <a:avLst/>
            <a:gdLst/>
            <a:ahLst/>
            <a:rect l="0" t="0" r="r" b="b"/>
            <a:pathLst>
              <a:path w="238" h="200">
                <a:moveTo>
                  <a:pt x="238" y="100"/>
                </a:moveTo>
                <a:lnTo>
                  <a:pt x="0" y="200"/>
                </a:lnTo>
                <a:lnTo>
                  <a:pt x="0" y="0"/>
                </a:lnTo>
                <a:lnTo>
                  <a:pt x="238" y="100"/>
                </a:lnTo>
                <a:close/>
              </a:path>
            </a:pathLst>
          </a:custGeom>
          <a:solidFill>
            <a:srgbClr val="28cc83"/>
          </a:solidFill>
          <a:ln w="0">
            <a:noFill/>
          </a:ln>
        </p:spPr>
        <p:txBody>
          <a:bodyPr lIns="90000" rIns="90000" tIns="27000" bIns="27000" anchor="ctr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42" name="fig03-f5-g3"/>
          <p:cNvSpPr/>
          <p:nvPr/>
        </p:nvSpPr>
        <p:spPr>
          <a:xfrm>
            <a:off x="5334120" y="8906040"/>
            <a:ext cx="199800" cy="0"/>
          </a:xfrm>
          <a:prstGeom prst="line">
            <a:avLst/>
          </a:prstGeom>
          <a:ln w="16200">
            <a:solidFill>
              <a:srgbClr val="e8a02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7920" rIns="97920" tIns="-52920" bIns="-5292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3" name="fig03-f5-g3-head"/>
          <p:cNvSpPr/>
          <p:nvPr/>
        </p:nvSpPr>
        <p:spPr>
          <a:xfrm>
            <a:off x="5448240" y="8870040"/>
            <a:ext cx="85680" cy="72000"/>
          </a:xfrm>
          <a:custGeom>
            <a:avLst/>
            <a:gdLst/>
            <a:ahLst/>
            <a:rect l="0" t="0" r="r" b="b"/>
            <a:pathLst>
              <a:path w="238" h="200">
                <a:moveTo>
                  <a:pt x="238" y="100"/>
                </a:moveTo>
                <a:lnTo>
                  <a:pt x="0" y="200"/>
                </a:lnTo>
                <a:lnTo>
                  <a:pt x="0" y="0"/>
                </a:lnTo>
                <a:lnTo>
                  <a:pt x="238" y="100"/>
                </a:lnTo>
                <a:close/>
              </a:path>
            </a:pathLst>
          </a:custGeom>
          <a:solidFill>
            <a:srgbClr val="e8a020"/>
          </a:solidFill>
          <a:ln w="0">
            <a:noFill/>
          </a:ln>
        </p:spPr>
        <p:txBody>
          <a:bodyPr lIns="90000" rIns="90000" tIns="27000" bIns="2700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4" name="fig03-g3-f6"/>
          <p:cNvSpPr/>
          <p:nvPr/>
        </p:nvSpPr>
        <p:spPr>
          <a:xfrm>
            <a:off x="6657840" y="8906040"/>
            <a:ext cx="771840" cy="0"/>
          </a:xfrm>
          <a:prstGeom prst="line">
            <a:avLst/>
          </a:prstGeom>
          <a:ln w="16200">
            <a:solidFill>
              <a:srgbClr val="e6001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7920" rIns="97920" tIns="-52920" bIns="-5292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5" name="fig03-g3-f6-head"/>
          <p:cNvSpPr/>
          <p:nvPr/>
        </p:nvSpPr>
        <p:spPr>
          <a:xfrm>
            <a:off x="7343640" y="8870040"/>
            <a:ext cx="86040" cy="72000"/>
          </a:xfrm>
          <a:custGeom>
            <a:avLst/>
            <a:gdLst/>
            <a:ahLst/>
            <a:rect l="0" t="0" r="r" b="b"/>
            <a:pathLst>
              <a:path w="239" h="200">
                <a:moveTo>
                  <a:pt x="239" y="100"/>
                </a:moveTo>
                <a:lnTo>
                  <a:pt x="0" y="200"/>
                </a:lnTo>
                <a:lnTo>
                  <a:pt x="0" y="0"/>
                </a:lnTo>
                <a:lnTo>
                  <a:pt x="239" y="100"/>
                </a:lnTo>
                <a:close/>
              </a:path>
            </a:pathLst>
          </a:custGeom>
          <a:solidFill>
            <a:srgbClr val="e60012"/>
          </a:solidFill>
          <a:ln w="0">
            <a:noFill/>
          </a:ln>
        </p:spPr>
        <p:txBody>
          <a:bodyPr lIns="90000" rIns="90000" tIns="27000" bIns="27000" anchor="ctr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46" name="fig03-102-chip"/>
          <p:cNvSpPr/>
          <p:nvPr/>
        </p:nvSpPr>
        <p:spPr>
          <a:xfrm>
            <a:off x="6696000" y="8661960"/>
            <a:ext cx="704880" cy="171360"/>
          </a:xfrm>
          <a:prstGeom prst="roundRect">
            <a:avLst/>
          </a:prstGeom>
          <a:solidFill>
            <a:srgbClr val="ffffff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7" name="fig03-text-102"/>
          <p:cNvSpPr txBox="1"/>
          <p:nvPr/>
        </p:nvSpPr>
        <p:spPr>
          <a:xfrm>
            <a:off x="6753240" y="8681040"/>
            <a:ext cx="590400" cy="1744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algn="ctr"/>
            <a:r>
              <a:rPr b="1" lang="zh-CN" sz="750" spc="-1" strike="noStrike">
                <a:solidFill>
                  <a:srgbClr val="667085"/>
                </a:solidFill>
                <a:latin typeface="PingFang SC"/>
              </a:rPr>
              <a:t>批准后下单</a:t>
            </a:r>
            <a:endParaRPr b="1" lang="en-US" sz="750" spc="-1" strike="noStrike">
              <a:solidFill>
                <a:srgbClr val="667085"/>
              </a:solidFill>
              <a:latin typeface="PingFang SC"/>
              <a:ea typeface="PingFang SC"/>
            </a:endParaRPr>
          </a:p>
        </p:txBody>
      </p:sp>
      <p:sp>
        <p:nvSpPr>
          <p:cNvPr id="548" name="fig03-card"/>
          <p:cNvSpPr/>
          <p:nvPr/>
        </p:nvSpPr>
        <p:spPr>
          <a:xfrm>
            <a:off x="571680" y="9839160"/>
            <a:ext cx="47520" cy="209520"/>
          </a:xfrm>
          <a:prstGeom prst="roundRect">
            <a:avLst/>
          </a:prstGeom>
          <a:solidFill>
            <a:srgbClr val="4f46e5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49" name="fig03-text-104"/>
          <p:cNvSpPr txBox="1"/>
          <p:nvPr/>
        </p:nvSpPr>
        <p:spPr>
          <a:xfrm>
            <a:off x="743040" y="9919440"/>
            <a:ext cx="236520" cy="85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750" spc="-1" strike="noStrike">
                <a:solidFill>
                  <a:srgbClr val="4f46e5"/>
                </a:solidFill>
                <a:latin typeface="IBM Plex Mono"/>
              </a:rPr>
              <a:t>03D</a:t>
            </a:r>
            <a:endParaRPr b="1" lang="en-US" sz="750" spc="-1" strike="noStrike">
              <a:solidFill>
                <a:srgbClr val="4f46e5"/>
              </a:solidFill>
              <a:latin typeface="IBM Plex Mono"/>
              <a:ea typeface="IBM Plex Mono"/>
            </a:endParaRPr>
          </a:p>
        </p:txBody>
      </p:sp>
      <p:sp>
        <p:nvSpPr>
          <p:cNvPr id="550" name="fig03-text-105"/>
          <p:cNvSpPr txBox="1"/>
          <p:nvPr/>
        </p:nvSpPr>
        <p:spPr>
          <a:xfrm>
            <a:off x="1428840" y="9870120"/>
            <a:ext cx="2593440" cy="752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zh-CN" sz="1200" spc="-1" strike="noStrike">
                <a:solidFill>
                  <a:srgbClr val="161a25"/>
                </a:solidFill>
                <a:latin typeface="PingFang SC"/>
              </a:rPr>
              <a:t>阶段 </a:t>
            </a:r>
            <a:r>
              <a:rPr b="1" lang="en-US" sz="1200" spc="-1" strike="noStrike">
                <a:solidFill>
                  <a:srgbClr val="161a25"/>
                </a:solidFill>
                <a:latin typeface="PingFang SC"/>
              </a:rPr>
              <a:t>3</a:t>
            </a:r>
            <a:r>
              <a:rPr b="1" lang="zh-CN" sz="1200" spc="-1" strike="noStrike">
                <a:solidFill>
                  <a:srgbClr val="161a25"/>
                </a:solidFill>
                <a:latin typeface="PingFang SC"/>
              </a:rPr>
              <a:t>｜供应、生产、履约与结算</a:t>
            </a:r>
            <a:endParaRPr b="1" lang="en-US" sz="1200" spc="-1" strike="noStrike">
              <a:solidFill>
                <a:srgbClr val="161a25"/>
              </a:solidFill>
              <a:latin typeface="PingFang SC"/>
              <a:ea typeface="PingFang SC"/>
            </a:endParaRPr>
          </a:p>
        </p:txBody>
      </p:sp>
      <p:sp>
        <p:nvSpPr>
          <p:cNvPr id="551" name="fig03-text-106"/>
          <p:cNvSpPr txBox="1"/>
          <p:nvPr/>
        </p:nvSpPr>
        <p:spPr>
          <a:xfrm>
            <a:off x="6423120" y="9912960"/>
            <a:ext cx="4435200" cy="1082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algn="r"/>
            <a:r>
              <a:rPr b="0" lang="zh-CN" sz="810" spc="-1" strike="noStrike">
                <a:solidFill>
                  <a:srgbClr val="667085"/>
                </a:solidFill>
                <a:latin typeface="PingFang SC"/>
              </a:rPr>
              <a:t>实际事件要回写事实；收货、验收、入库、领料、生产、交付与成本不可合并为单状态</a:t>
            </a:r>
            <a:endParaRPr b="0" lang="en-US" sz="810" spc="-1" strike="noStrike">
              <a:solidFill>
                <a:srgbClr val="667085"/>
              </a:solidFill>
              <a:latin typeface="PingFang SC"/>
              <a:ea typeface="PingFang SC"/>
            </a:endParaRPr>
          </a:p>
        </p:txBody>
      </p:sp>
      <p:sp>
        <p:nvSpPr>
          <p:cNvPr id="552" name="fig03-card"/>
          <p:cNvSpPr/>
          <p:nvPr/>
        </p:nvSpPr>
        <p:spPr>
          <a:xfrm>
            <a:off x="7715160" y="10306080"/>
            <a:ext cx="1857240" cy="1257120"/>
          </a:xfrm>
          <a:prstGeom prst="roundRect">
            <a:avLst/>
          </a:prstGeom>
          <a:solidFill>
            <a:srgbClr val="fff8e7"/>
          </a:solidFill>
          <a:ln w="11520">
            <a:solidFill>
              <a:srgbClr val="e8a020"/>
            </a:solidFill>
            <a:round/>
          </a:ln>
        </p:spPr>
        <p:txBody>
          <a:bodyPr lIns="95760" rIns="95760" tIns="50760" bIns="5076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3" name="fig03-card"/>
          <p:cNvSpPr/>
          <p:nvPr/>
        </p:nvSpPr>
        <p:spPr>
          <a:xfrm>
            <a:off x="7848720" y="10439280"/>
            <a:ext cx="857160" cy="190440"/>
          </a:xfrm>
          <a:prstGeom prst="roundRect">
            <a:avLst/>
          </a:prstGeom>
          <a:solidFill>
            <a:srgbClr val="fcf4e4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4" name="fig03-text-109"/>
          <p:cNvSpPr txBox="1"/>
          <p:nvPr/>
        </p:nvSpPr>
        <p:spPr>
          <a:xfrm>
            <a:off x="7934400" y="10490760"/>
            <a:ext cx="176760" cy="602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750" spc="-1" strike="noStrike">
                <a:solidFill>
                  <a:srgbClr val="e8a020"/>
                </a:solidFill>
                <a:latin typeface="IBM Plex Mono"/>
              </a:rPr>
              <a:t>07</a:t>
            </a:r>
            <a:endParaRPr b="1" lang="en-US" sz="750" spc="-1" strike="noStrike">
              <a:solidFill>
                <a:srgbClr val="e8a020"/>
              </a:solidFill>
              <a:latin typeface="IBM Plex Mono"/>
              <a:ea typeface="IBM Plex Mono"/>
            </a:endParaRPr>
          </a:p>
        </p:txBody>
      </p:sp>
      <p:sp>
        <p:nvSpPr>
          <p:cNvPr id="555" name="fig03-text-110"/>
          <p:cNvSpPr txBox="1"/>
          <p:nvPr/>
        </p:nvSpPr>
        <p:spPr>
          <a:xfrm>
            <a:off x="7858080" y="10653840"/>
            <a:ext cx="1571760" cy="421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zh-CN" sz="1130" spc="-1" strike="noStrike">
                <a:solidFill>
                  <a:srgbClr val="161a25"/>
                </a:solidFill>
                <a:latin typeface="PingFang SC"/>
              </a:rPr>
              <a:t>验收入库</a:t>
            </a:r>
            <a:endParaRPr b="1" lang="en-US" sz="1130" spc="-1" strike="noStrike">
              <a:solidFill>
                <a:srgbClr val="161a25"/>
              </a:solidFill>
              <a:latin typeface="PingFang SC"/>
              <a:ea typeface="PingFang SC"/>
            </a:endParaRPr>
          </a:p>
        </p:txBody>
      </p:sp>
      <p:sp>
        <p:nvSpPr>
          <p:cNvPr id="556" name="fig03-text-111"/>
          <p:cNvSpPr txBox="1"/>
          <p:nvPr/>
        </p:nvSpPr>
        <p:spPr>
          <a:xfrm>
            <a:off x="7858080" y="10865160"/>
            <a:ext cx="1571760" cy="2075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zh-CN" sz="900" spc="-1" strike="noStrike">
                <a:solidFill>
                  <a:srgbClr val="667085"/>
                </a:solidFill>
                <a:latin typeface="PingFang SC"/>
              </a:rPr>
              <a:t>数量 </a:t>
            </a:r>
            <a:r>
              <a:rPr b="0" lang="en-US" sz="900" spc="-1" strike="noStrike">
                <a:solidFill>
                  <a:srgbClr val="667085"/>
                </a:solidFill>
                <a:latin typeface="PingFang SC"/>
              </a:rPr>
              <a:t>/ </a:t>
            </a:r>
            <a:r>
              <a:rPr b="0" lang="zh-CN" sz="900" spc="-1" strike="noStrike">
                <a:solidFill>
                  <a:srgbClr val="667085"/>
                </a:solidFill>
                <a:latin typeface="PingFang SC"/>
              </a:rPr>
              <a:t>批次 </a:t>
            </a:r>
            <a:r>
              <a:rPr b="0" lang="en-US" sz="900" spc="-1" strike="noStrike">
                <a:solidFill>
                  <a:srgbClr val="667085"/>
                </a:solidFill>
                <a:latin typeface="PingFang SC"/>
              </a:rPr>
              <a:t>/ </a:t>
            </a:r>
            <a:r>
              <a:rPr b="0" lang="zh-CN" sz="900" spc="-1" strike="noStrike">
                <a:solidFill>
                  <a:srgbClr val="667085"/>
                </a:solidFill>
                <a:latin typeface="PingFang SC"/>
              </a:rPr>
              <a:t>效期 </a:t>
            </a:r>
            <a:r>
              <a:rPr b="0" lang="en-US" sz="900" spc="-1" strike="noStrike">
                <a:solidFill>
                  <a:srgbClr val="667085"/>
                </a:solidFill>
                <a:latin typeface="PingFang SC"/>
              </a:rPr>
              <a:t>/ </a:t>
            </a:r>
            <a:r>
              <a:rPr b="0" lang="zh-CN" sz="900" spc="-1" strike="noStrike">
                <a:solidFill>
                  <a:srgbClr val="667085"/>
                </a:solidFill>
                <a:latin typeface="PingFang SC"/>
              </a:rPr>
              <a:t>温控 </a:t>
            </a:r>
            <a:r>
              <a:rPr b="0" lang="en-US" sz="900" spc="-1" strike="noStrike">
                <a:solidFill>
                  <a:srgbClr val="667085"/>
                </a:solidFill>
                <a:latin typeface="PingFang SC"/>
              </a:rPr>
              <a:t>/</a:t>
            </a:r>
            <a:endParaRPr b="0" lang="en-US" sz="900" spc="-1" strike="noStrike">
              <a:solidFill>
                <a:srgbClr val="667085"/>
              </a:solidFill>
              <a:latin typeface="PingFang SC"/>
              <a:ea typeface="PingFang SC"/>
            </a:endParaRPr>
          </a:p>
          <a:p>
            <a:r>
              <a:rPr b="0" lang="en-US" sz="900" spc="-1" strike="noStrike">
                <a:solidFill>
                  <a:srgbClr val="667085"/>
                </a:solidFill>
                <a:latin typeface="PingFang SC"/>
              </a:rPr>
              <a:t> </a:t>
            </a:r>
            <a:r>
              <a:rPr b="0" lang="zh-CN" sz="900" spc="-1" strike="noStrike">
                <a:solidFill>
                  <a:srgbClr val="667085"/>
                </a:solidFill>
                <a:latin typeface="PingFang SC"/>
              </a:rPr>
              <a:t>质检</a:t>
            </a:r>
            <a:endParaRPr b="0" lang="en-US" sz="900" spc="-1" strike="noStrike">
              <a:solidFill>
                <a:srgbClr val="667085"/>
              </a:solidFill>
              <a:latin typeface="PingFang SC"/>
              <a:ea typeface="PingFang SC"/>
            </a:endParaRPr>
          </a:p>
          <a:p>
            <a:r>
              <a:rPr b="0" lang="zh-CN" sz="900" spc="-1" strike="noStrike">
                <a:solidFill>
                  <a:srgbClr val="667085"/>
                </a:solidFill>
                <a:latin typeface="PingFang SC"/>
              </a:rPr>
              <a:t>合格入库 </a:t>
            </a:r>
            <a:r>
              <a:rPr b="0" lang="en-US" sz="900" spc="-1" strike="noStrike">
                <a:solidFill>
                  <a:srgbClr val="667085"/>
                </a:solidFill>
                <a:latin typeface="PingFang SC"/>
              </a:rPr>
              <a:t>/ </a:t>
            </a:r>
            <a:r>
              <a:rPr b="0" lang="zh-CN" sz="900" spc="-1" strike="noStrike">
                <a:solidFill>
                  <a:srgbClr val="667085"/>
                </a:solidFill>
                <a:latin typeface="PingFang SC"/>
              </a:rPr>
              <a:t>不合格退货 </a:t>
            </a:r>
            <a:r>
              <a:rPr b="0" lang="en-US" sz="900" spc="-1" strike="noStrike">
                <a:solidFill>
                  <a:srgbClr val="667085"/>
                </a:solidFill>
                <a:latin typeface="PingFang SC"/>
              </a:rPr>
              <a:t>/</a:t>
            </a:r>
            <a:endParaRPr b="0" lang="en-US" sz="900" spc="-1" strike="noStrike">
              <a:solidFill>
                <a:srgbClr val="667085"/>
              </a:solidFill>
              <a:latin typeface="PingFang SC"/>
              <a:ea typeface="PingFang SC"/>
            </a:endParaRPr>
          </a:p>
          <a:p>
            <a:r>
              <a:rPr b="0" lang="en-US" sz="900" spc="-1" strike="noStrike">
                <a:solidFill>
                  <a:srgbClr val="667085"/>
                </a:solidFill>
                <a:latin typeface="PingFang SC"/>
              </a:rPr>
              <a:t> </a:t>
            </a:r>
            <a:r>
              <a:rPr b="0" lang="zh-CN" sz="900" spc="-1" strike="noStrike">
                <a:solidFill>
                  <a:srgbClr val="667085"/>
                </a:solidFill>
                <a:latin typeface="PingFang SC"/>
              </a:rPr>
              <a:t>待处置</a:t>
            </a:r>
            <a:endParaRPr b="0" lang="en-US" sz="900" spc="-1" strike="noStrike">
              <a:solidFill>
                <a:srgbClr val="667085"/>
              </a:solidFill>
              <a:latin typeface="PingFang SC"/>
              <a:ea typeface="PingFang SC"/>
            </a:endParaRPr>
          </a:p>
        </p:txBody>
      </p:sp>
      <p:sp>
        <p:nvSpPr>
          <p:cNvPr id="557" name="fig03-card"/>
          <p:cNvSpPr/>
          <p:nvPr/>
        </p:nvSpPr>
        <p:spPr>
          <a:xfrm>
            <a:off x="5334120" y="10306080"/>
            <a:ext cx="1857240" cy="1257120"/>
          </a:xfrm>
          <a:prstGeom prst="roundRect">
            <a:avLst/>
          </a:prstGeom>
          <a:solidFill>
            <a:srgbClr val="ecfbf4"/>
          </a:solidFill>
          <a:ln w="11520">
            <a:solidFill>
              <a:srgbClr val="28cc83"/>
            </a:solidFill>
            <a:round/>
          </a:ln>
        </p:spPr>
        <p:txBody>
          <a:bodyPr lIns="95760" rIns="95760" tIns="50760" bIns="5076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8" name="fig03-card"/>
          <p:cNvSpPr/>
          <p:nvPr/>
        </p:nvSpPr>
        <p:spPr>
          <a:xfrm>
            <a:off x="5467320" y="10439280"/>
            <a:ext cx="857160" cy="190440"/>
          </a:xfrm>
          <a:prstGeom prst="roundRect">
            <a:avLst/>
          </a:prstGeom>
          <a:solidFill>
            <a:srgbClr val="e5f9f0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9" name="fig03-text-114"/>
          <p:cNvSpPr txBox="1"/>
          <p:nvPr/>
        </p:nvSpPr>
        <p:spPr>
          <a:xfrm>
            <a:off x="5553000" y="10490760"/>
            <a:ext cx="176760" cy="602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750" spc="-1" strike="noStrike">
                <a:solidFill>
                  <a:srgbClr val="28cc83"/>
                </a:solidFill>
                <a:latin typeface="IBM Plex Mono"/>
              </a:rPr>
              <a:t>08</a:t>
            </a:r>
            <a:endParaRPr b="1" lang="en-US" sz="750" spc="-1" strike="noStrike">
              <a:solidFill>
                <a:srgbClr val="28cc83"/>
              </a:solidFill>
              <a:latin typeface="IBM Plex Mono"/>
              <a:ea typeface="IBM Plex Mono"/>
            </a:endParaRPr>
          </a:p>
        </p:txBody>
      </p:sp>
      <p:sp>
        <p:nvSpPr>
          <p:cNvPr id="560" name="fig03-text-115"/>
          <p:cNvSpPr txBox="1"/>
          <p:nvPr/>
        </p:nvSpPr>
        <p:spPr>
          <a:xfrm>
            <a:off x="5477040" y="10653840"/>
            <a:ext cx="1571760" cy="752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zh-CN" sz="1130" spc="-1" strike="noStrike">
                <a:solidFill>
                  <a:srgbClr val="161a25"/>
                </a:solidFill>
                <a:latin typeface="PingFang SC"/>
              </a:rPr>
              <a:t>领料与排产排工</a:t>
            </a:r>
            <a:endParaRPr b="1" lang="en-US" sz="1130" spc="-1" strike="noStrike">
              <a:solidFill>
                <a:srgbClr val="161a25"/>
              </a:solidFill>
              <a:latin typeface="PingFang SC"/>
              <a:ea typeface="PingFang SC"/>
            </a:endParaRPr>
          </a:p>
        </p:txBody>
      </p:sp>
      <p:sp>
        <p:nvSpPr>
          <p:cNvPr id="561" name="fig03-text-116"/>
          <p:cNvSpPr txBox="1"/>
          <p:nvPr/>
        </p:nvSpPr>
        <p:spPr>
          <a:xfrm>
            <a:off x="5477040" y="10865160"/>
            <a:ext cx="1571760" cy="1744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zh-CN" sz="900" spc="-1" strike="noStrike">
                <a:solidFill>
                  <a:srgbClr val="667085"/>
                </a:solidFill>
                <a:latin typeface="PingFang SC"/>
              </a:rPr>
              <a:t>冻结生产版本领料</a:t>
            </a:r>
            <a:endParaRPr b="0" lang="en-US" sz="900" spc="-1" strike="noStrike">
              <a:solidFill>
                <a:srgbClr val="667085"/>
              </a:solidFill>
              <a:latin typeface="PingFang SC"/>
              <a:ea typeface="PingFang SC"/>
            </a:endParaRPr>
          </a:p>
          <a:p>
            <a:r>
              <a:rPr b="0" lang="zh-CN" sz="900" spc="-1" strike="noStrike">
                <a:solidFill>
                  <a:srgbClr val="667085"/>
                </a:solidFill>
                <a:latin typeface="PingFang SC"/>
              </a:rPr>
              <a:t>岗位资质 </a:t>
            </a:r>
            <a:r>
              <a:rPr b="0" lang="en-US" sz="900" spc="-1" strike="noStrike">
                <a:solidFill>
                  <a:srgbClr val="667085"/>
                </a:solidFill>
                <a:latin typeface="PingFang SC"/>
              </a:rPr>
              <a:t>/ </a:t>
            </a:r>
            <a:r>
              <a:rPr b="0" lang="zh-CN" sz="900" spc="-1" strike="noStrike">
                <a:solidFill>
                  <a:srgbClr val="667085"/>
                </a:solidFill>
                <a:latin typeface="PingFang SC"/>
              </a:rPr>
              <a:t>产能 </a:t>
            </a:r>
            <a:r>
              <a:rPr b="0" lang="en-US" sz="900" spc="-1" strike="noStrike">
                <a:solidFill>
                  <a:srgbClr val="667085"/>
                </a:solidFill>
                <a:latin typeface="PingFang SC"/>
              </a:rPr>
              <a:t>/ </a:t>
            </a:r>
            <a:r>
              <a:rPr b="0" lang="zh-CN" sz="900" spc="-1" strike="noStrike">
                <a:solidFill>
                  <a:srgbClr val="667085"/>
                </a:solidFill>
                <a:latin typeface="PingFang SC"/>
              </a:rPr>
              <a:t>工时 </a:t>
            </a:r>
            <a:r>
              <a:rPr b="0" lang="en-US" sz="900" spc="-1" strike="noStrike">
                <a:solidFill>
                  <a:srgbClr val="667085"/>
                </a:solidFill>
                <a:latin typeface="PingFang SC"/>
              </a:rPr>
              <a:t>/</a:t>
            </a:r>
            <a:endParaRPr b="0" lang="en-US" sz="900" spc="-1" strike="noStrike">
              <a:solidFill>
                <a:srgbClr val="667085"/>
              </a:solidFill>
              <a:latin typeface="PingFang SC"/>
              <a:ea typeface="PingFang SC"/>
            </a:endParaRPr>
          </a:p>
          <a:p>
            <a:r>
              <a:rPr b="0" lang="en-US" sz="900" spc="-1" strike="noStrike">
                <a:solidFill>
                  <a:srgbClr val="667085"/>
                </a:solidFill>
                <a:latin typeface="PingFang SC"/>
              </a:rPr>
              <a:t> </a:t>
            </a:r>
            <a:r>
              <a:rPr b="0" lang="zh-CN" sz="900" spc="-1" strike="noStrike">
                <a:solidFill>
                  <a:srgbClr val="667085"/>
                </a:solidFill>
                <a:latin typeface="PingFang SC"/>
              </a:rPr>
              <a:t>时段覆盖</a:t>
            </a:r>
            <a:endParaRPr b="0" lang="en-US" sz="900" spc="-1" strike="noStrike">
              <a:solidFill>
                <a:srgbClr val="667085"/>
              </a:solidFill>
              <a:latin typeface="PingFang SC"/>
              <a:ea typeface="PingFang SC"/>
            </a:endParaRPr>
          </a:p>
        </p:txBody>
      </p:sp>
      <p:sp>
        <p:nvSpPr>
          <p:cNvPr id="562" name="fig03-card"/>
          <p:cNvSpPr/>
          <p:nvPr/>
        </p:nvSpPr>
        <p:spPr>
          <a:xfrm>
            <a:off x="2952720" y="10306080"/>
            <a:ext cx="1857240" cy="1257120"/>
          </a:xfrm>
          <a:prstGeom prst="roundRect">
            <a:avLst/>
          </a:prstGeom>
          <a:solidFill>
            <a:srgbClr val="ecfbf4"/>
          </a:solidFill>
          <a:ln w="11520">
            <a:solidFill>
              <a:srgbClr val="28cc83"/>
            </a:solidFill>
            <a:round/>
          </a:ln>
        </p:spPr>
        <p:txBody>
          <a:bodyPr lIns="95760" rIns="95760" tIns="50760" bIns="5076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3" name="fig03-card"/>
          <p:cNvSpPr/>
          <p:nvPr/>
        </p:nvSpPr>
        <p:spPr>
          <a:xfrm>
            <a:off x="3085920" y="10439280"/>
            <a:ext cx="857160" cy="190440"/>
          </a:xfrm>
          <a:prstGeom prst="roundRect">
            <a:avLst/>
          </a:prstGeom>
          <a:solidFill>
            <a:srgbClr val="e5f9f0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4" name="fig03-text-119"/>
          <p:cNvSpPr txBox="1"/>
          <p:nvPr/>
        </p:nvSpPr>
        <p:spPr>
          <a:xfrm>
            <a:off x="3171960" y="10490760"/>
            <a:ext cx="176760" cy="602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750" spc="-1" strike="noStrike">
                <a:solidFill>
                  <a:srgbClr val="28cc83"/>
                </a:solidFill>
                <a:latin typeface="IBM Plex Mono"/>
              </a:rPr>
              <a:t>09</a:t>
            </a:r>
            <a:endParaRPr b="1" lang="en-US" sz="750" spc="-1" strike="noStrike">
              <a:solidFill>
                <a:srgbClr val="28cc83"/>
              </a:solidFill>
              <a:latin typeface="IBM Plex Mono"/>
              <a:ea typeface="IBM Plex Mono"/>
            </a:endParaRPr>
          </a:p>
        </p:txBody>
      </p:sp>
      <p:sp>
        <p:nvSpPr>
          <p:cNvPr id="565" name="fig03-text-120"/>
          <p:cNvSpPr txBox="1"/>
          <p:nvPr/>
        </p:nvSpPr>
        <p:spPr>
          <a:xfrm>
            <a:off x="3095640" y="10653840"/>
            <a:ext cx="1571760" cy="421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zh-CN" sz="1130" spc="-1" strike="noStrike">
                <a:solidFill>
                  <a:srgbClr val="161a25"/>
                </a:solidFill>
                <a:latin typeface="PingFang SC"/>
              </a:rPr>
              <a:t>生产检查</a:t>
            </a:r>
            <a:endParaRPr b="1" lang="en-US" sz="1130" spc="-1" strike="noStrike">
              <a:solidFill>
                <a:srgbClr val="161a25"/>
              </a:solidFill>
              <a:latin typeface="PingFang SC"/>
              <a:ea typeface="PingFang SC"/>
            </a:endParaRPr>
          </a:p>
        </p:txBody>
      </p:sp>
      <p:sp>
        <p:nvSpPr>
          <p:cNvPr id="566" name="fig03-text-121"/>
          <p:cNvSpPr txBox="1"/>
          <p:nvPr/>
        </p:nvSpPr>
        <p:spPr>
          <a:xfrm>
            <a:off x="3095640" y="10865160"/>
            <a:ext cx="1571760" cy="1744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zh-CN" sz="900" spc="-1" strike="noStrike">
                <a:solidFill>
                  <a:srgbClr val="667085"/>
                </a:solidFill>
                <a:latin typeface="PingFang SC"/>
              </a:rPr>
              <a:t>实际投料 </a:t>
            </a:r>
            <a:r>
              <a:rPr b="0" lang="en-US" sz="900" spc="-1" strike="noStrike">
                <a:solidFill>
                  <a:srgbClr val="667085"/>
                </a:solidFill>
                <a:latin typeface="PingFang SC"/>
              </a:rPr>
              <a:t>/ </a:t>
            </a:r>
            <a:r>
              <a:rPr b="0" lang="zh-CN" sz="900" spc="-1" strike="noStrike">
                <a:solidFill>
                  <a:srgbClr val="667085"/>
                </a:solidFill>
                <a:latin typeface="PingFang SC"/>
              </a:rPr>
              <a:t>产出 </a:t>
            </a:r>
            <a:r>
              <a:rPr b="0" lang="en-US" sz="900" spc="-1" strike="noStrike">
                <a:solidFill>
                  <a:srgbClr val="667085"/>
                </a:solidFill>
                <a:latin typeface="PingFang SC"/>
              </a:rPr>
              <a:t>/ </a:t>
            </a:r>
            <a:r>
              <a:rPr b="0" lang="zh-CN" sz="900" spc="-1" strike="noStrike">
                <a:solidFill>
                  <a:srgbClr val="667085"/>
                </a:solidFill>
                <a:latin typeface="PingFang SC"/>
              </a:rPr>
              <a:t>留样 </a:t>
            </a:r>
            <a:r>
              <a:rPr b="0" lang="en-US" sz="900" spc="-1" strike="noStrike">
                <a:solidFill>
                  <a:srgbClr val="667085"/>
                </a:solidFill>
                <a:latin typeface="PingFang SC"/>
              </a:rPr>
              <a:t>/</a:t>
            </a:r>
            <a:endParaRPr b="0" lang="en-US" sz="900" spc="-1" strike="noStrike">
              <a:solidFill>
                <a:srgbClr val="667085"/>
              </a:solidFill>
              <a:latin typeface="PingFang SC"/>
              <a:ea typeface="PingFang SC"/>
            </a:endParaRPr>
          </a:p>
          <a:p>
            <a:r>
              <a:rPr b="0" lang="en-US" sz="900" spc="-1" strike="noStrike">
                <a:solidFill>
                  <a:srgbClr val="667085"/>
                </a:solidFill>
                <a:latin typeface="PingFang SC"/>
              </a:rPr>
              <a:t> </a:t>
            </a:r>
            <a:r>
              <a:rPr b="0" lang="zh-CN" sz="900" spc="-1" strike="noStrike">
                <a:solidFill>
                  <a:srgbClr val="667085"/>
                </a:solidFill>
                <a:latin typeface="PingFang SC"/>
              </a:rPr>
              <a:t>温控 </a:t>
            </a:r>
            <a:r>
              <a:rPr b="0" lang="en-US" sz="900" spc="-1" strike="noStrike">
                <a:solidFill>
                  <a:srgbClr val="667085"/>
                </a:solidFill>
                <a:latin typeface="PingFang SC"/>
              </a:rPr>
              <a:t>/ </a:t>
            </a:r>
            <a:r>
              <a:rPr b="0" lang="zh-CN" sz="900" spc="-1" strike="noStrike">
                <a:solidFill>
                  <a:srgbClr val="667085"/>
                </a:solidFill>
                <a:latin typeface="PingFang SC"/>
              </a:rPr>
              <a:t>质检</a:t>
            </a:r>
            <a:endParaRPr b="0" lang="en-US" sz="900" spc="-1" strike="noStrike">
              <a:solidFill>
                <a:srgbClr val="667085"/>
              </a:solidFill>
              <a:latin typeface="PingFang SC"/>
              <a:ea typeface="PingFang SC"/>
            </a:endParaRPr>
          </a:p>
          <a:p>
            <a:r>
              <a:rPr b="0" lang="zh-CN" sz="900" spc="-1" strike="noStrike">
                <a:solidFill>
                  <a:srgbClr val="667085"/>
                </a:solidFill>
                <a:latin typeface="PingFang SC"/>
              </a:rPr>
              <a:t>放行 </a:t>
            </a:r>
            <a:r>
              <a:rPr b="0" lang="en-US" sz="900" spc="-1" strike="noStrike">
                <a:solidFill>
                  <a:srgbClr val="667085"/>
                </a:solidFill>
                <a:latin typeface="PingFang SC"/>
              </a:rPr>
              <a:t>/ </a:t>
            </a:r>
            <a:r>
              <a:rPr b="0" lang="zh-CN" sz="900" spc="-1" strike="noStrike">
                <a:solidFill>
                  <a:srgbClr val="667085"/>
                </a:solidFill>
                <a:latin typeface="PingFang SC"/>
              </a:rPr>
              <a:t>返工 </a:t>
            </a:r>
            <a:r>
              <a:rPr b="0" lang="en-US" sz="900" spc="-1" strike="noStrike">
                <a:solidFill>
                  <a:srgbClr val="667085"/>
                </a:solidFill>
                <a:latin typeface="PingFang SC"/>
              </a:rPr>
              <a:t>/ </a:t>
            </a:r>
            <a:r>
              <a:rPr b="0" lang="zh-CN" sz="900" spc="-1" strike="noStrike">
                <a:solidFill>
                  <a:srgbClr val="667085"/>
                </a:solidFill>
                <a:latin typeface="PingFang SC"/>
              </a:rPr>
              <a:t>报废</a:t>
            </a:r>
            <a:endParaRPr b="0" lang="en-US" sz="900" spc="-1" strike="noStrike">
              <a:solidFill>
                <a:srgbClr val="667085"/>
              </a:solidFill>
              <a:latin typeface="PingFang SC"/>
              <a:ea typeface="PingFang SC"/>
            </a:endParaRPr>
          </a:p>
        </p:txBody>
      </p:sp>
      <p:sp>
        <p:nvSpPr>
          <p:cNvPr id="567" name="fig03-card"/>
          <p:cNvSpPr/>
          <p:nvPr/>
        </p:nvSpPr>
        <p:spPr>
          <a:xfrm>
            <a:off x="571680" y="10306080"/>
            <a:ext cx="1857240" cy="1257120"/>
          </a:xfrm>
          <a:prstGeom prst="roundRect">
            <a:avLst/>
          </a:prstGeom>
          <a:solidFill>
            <a:srgbClr val="eef6ff"/>
          </a:solidFill>
          <a:ln w="11520">
            <a:solidFill>
              <a:srgbClr val="2d8eff"/>
            </a:solidFill>
            <a:round/>
          </a:ln>
        </p:spPr>
        <p:txBody>
          <a:bodyPr lIns="95760" rIns="95760" tIns="50760" bIns="5076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8" name="fig03-card"/>
          <p:cNvSpPr/>
          <p:nvPr/>
        </p:nvSpPr>
        <p:spPr>
          <a:xfrm>
            <a:off x="704880" y="10439280"/>
            <a:ext cx="857160" cy="190440"/>
          </a:xfrm>
          <a:prstGeom prst="roundRect">
            <a:avLst/>
          </a:prstGeom>
          <a:solidFill>
            <a:srgbClr val="e6f1ff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9" name="fig03-text-124"/>
          <p:cNvSpPr txBox="1"/>
          <p:nvPr/>
        </p:nvSpPr>
        <p:spPr>
          <a:xfrm>
            <a:off x="790560" y="10490760"/>
            <a:ext cx="176760" cy="602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750" spc="-1" strike="noStrike">
                <a:solidFill>
                  <a:srgbClr val="2d8eff"/>
                </a:solidFill>
                <a:latin typeface="IBM Plex Mono"/>
              </a:rPr>
              <a:t>10</a:t>
            </a:r>
            <a:endParaRPr b="1" lang="en-US" sz="750" spc="-1" strike="noStrike">
              <a:solidFill>
                <a:srgbClr val="2d8eff"/>
              </a:solidFill>
              <a:latin typeface="IBM Plex Mono"/>
              <a:ea typeface="IBM Plex Mono"/>
            </a:endParaRPr>
          </a:p>
        </p:txBody>
      </p:sp>
      <p:sp>
        <p:nvSpPr>
          <p:cNvPr id="570" name="fig03-text-125"/>
          <p:cNvSpPr txBox="1"/>
          <p:nvPr/>
        </p:nvSpPr>
        <p:spPr>
          <a:xfrm>
            <a:off x="714240" y="10653840"/>
            <a:ext cx="1571760" cy="421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zh-CN" sz="1130" spc="-1" strike="noStrike">
                <a:solidFill>
                  <a:srgbClr val="161a25"/>
                </a:solidFill>
                <a:latin typeface="PingFang SC"/>
              </a:rPr>
              <a:t>配送销售</a:t>
            </a:r>
            <a:endParaRPr b="1" lang="en-US" sz="1130" spc="-1" strike="noStrike">
              <a:solidFill>
                <a:srgbClr val="161a25"/>
              </a:solidFill>
              <a:latin typeface="PingFang SC"/>
              <a:ea typeface="PingFang SC"/>
            </a:endParaRPr>
          </a:p>
        </p:txBody>
      </p:sp>
      <p:sp>
        <p:nvSpPr>
          <p:cNvPr id="571" name="fig03-text-126"/>
          <p:cNvSpPr txBox="1"/>
          <p:nvPr/>
        </p:nvSpPr>
        <p:spPr>
          <a:xfrm>
            <a:off x="714240" y="10865160"/>
            <a:ext cx="1571760" cy="1744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zh-CN" sz="900" spc="-1" strike="noStrike">
                <a:solidFill>
                  <a:srgbClr val="667085"/>
                </a:solidFill>
                <a:latin typeface="PingFang SC"/>
              </a:rPr>
              <a:t>路线批次 </a:t>
            </a:r>
            <a:r>
              <a:rPr b="0" lang="en-US" sz="900" spc="-1" strike="noStrike">
                <a:solidFill>
                  <a:srgbClr val="667085"/>
                </a:solidFill>
                <a:latin typeface="PingFang SC"/>
              </a:rPr>
              <a:t>/ </a:t>
            </a:r>
            <a:r>
              <a:rPr b="0" lang="zh-CN" sz="900" spc="-1" strike="noStrike">
                <a:solidFill>
                  <a:srgbClr val="667085"/>
                </a:solidFill>
                <a:latin typeface="PingFang SC"/>
              </a:rPr>
              <a:t>交接 </a:t>
            </a:r>
            <a:r>
              <a:rPr b="0" lang="en-US" sz="900" spc="-1" strike="noStrike">
                <a:solidFill>
                  <a:srgbClr val="667085"/>
                </a:solidFill>
                <a:latin typeface="PingFang SC"/>
              </a:rPr>
              <a:t>/ </a:t>
            </a:r>
            <a:r>
              <a:rPr b="0" lang="zh-CN" sz="900" spc="-1" strike="noStrike">
                <a:solidFill>
                  <a:srgbClr val="667085"/>
                </a:solidFill>
                <a:latin typeface="PingFang SC"/>
              </a:rPr>
              <a:t>签收 </a:t>
            </a:r>
            <a:r>
              <a:rPr b="0" lang="en-US" sz="900" spc="-1" strike="noStrike">
                <a:solidFill>
                  <a:srgbClr val="667085"/>
                </a:solidFill>
                <a:latin typeface="PingFang SC"/>
              </a:rPr>
              <a:t>/ </a:t>
            </a:r>
            <a:r>
              <a:rPr b="0" lang="zh-CN" sz="900" spc="-1" strike="noStrike">
                <a:solidFill>
                  <a:srgbClr val="667085"/>
                </a:solidFill>
                <a:latin typeface="PingFang SC"/>
              </a:rPr>
              <a:t>实发</a:t>
            </a:r>
            <a:endParaRPr b="0" lang="en-US" sz="900" spc="-1" strike="noStrike">
              <a:solidFill>
                <a:srgbClr val="667085"/>
              </a:solidFill>
              <a:latin typeface="PingFang SC"/>
              <a:ea typeface="PingFang SC"/>
            </a:endParaRPr>
          </a:p>
          <a:p>
            <a:r>
              <a:rPr b="0" lang="zh-CN" sz="900" spc="-1" strike="noStrike">
                <a:solidFill>
                  <a:srgbClr val="667085"/>
                </a:solidFill>
                <a:latin typeface="PingFang SC"/>
              </a:rPr>
              <a:t>订单行与生产批次可追溯</a:t>
            </a:r>
            <a:endParaRPr b="0" lang="en-US" sz="900" spc="-1" strike="noStrike">
              <a:solidFill>
                <a:srgbClr val="667085"/>
              </a:solidFill>
              <a:latin typeface="PingFang SC"/>
              <a:ea typeface="PingFang SC"/>
            </a:endParaRPr>
          </a:p>
        </p:txBody>
      </p:sp>
      <p:sp>
        <p:nvSpPr>
          <p:cNvPr id="572" name="fig03-card"/>
          <p:cNvSpPr/>
          <p:nvPr/>
        </p:nvSpPr>
        <p:spPr>
          <a:xfrm>
            <a:off x="3809880" y="12020400"/>
            <a:ext cx="3809880" cy="1123920"/>
          </a:xfrm>
          <a:prstGeom prst="roundRect">
            <a:avLst/>
          </a:prstGeom>
          <a:solidFill>
            <a:srgbClr val="f0f1ff"/>
          </a:solidFill>
          <a:ln w="11520">
            <a:solidFill>
              <a:srgbClr val="4f46e5"/>
            </a:solidFill>
            <a:round/>
          </a:ln>
        </p:spPr>
        <p:txBody>
          <a:bodyPr lIns="95760" rIns="95760" tIns="50760" bIns="5076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3" name="fig03-card"/>
          <p:cNvSpPr/>
          <p:nvPr/>
        </p:nvSpPr>
        <p:spPr>
          <a:xfrm>
            <a:off x="3943440" y="12153960"/>
            <a:ext cx="857160" cy="190440"/>
          </a:xfrm>
          <a:prstGeom prst="roundRect">
            <a:avLst/>
          </a:prstGeom>
          <a:solidFill>
            <a:srgbClr val="eae9fc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4" name="fig03-text-129"/>
          <p:cNvSpPr txBox="1"/>
          <p:nvPr/>
        </p:nvSpPr>
        <p:spPr>
          <a:xfrm>
            <a:off x="4029120" y="12205440"/>
            <a:ext cx="176760" cy="602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750" spc="-1" strike="noStrike">
                <a:solidFill>
                  <a:srgbClr val="4f46e5"/>
                </a:solidFill>
                <a:latin typeface="IBM Plex Mono"/>
              </a:rPr>
              <a:t>11</a:t>
            </a:r>
            <a:endParaRPr b="1" lang="en-US" sz="750" spc="-1" strike="noStrike">
              <a:solidFill>
                <a:srgbClr val="4f46e5"/>
              </a:solidFill>
              <a:latin typeface="IBM Plex Mono"/>
              <a:ea typeface="IBM Plex Mono"/>
            </a:endParaRPr>
          </a:p>
        </p:txBody>
      </p:sp>
      <p:sp>
        <p:nvSpPr>
          <p:cNvPr id="575" name="fig03-text-130"/>
          <p:cNvSpPr txBox="1"/>
          <p:nvPr/>
        </p:nvSpPr>
        <p:spPr>
          <a:xfrm>
            <a:off x="3952800" y="12368160"/>
            <a:ext cx="3524400" cy="421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zh-CN" sz="1130" spc="-1" strike="noStrike">
                <a:solidFill>
                  <a:srgbClr val="161a25"/>
                </a:solidFill>
                <a:latin typeface="PingFang SC"/>
              </a:rPr>
              <a:t>结算成本与经营事实</a:t>
            </a:r>
            <a:endParaRPr b="1" lang="en-US" sz="1130" spc="-1" strike="noStrike">
              <a:solidFill>
                <a:srgbClr val="161a25"/>
              </a:solidFill>
              <a:latin typeface="PingFang SC"/>
              <a:ea typeface="PingFang SC"/>
            </a:endParaRPr>
          </a:p>
        </p:txBody>
      </p:sp>
      <p:sp>
        <p:nvSpPr>
          <p:cNvPr id="576" name="fig03-text-131"/>
          <p:cNvSpPr txBox="1"/>
          <p:nvPr/>
        </p:nvSpPr>
        <p:spPr>
          <a:xfrm>
            <a:off x="3952800" y="12579840"/>
            <a:ext cx="3524400" cy="1413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zh-CN" sz="900" spc="-1" strike="noStrike">
                <a:solidFill>
                  <a:srgbClr val="667085"/>
                </a:solidFill>
                <a:latin typeface="PingFang SC"/>
              </a:rPr>
              <a:t>采购价、收货、领用、损耗、报废、销量、退餐、餐补 </a:t>
            </a:r>
            <a:r>
              <a:rPr b="0" lang="en-US" sz="900" spc="-1" strike="noStrike">
                <a:solidFill>
                  <a:srgbClr val="667085"/>
                </a:solidFill>
                <a:latin typeface="PingFang SC"/>
              </a:rPr>
              <a:t>/</a:t>
            </a:r>
            <a:endParaRPr b="0" lang="en-US" sz="900" spc="-1" strike="noStrike">
              <a:solidFill>
                <a:srgbClr val="667085"/>
              </a:solidFill>
              <a:latin typeface="PingFang SC"/>
              <a:ea typeface="PingFang SC"/>
            </a:endParaRPr>
          </a:p>
          <a:p>
            <a:r>
              <a:rPr b="0" lang="en-US" sz="900" spc="-1" strike="noStrike">
                <a:solidFill>
                  <a:srgbClr val="667085"/>
                </a:solidFill>
                <a:latin typeface="PingFang SC"/>
              </a:rPr>
              <a:t> </a:t>
            </a:r>
            <a:r>
              <a:rPr b="0" lang="zh-CN" sz="900" spc="-1" strike="noStrike">
                <a:solidFill>
                  <a:srgbClr val="667085"/>
                </a:solidFill>
                <a:latin typeface="PingFang SC"/>
              </a:rPr>
              <a:t>结算口径分层对账；成本回写菜单、场景与餐次。</a:t>
            </a:r>
            <a:endParaRPr b="0" lang="en-US" sz="900" spc="-1" strike="noStrike">
              <a:solidFill>
                <a:srgbClr val="667085"/>
              </a:solidFill>
              <a:latin typeface="PingFang SC"/>
              <a:ea typeface="PingFang SC"/>
            </a:endParaRPr>
          </a:p>
        </p:txBody>
      </p:sp>
      <p:sp>
        <p:nvSpPr>
          <p:cNvPr id="577" name="fig03-f6-f7"/>
          <p:cNvSpPr/>
          <p:nvPr/>
        </p:nvSpPr>
        <p:spPr>
          <a:xfrm flipH="1">
            <a:off x="8639280" y="9505800"/>
            <a:ext cx="218880" cy="800280"/>
          </a:xfrm>
          <a:prstGeom prst="line">
            <a:avLst/>
          </a:prstGeom>
          <a:ln w="16200">
            <a:solidFill>
              <a:srgbClr val="e8a02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7920" rIns="97920" tIns="52920" bIns="5292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8" name="fig03-f6-f7-head"/>
          <p:cNvSpPr/>
          <p:nvPr/>
        </p:nvSpPr>
        <p:spPr>
          <a:xfrm>
            <a:off x="8627040" y="10213920"/>
            <a:ext cx="69480" cy="92160"/>
          </a:xfrm>
          <a:custGeom>
            <a:avLst/>
            <a:gdLst/>
            <a:ahLst/>
            <a:rect l="0" t="0" r="r" b="b"/>
            <a:pathLst>
              <a:path w="193" h="256">
                <a:moveTo>
                  <a:pt x="34" y="256"/>
                </a:moveTo>
                <a:lnTo>
                  <a:pt x="0" y="0"/>
                </a:lnTo>
                <a:lnTo>
                  <a:pt x="193" y="53"/>
                </a:lnTo>
                <a:lnTo>
                  <a:pt x="34" y="256"/>
                </a:lnTo>
                <a:close/>
              </a:path>
            </a:pathLst>
          </a:custGeom>
          <a:solidFill>
            <a:srgbClr val="e8a020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9" name="fig03-133-chip"/>
          <p:cNvSpPr/>
          <p:nvPr/>
        </p:nvSpPr>
        <p:spPr>
          <a:xfrm>
            <a:off x="8856360" y="9919440"/>
            <a:ext cx="384840" cy="171360"/>
          </a:xfrm>
          <a:prstGeom prst="roundRect">
            <a:avLst/>
          </a:prstGeom>
          <a:solidFill>
            <a:srgbClr val="ffffff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0" name="fig03-text-133"/>
          <p:cNvSpPr txBox="1"/>
          <p:nvPr/>
        </p:nvSpPr>
        <p:spPr>
          <a:xfrm>
            <a:off x="8913600" y="9938520"/>
            <a:ext cx="270360" cy="752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algn="ctr"/>
            <a:r>
              <a:rPr b="1" lang="zh-CN" sz="750" spc="-1" strike="noStrike">
                <a:solidFill>
                  <a:srgbClr val="667085"/>
                </a:solidFill>
                <a:latin typeface="PingFang SC"/>
              </a:rPr>
              <a:t>到货</a:t>
            </a:r>
            <a:endParaRPr b="1" lang="en-US" sz="750" spc="-1" strike="noStrike">
              <a:solidFill>
                <a:srgbClr val="667085"/>
              </a:solidFill>
              <a:latin typeface="PingFang SC"/>
              <a:ea typeface="PingFang SC"/>
            </a:endParaRPr>
          </a:p>
        </p:txBody>
      </p:sp>
      <p:sp>
        <p:nvSpPr>
          <p:cNvPr id="581" name="fig03-f7-f8"/>
          <p:cNvSpPr/>
          <p:nvPr/>
        </p:nvSpPr>
        <p:spPr>
          <a:xfrm flipH="1">
            <a:off x="7191360" y="10934640"/>
            <a:ext cx="523800" cy="0"/>
          </a:xfrm>
          <a:prstGeom prst="line">
            <a:avLst/>
          </a:prstGeom>
          <a:ln w="16200">
            <a:solidFill>
              <a:srgbClr val="e8a02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7920" rIns="97920" tIns="-52920" bIns="-5292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2" name="fig03-f7-f8-head"/>
          <p:cNvSpPr/>
          <p:nvPr/>
        </p:nvSpPr>
        <p:spPr>
          <a:xfrm>
            <a:off x="7191360" y="10898640"/>
            <a:ext cx="85680" cy="72000"/>
          </a:xfrm>
          <a:custGeom>
            <a:avLst/>
            <a:gdLst/>
            <a:ahLst/>
            <a:rect l="0" t="0" r="r" b="b"/>
            <a:pathLst>
              <a:path w="238" h="200">
                <a:moveTo>
                  <a:pt x="0" y="100"/>
                </a:moveTo>
                <a:lnTo>
                  <a:pt x="238" y="0"/>
                </a:lnTo>
                <a:lnTo>
                  <a:pt x="238" y="200"/>
                </a:lnTo>
                <a:lnTo>
                  <a:pt x="0" y="100"/>
                </a:lnTo>
                <a:close/>
              </a:path>
            </a:pathLst>
          </a:custGeom>
          <a:solidFill>
            <a:srgbClr val="e8a020"/>
          </a:solidFill>
          <a:ln w="0">
            <a:noFill/>
          </a:ln>
        </p:spPr>
        <p:txBody>
          <a:bodyPr lIns="90000" rIns="90000" tIns="27000" bIns="2700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3" name="fig03-f8-f9"/>
          <p:cNvSpPr/>
          <p:nvPr/>
        </p:nvSpPr>
        <p:spPr>
          <a:xfrm flipH="1">
            <a:off x="4809960" y="10934640"/>
            <a:ext cx="524160" cy="0"/>
          </a:xfrm>
          <a:prstGeom prst="line">
            <a:avLst/>
          </a:prstGeom>
          <a:ln w="16200">
            <a:solidFill>
              <a:srgbClr val="28cc8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7920" rIns="97920" tIns="-52920" bIns="-5292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4" name="fig03-f8-f9-head"/>
          <p:cNvSpPr/>
          <p:nvPr/>
        </p:nvSpPr>
        <p:spPr>
          <a:xfrm>
            <a:off x="4809960" y="10898640"/>
            <a:ext cx="86040" cy="72000"/>
          </a:xfrm>
          <a:custGeom>
            <a:avLst/>
            <a:gdLst/>
            <a:ahLst/>
            <a:rect l="0" t="0" r="r" b="b"/>
            <a:pathLst>
              <a:path w="239" h="200">
                <a:moveTo>
                  <a:pt x="0" y="100"/>
                </a:moveTo>
                <a:lnTo>
                  <a:pt x="239" y="0"/>
                </a:lnTo>
                <a:lnTo>
                  <a:pt x="239" y="200"/>
                </a:lnTo>
                <a:lnTo>
                  <a:pt x="0" y="100"/>
                </a:lnTo>
                <a:close/>
              </a:path>
            </a:pathLst>
          </a:custGeom>
          <a:solidFill>
            <a:srgbClr val="28cc83"/>
          </a:solidFill>
          <a:ln w="0">
            <a:noFill/>
          </a:ln>
        </p:spPr>
        <p:txBody>
          <a:bodyPr lIns="90000" rIns="90000" tIns="27000" bIns="27000" anchor="ctr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85" name="fig03-f9-f10"/>
          <p:cNvSpPr/>
          <p:nvPr/>
        </p:nvSpPr>
        <p:spPr>
          <a:xfrm flipH="1">
            <a:off x="2428920" y="10934640"/>
            <a:ext cx="523800" cy="0"/>
          </a:xfrm>
          <a:prstGeom prst="line">
            <a:avLst/>
          </a:prstGeom>
          <a:ln w="16200">
            <a:solidFill>
              <a:srgbClr val="28cc8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7920" rIns="97920" tIns="-52920" bIns="-5292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6" name="fig03-f9-f10-head"/>
          <p:cNvSpPr/>
          <p:nvPr/>
        </p:nvSpPr>
        <p:spPr>
          <a:xfrm>
            <a:off x="2428920" y="10898640"/>
            <a:ext cx="85680" cy="72000"/>
          </a:xfrm>
          <a:custGeom>
            <a:avLst/>
            <a:gdLst/>
            <a:ahLst/>
            <a:rect l="0" t="0" r="r" b="b"/>
            <a:pathLst>
              <a:path w="238" h="200">
                <a:moveTo>
                  <a:pt x="0" y="100"/>
                </a:moveTo>
                <a:lnTo>
                  <a:pt x="238" y="0"/>
                </a:lnTo>
                <a:lnTo>
                  <a:pt x="238" y="200"/>
                </a:lnTo>
                <a:lnTo>
                  <a:pt x="0" y="100"/>
                </a:lnTo>
                <a:close/>
              </a:path>
            </a:pathLst>
          </a:custGeom>
          <a:solidFill>
            <a:srgbClr val="28cc83"/>
          </a:solidFill>
          <a:ln w="0">
            <a:noFill/>
          </a:ln>
        </p:spPr>
        <p:txBody>
          <a:bodyPr lIns="90000" rIns="90000" tIns="27000" bIns="27000" anchor="ctr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87" name="fig03-delivery-to-fin"/>
          <p:cNvSpPr/>
          <p:nvPr/>
        </p:nvSpPr>
        <p:spPr>
          <a:xfrm>
            <a:off x="1504800" y="11563200"/>
            <a:ext cx="2305080" cy="1009800"/>
          </a:xfrm>
          <a:custGeom>
            <a:avLst/>
            <a:gdLst/>
            <a:ahLst/>
            <a:rect l="0" t="0" r="r" b="b"/>
            <a:pathLst>
              <a:path fill="none" w="6403" h="2805">
                <a:moveTo>
                  <a:pt x="0" y="0"/>
                </a:moveTo>
                <a:lnTo>
                  <a:pt x="196" y="311"/>
                </a:lnTo>
                <a:lnTo>
                  <a:pt x="539" y="631"/>
                </a:lnTo>
                <a:lnTo>
                  <a:pt x="1005" y="952"/>
                </a:lnTo>
                <a:lnTo>
                  <a:pt x="1566" y="1268"/>
                </a:lnTo>
                <a:lnTo>
                  <a:pt x="2198" y="1573"/>
                </a:lnTo>
                <a:lnTo>
                  <a:pt x="2874" y="1859"/>
                </a:lnTo>
                <a:lnTo>
                  <a:pt x="3569" y="2120"/>
                </a:lnTo>
                <a:lnTo>
                  <a:pt x="4255" y="2348"/>
                </a:lnTo>
                <a:lnTo>
                  <a:pt x="4908" y="2538"/>
                </a:lnTo>
                <a:lnTo>
                  <a:pt x="5501" y="2682"/>
                </a:lnTo>
                <a:lnTo>
                  <a:pt x="6008" y="2773"/>
                </a:lnTo>
                <a:lnTo>
                  <a:pt x="6403" y="2805"/>
                </a:lnTo>
              </a:path>
            </a:pathLst>
          </a:custGeom>
          <a:ln w="16200">
            <a:solidFill>
              <a:srgbClr val="4f46e5"/>
            </a:solidFill>
            <a:round/>
          </a:ln>
        </p:spPr>
        <p:txBody>
          <a:bodyPr lIns="97920" rIns="97920" tIns="52920" bIns="5292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8" name="fig03-delivery-to-fin-head"/>
          <p:cNvSpPr/>
          <p:nvPr/>
        </p:nvSpPr>
        <p:spPr>
          <a:xfrm>
            <a:off x="3720240" y="12525840"/>
            <a:ext cx="89640" cy="71280"/>
          </a:xfrm>
          <a:custGeom>
            <a:avLst/>
            <a:gdLst/>
            <a:ahLst/>
            <a:rect l="0" t="0" r="r" b="b"/>
            <a:pathLst>
              <a:path w="249" h="198">
                <a:moveTo>
                  <a:pt x="249" y="131"/>
                </a:moveTo>
                <a:lnTo>
                  <a:pt x="0" y="198"/>
                </a:lnTo>
                <a:lnTo>
                  <a:pt x="27" y="0"/>
                </a:lnTo>
                <a:lnTo>
                  <a:pt x="249" y="131"/>
                </a:lnTo>
                <a:close/>
              </a:path>
            </a:pathLst>
          </a:custGeom>
          <a:solidFill>
            <a:srgbClr val="4f46e5"/>
          </a:solidFill>
          <a:ln w="0">
            <a:noFill/>
          </a:ln>
        </p:spPr>
        <p:txBody>
          <a:bodyPr lIns="90000" rIns="90000" tIns="26280" bIns="26280" anchor="ctr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89" name="fig03-138-chip"/>
          <p:cNvSpPr/>
          <p:nvPr/>
        </p:nvSpPr>
        <p:spPr>
          <a:xfrm>
            <a:off x="2042280" y="12090960"/>
            <a:ext cx="1059120" cy="171360"/>
          </a:xfrm>
          <a:prstGeom prst="roundRect">
            <a:avLst/>
          </a:prstGeom>
          <a:solidFill>
            <a:srgbClr val="ffffff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0" name="fig03-text-138"/>
          <p:cNvSpPr txBox="1"/>
          <p:nvPr/>
        </p:nvSpPr>
        <p:spPr>
          <a:xfrm>
            <a:off x="2099520" y="12110040"/>
            <a:ext cx="944640" cy="1082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algn="ctr"/>
            <a:r>
              <a:rPr b="1" lang="zh-CN" sz="750" spc="-1" strike="noStrike">
                <a:solidFill>
                  <a:srgbClr val="4f46e5"/>
                </a:solidFill>
                <a:latin typeface="PingFang SC"/>
              </a:rPr>
              <a:t>实绩 </a:t>
            </a:r>
            <a:r>
              <a:rPr b="1" lang="en-US" sz="750" spc="-1" strike="noStrike">
                <a:solidFill>
                  <a:srgbClr val="4f46e5"/>
                </a:solidFill>
                <a:latin typeface="PingFang SC"/>
              </a:rPr>
              <a:t>/ </a:t>
            </a:r>
            <a:r>
              <a:rPr b="1" lang="zh-CN" sz="750" spc="-1" strike="noStrike">
                <a:solidFill>
                  <a:srgbClr val="4f46e5"/>
                </a:solidFill>
                <a:latin typeface="PingFang SC"/>
              </a:rPr>
              <a:t>销售 </a:t>
            </a:r>
            <a:r>
              <a:rPr b="1" lang="en-US" sz="750" spc="-1" strike="noStrike">
                <a:solidFill>
                  <a:srgbClr val="4f46e5"/>
                </a:solidFill>
                <a:latin typeface="PingFang SC"/>
              </a:rPr>
              <a:t>/ </a:t>
            </a:r>
            <a:r>
              <a:rPr b="1" lang="zh-CN" sz="750" spc="-1" strike="noStrike">
                <a:solidFill>
                  <a:srgbClr val="4f46e5"/>
                </a:solidFill>
                <a:latin typeface="PingFang SC"/>
              </a:rPr>
              <a:t>交付</a:t>
            </a:r>
            <a:endParaRPr b="1" lang="en-US" sz="750" spc="-1" strike="noStrike">
              <a:solidFill>
                <a:srgbClr val="4f46e5"/>
              </a:solidFill>
              <a:latin typeface="PingFang SC"/>
              <a:ea typeface="PingFang SC"/>
            </a:endParaRPr>
          </a:p>
        </p:txBody>
      </p:sp>
      <p:sp>
        <p:nvSpPr>
          <p:cNvPr id="591" name="fig03-batch-to-fin"/>
          <p:cNvSpPr/>
          <p:nvPr/>
        </p:nvSpPr>
        <p:spPr>
          <a:xfrm>
            <a:off x="3876840" y="11563200"/>
            <a:ext cx="885600" cy="457200"/>
          </a:xfrm>
          <a:custGeom>
            <a:avLst/>
            <a:gdLst/>
            <a:ahLst/>
            <a:rect l="0" t="0" r="r" b="b"/>
            <a:pathLst>
              <a:path fill="none" w="2460" h="1270">
                <a:moveTo>
                  <a:pt x="0" y="0"/>
                </a:moveTo>
                <a:lnTo>
                  <a:pt x="65" y="164"/>
                </a:lnTo>
                <a:lnTo>
                  <a:pt x="209" y="311"/>
                </a:lnTo>
                <a:lnTo>
                  <a:pt x="418" y="444"/>
                </a:lnTo>
                <a:lnTo>
                  <a:pt x="673" y="565"/>
                </a:lnTo>
                <a:lnTo>
                  <a:pt x="959" y="674"/>
                </a:lnTo>
                <a:lnTo>
                  <a:pt x="1260" y="774"/>
                </a:lnTo>
                <a:lnTo>
                  <a:pt x="1559" y="867"/>
                </a:lnTo>
                <a:lnTo>
                  <a:pt x="1840" y="953"/>
                </a:lnTo>
                <a:lnTo>
                  <a:pt x="2087" y="1035"/>
                </a:lnTo>
                <a:lnTo>
                  <a:pt x="2283" y="1114"/>
                </a:lnTo>
                <a:lnTo>
                  <a:pt x="2413" y="1192"/>
                </a:lnTo>
                <a:lnTo>
                  <a:pt x="2460" y="1270"/>
                </a:lnTo>
              </a:path>
            </a:pathLst>
          </a:custGeom>
          <a:ln w="16200">
            <a:solidFill>
              <a:srgbClr val="4f46e5"/>
            </a:solidFill>
            <a:round/>
          </a:ln>
        </p:spPr>
        <p:txBody>
          <a:bodyPr lIns="97920" rIns="97920" tIns="52920" bIns="5292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2" name="fig03-batch-to-fin-head"/>
          <p:cNvSpPr/>
          <p:nvPr/>
        </p:nvSpPr>
        <p:spPr>
          <a:xfrm>
            <a:off x="4674600" y="11936880"/>
            <a:ext cx="87840" cy="83520"/>
          </a:xfrm>
          <a:custGeom>
            <a:avLst/>
            <a:gdLst/>
            <a:ahLst/>
            <a:rect l="0" t="0" r="r" b="b"/>
            <a:pathLst>
              <a:path w="244" h="232">
                <a:moveTo>
                  <a:pt x="244" y="232"/>
                </a:moveTo>
                <a:lnTo>
                  <a:pt x="0" y="149"/>
                </a:lnTo>
                <a:lnTo>
                  <a:pt x="132" y="0"/>
                </a:lnTo>
                <a:lnTo>
                  <a:pt x="244" y="232"/>
                </a:lnTo>
                <a:close/>
              </a:path>
            </a:pathLst>
          </a:custGeom>
          <a:solidFill>
            <a:srgbClr val="4f46e5"/>
          </a:solidFill>
          <a:ln w="0">
            <a:noFill/>
          </a:ln>
        </p:spPr>
        <p:txBody>
          <a:bodyPr lIns="90000" rIns="90000" tIns="38520" bIns="38520" anchor="ctr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93" name="fig03-140-chip"/>
          <p:cNvSpPr/>
          <p:nvPr/>
        </p:nvSpPr>
        <p:spPr>
          <a:xfrm>
            <a:off x="5185440" y="11757600"/>
            <a:ext cx="1059120" cy="171360"/>
          </a:xfrm>
          <a:prstGeom prst="roundRect">
            <a:avLst/>
          </a:prstGeom>
          <a:solidFill>
            <a:srgbClr val="ffffff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4" name="fig03-text-140"/>
          <p:cNvSpPr txBox="1"/>
          <p:nvPr/>
        </p:nvSpPr>
        <p:spPr>
          <a:xfrm>
            <a:off x="5242680" y="11776680"/>
            <a:ext cx="944640" cy="1082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algn="ctr"/>
            <a:r>
              <a:rPr b="1" lang="zh-CN" sz="750" spc="-1" strike="noStrike">
                <a:solidFill>
                  <a:srgbClr val="4f46e5"/>
                </a:solidFill>
                <a:latin typeface="PingFang SC"/>
              </a:rPr>
              <a:t>消耗 </a:t>
            </a:r>
            <a:r>
              <a:rPr b="1" lang="en-US" sz="750" spc="-1" strike="noStrike">
                <a:solidFill>
                  <a:srgbClr val="4f46e5"/>
                </a:solidFill>
                <a:latin typeface="PingFang SC"/>
              </a:rPr>
              <a:t>/ </a:t>
            </a:r>
            <a:r>
              <a:rPr b="1" lang="zh-CN" sz="750" spc="-1" strike="noStrike">
                <a:solidFill>
                  <a:srgbClr val="4f46e5"/>
                </a:solidFill>
                <a:latin typeface="PingFang SC"/>
              </a:rPr>
              <a:t>产出 </a:t>
            </a:r>
            <a:r>
              <a:rPr b="1" lang="en-US" sz="750" spc="-1" strike="noStrike">
                <a:solidFill>
                  <a:srgbClr val="4f46e5"/>
                </a:solidFill>
                <a:latin typeface="PingFang SC"/>
              </a:rPr>
              <a:t>/ </a:t>
            </a:r>
            <a:r>
              <a:rPr b="1" lang="zh-CN" sz="750" spc="-1" strike="noStrike">
                <a:solidFill>
                  <a:srgbClr val="4f46e5"/>
                </a:solidFill>
                <a:latin typeface="PingFang SC"/>
              </a:rPr>
              <a:t>质量</a:t>
            </a:r>
            <a:endParaRPr b="1" lang="en-US" sz="750" spc="-1" strike="noStrike">
              <a:solidFill>
                <a:srgbClr val="4f46e5"/>
              </a:solidFill>
              <a:latin typeface="PingFang SC"/>
              <a:ea typeface="PingFang SC"/>
            </a:endParaRPr>
          </a:p>
        </p:txBody>
      </p:sp>
      <p:sp>
        <p:nvSpPr>
          <p:cNvPr id="595" name="fig03-card"/>
          <p:cNvSpPr/>
          <p:nvPr/>
        </p:nvSpPr>
        <p:spPr>
          <a:xfrm>
            <a:off x="571680" y="13496760"/>
            <a:ext cx="47520" cy="209520"/>
          </a:xfrm>
          <a:prstGeom prst="roundRect">
            <a:avLst/>
          </a:prstGeom>
          <a:solidFill>
            <a:srgbClr val="4f46e5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96" name="fig03-text-142"/>
          <p:cNvSpPr txBox="1"/>
          <p:nvPr/>
        </p:nvSpPr>
        <p:spPr>
          <a:xfrm>
            <a:off x="743040" y="13577040"/>
            <a:ext cx="236520" cy="85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750" spc="-1" strike="noStrike">
                <a:solidFill>
                  <a:srgbClr val="4f46e5"/>
                </a:solidFill>
                <a:latin typeface="IBM Plex Mono"/>
              </a:rPr>
              <a:t>03E</a:t>
            </a:r>
            <a:endParaRPr b="1" lang="en-US" sz="750" spc="-1" strike="noStrike">
              <a:solidFill>
                <a:srgbClr val="4f46e5"/>
              </a:solidFill>
              <a:latin typeface="IBM Plex Mono"/>
              <a:ea typeface="IBM Plex Mono"/>
            </a:endParaRPr>
          </a:p>
        </p:txBody>
      </p:sp>
      <p:sp>
        <p:nvSpPr>
          <p:cNvPr id="597" name="fig03-text-143"/>
          <p:cNvSpPr txBox="1"/>
          <p:nvPr/>
        </p:nvSpPr>
        <p:spPr>
          <a:xfrm>
            <a:off x="1428840" y="13527720"/>
            <a:ext cx="2764440" cy="752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zh-CN" sz="1200" spc="-1" strike="noStrike">
                <a:solidFill>
                  <a:srgbClr val="161a25"/>
                </a:solidFill>
                <a:latin typeface="PingFang SC"/>
              </a:rPr>
              <a:t>阶段 </a:t>
            </a:r>
            <a:r>
              <a:rPr b="1" lang="en-US" sz="1200" spc="-1" strike="noStrike">
                <a:solidFill>
                  <a:srgbClr val="161a25"/>
                </a:solidFill>
                <a:latin typeface="PingFang SC"/>
              </a:rPr>
              <a:t>4</a:t>
            </a:r>
            <a:r>
              <a:rPr b="1" lang="zh-CN" sz="1200" spc="-1" strike="noStrike">
                <a:solidFill>
                  <a:srgbClr val="161a25"/>
                </a:solidFill>
                <a:latin typeface="PingFang SC"/>
              </a:rPr>
              <a:t>｜复盘、候选与人工受控进化</a:t>
            </a:r>
            <a:endParaRPr b="1" lang="en-US" sz="1200" spc="-1" strike="noStrike">
              <a:solidFill>
                <a:srgbClr val="161a25"/>
              </a:solidFill>
              <a:latin typeface="PingFang SC"/>
              <a:ea typeface="PingFang SC"/>
            </a:endParaRPr>
          </a:p>
        </p:txBody>
      </p:sp>
      <p:sp>
        <p:nvSpPr>
          <p:cNvPr id="598" name="fig03-text-144"/>
          <p:cNvSpPr txBox="1"/>
          <p:nvPr/>
        </p:nvSpPr>
        <p:spPr>
          <a:xfrm>
            <a:off x="7690680" y="13570560"/>
            <a:ext cx="3168000" cy="1082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algn="r"/>
            <a:r>
              <a:rPr b="0" lang="zh-CN" sz="810" spc="-1" strike="noStrike">
                <a:solidFill>
                  <a:srgbClr val="667085"/>
                </a:solidFill>
                <a:latin typeface="PingFang SC"/>
              </a:rPr>
              <a:t>实绩不能自动改写规则；先候选，后审核，再进入新版本草稿</a:t>
            </a:r>
            <a:endParaRPr b="0" lang="en-US" sz="810" spc="-1" strike="noStrike">
              <a:solidFill>
                <a:srgbClr val="667085"/>
              </a:solidFill>
              <a:latin typeface="PingFang SC"/>
              <a:ea typeface="PingFang SC"/>
            </a:endParaRPr>
          </a:p>
        </p:txBody>
      </p:sp>
      <p:sp>
        <p:nvSpPr>
          <p:cNvPr id="599" name="fig03-card"/>
          <p:cNvSpPr/>
          <p:nvPr/>
        </p:nvSpPr>
        <p:spPr>
          <a:xfrm>
            <a:off x="571680" y="13963680"/>
            <a:ext cx="2476440" cy="1200240"/>
          </a:xfrm>
          <a:prstGeom prst="roundRect">
            <a:avLst/>
          </a:prstGeom>
          <a:solidFill>
            <a:srgbClr val="f0f1ff"/>
          </a:solidFill>
          <a:ln w="11520">
            <a:solidFill>
              <a:srgbClr val="4f46e5"/>
            </a:solidFill>
            <a:round/>
          </a:ln>
        </p:spPr>
        <p:txBody>
          <a:bodyPr lIns="95760" rIns="95760" tIns="50760" bIns="5076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0" name="fig03-card"/>
          <p:cNvSpPr/>
          <p:nvPr/>
        </p:nvSpPr>
        <p:spPr>
          <a:xfrm>
            <a:off x="704880" y="14096880"/>
            <a:ext cx="857160" cy="190440"/>
          </a:xfrm>
          <a:prstGeom prst="roundRect">
            <a:avLst/>
          </a:prstGeom>
          <a:solidFill>
            <a:srgbClr val="eae9fc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1" name="fig03-text-147"/>
          <p:cNvSpPr txBox="1"/>
          <p:nvPr/>
        </p:nvSpPr>
        <p:spPr>
          <a:xfrm>
            <a:off x="790560" y="14148360"/>
            <a:ext cx="176760" cy="602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750" spc="-1" strike="noStrike">
                <a:solidFill>
                  <a:srgbClr val="4f46e5"/>
                </a:solidFill>
                <a:latin typeface="IBM Plex Mono"/>
              </a:rPr>
              <a:t>12</a:t>
            </a:r>
            <a:endParaRPr b="1" lang="en-US" sz="750" spc="-1" strike="noStrike">
              <a:solidFill>
                <a:srgbClr val="4f46e5"/>
              </a:solidFill>
              <a:latin typeface="IBM Plex Mono"/>
              <a:ea typeface="IBM Plex Mono"/>
            </a:endParaRPr>
          </a:p>
        </p:txBody>
      </p:sp>
      <p:sp>
        <p:nvSpPr>
          <p:cNvPr id="602" name="fig03-text-148"/>
          <p:cNvSpPr txBox="1"/>
          <p:nvPr/>
        </p:nvSpPr>
        <p:spPr>
          <a:xfrm>
            <a:off x="714240" y="14311440"/>
            <a:ext cx="2190600" cy="421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zh-CN" sz="1130" spc="-1" strike="noStrike">
                <a:solidFill>
                  <a:srgbClr val="161a25"/>
                </a:solidFill>
                <a:latin typeface="PingFang SC"/>
              </a:rPr>
              <a:t>复盘优化</a:t>
            </a:r>
            <a:endParaRPr b="1" lang="en-US" sz="1130" spc="-1" strike="noStrike">
              <a:solidFill>
                <a:srgbClr val="161a25"/>
              </a:solidFill>
              <a:latin typeface="PingFang SC"/>
              <a:ea typeface="PingFang SC"/>
            </a:endParaRPr>
          </a:p>
        </p:txBody>
      </p:sp>
      <p:sp>
        <p:nvSpPr>
          <p:cNvPr id="603" name="fig03-text-149"/>
          <p:cNvSpPr txBox="1"/>
          <p:nvPr/>
        </p:nvSpPr>
        <p:spPr>
          <a:xfrm>
            <a:off x="714240" y="14522760"/>
            <a:ext cx="2190600" cy="2075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zh-CN" sz="900" spc="-1" strike="noStrike">
                <a:solidFill>
                  <a:srgbClr val="667085"/>
                </a:solidFill>
                <a:latin typeface="PingFang SC"/>
              </a:rPr>
              <a:t>销量、成本、浪费、质量、体验、异常、</a:t>
            </a:r>
            <a:endParaRPr b="0" lang="en-US" sz="900" spc="-1" strike="noStrike">
              <a:solidFill>
                <a:srgbClr val="667085"/>
              </a:solidFill>
              <a:latin typeface="PingFang SC"/>
              <a:ea typeface="PingFang SC"/>
            </a:endParaRPr>
          </a:p>
          <a:p>
            <a:r>
              <a:rPr b="0" lang="zh-CN" sz="900" spc="-1" strike="noStrike">
                <a:solidFill>
                  <a:srgbClr val="667085"/>
                </a:solidFill>
                <a:latin typeface="PingFang SC"/>
              </a:rPr>
              <a:t>交付时效</a:t>
            </a:r>
            <a:endParaRPr b="0" lang="en-US" sz="900" spc="-1" strike="noStrike">
              <a:solidFill>
                <a:srgbClr val="667085"/>
              </a:solidFill>
              <a:latin typeface="PingFang SC"/>
              <a:ea typeface="PingFang SC"/>
            </a:endParaRPr>
          </a:p>
          <a:p>
            <a:r>
              <a:rPr b="0" lang="zh-CN" sz="900" spc="-1" strike="noStrike">
                <a:solidFill>
                  <a:srgbClr val="667085"/>
                </a:solidFill>
                <a:latin typeface="PingFang SC"/>
              </a:rPr>
              <a:t>规则 </a:t>
            </a:r>
            <a:r>
              <a:rPr b="0" lang="en-US" sz="900" spc="-1" strike="noStrike">
                <a:solidFill>
                  <a:srgbClr val="667085"/>
                </a:solidFill>
                <a:latin typeface="PingFang SC"/>
              </a:rPr>
              <a:t>/ </a:t>
            </a:r>
            <a:r>
              <a:rPr b="0" lang="zh-CN" sz="900" spc="-1" strike="noStrike">
                <a:solidFill>
                  <a:srgbClr val="667085"/>
                </a:solidFill>
                <a:latin typeface="PingFang SC"/>
              </a:rPr>
              <a:t>专业主源 </a:t>
            </a:r>
            <a:r>
              <a:rPr b="0" lang="en-US" sz="900" spc="-1" strike="noStrike">
                <a:solidFill>
                  <a:srgbClr val="667085"/>
                </a:solidFill>
                <a:latin typeface="PingFang SC"/>
              </a:rPr>
              <a:t>/ </a:t>
            </a:r>
            <a:r>
              <a:rPr b="0" lang="zh-CN" sz="900" spc="-1" strike="noStrike">
                <a:solidFill>
                  <a:srgbClr val="667085"/>
                </a:solidFill>
                <a:latin typeface="PingFang SC"/>
              </a:rPr>
              <a:t>经营指标双向校验</a:t>
            </a:r>
            <a:endParaRPr b="0" lang="en-US" sz="900" spc="-1" strike="noStrike">
              <a:solidFill>
                <a:srgbClr val="667085"/>
              </a:solidFill>
              <a:latin typeface="PingFang SC"/>
              <a:ea typeface="PingFang SC"/>
            </a:endParaRPr>
          </a:p>
        </p:txBody>
      </p:sp>
      <p:sp>
        <p:nvSpPr>
          <p:cNvPr id="604" name="fig03-card"/>
          <p:cNvSpPr/>
          <p:nvPr/>
        </p:nvSpPr>
        <p:spPr>
          <a:xfrm>
            <a:off x="3905280" y="13963680"/>
            <a:ext cx="2476440" cy="1200240"/>
          </a:xfrm>
          <a:prstGeom prst="roundRect">
            <a:avLst/>
          </a:prstGeom>
          <a:solidFill>
            <a:srgbClr val="f5f1ff"/>
          </a:solidFill>
          <a:ln w="11520">
            <a:solidFill>
              <a:srgbClr val="8b5aca"/>
            </a:solidFill>
            <a:round/>
          </a:ln>
        </p:spPr>
        <p:txBody>
          <a:bodyPr lIns="95760" rIns="95760" tIns="50760" bIns="5076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5" name="fig03-card"/>
          <p:cNvSpPr/>
          <p:nvPr/>
        </p:nvSpPr>
        <p:spPr>
          <a:xfrm>
            <a:off x="4038480" y="14096880"/>
            <a:ext cx="857160" cy="190440"/>
          </a:xfrm>
          <a:prstGeom prst="roundRect">
            <a:avLst/>
          </a:prstGeom>
          <a:solidFill>
            <a:srgbClr val="f1ebf9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6" name="fig03-text-152"/>
          <p:cNvSpPr txBox="1"/>
          <p:nvPr/>
        </p:nvSpPr>
        <p:spPr>
          <a:xfrm>
            <a:off x="4124160" y="14148360"/>
            <a:ext cx="594720" cy="1114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750" spc="-1" strike="noStrike">
                <a:solidFill>
                  <a:srgbClr val="8b5aca"/>
                </a:solidFill>
                <a:latin typeface="IBM Plex Mono"/>
              </a:rPr>
              <a:t>CANDIDATE</a:t>
            </a:r>
            <a:endParaRPr b="1" lang="en-US" sz="750" spc="-1" strike="noStrike">
              <a:solidFill>
                <a:srgbClr val="8b5aca"/>
              </a:solidFill>
              <a:latin typeface="IBM Plex Mono"/>
              <a:ea typeface="IBM Plex Mono"/>
            </a:endParaRPr>
          </a:p>
        </p:txBody>
      </p:sp>
      <p:sp>
        <p:nvSpPr>
          <p:cNvPr id="607" name="fig03-text-153"/>
          <p:cNvSpPr txBox="1"/>
          <p:nvPr/>
        </p:nvSpPr>
        <p:spPr>
          <a:xfrm>
            <a:off x="4048200" y="14311440"/>
            <a:ext cx="2190600" cy="421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zh-CN" sz="1130" spc="-1" strike="noStrike">
                <a:solidFill>
                  <a:srgbClr val="161a25"/>
                </a:solidFill>
                <a:latin typeface="PingFang SC"/>
              </a:rPr>
              <a:t>优化候选池</a:t>
            </a:r>
            <a:endParaRPr b="1" lang="en-US" sz="1130" spc="-1" strike="noStrike">
              <a:solidFill>
                <a:srgbClr val="161a25"/>
              </a:solidFill>
              <a:latin typeface="PingFang SC"/>
              <a:ea typeface="PingFang SC"/>
            </a:endParaRPr>
          </a:p>
        </p:txBody>
      </p:sp>
      <p:sp>
        <p:nvSpPr>
          <p:cNvPr id="608" name="fig03-text-154"/>
          <p:cNvSpPr txBox="1"/>
          <p:nvPr/>
        </p:nvSpPr>
        <p:spPr>
          <a:xfrm>
            <a:off x="4048200" y="14522760"/>
            <a:ext cx="2190600" cy="1744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zh-CN" sz="900" spc="-1" strike="noStrike">
                <a:solidFill>
                  <a:srgbClr val="667085"/>
                </a:solidFill>
                <a:latin typeface="PingFang SC"/>
              </a:rPr>
              <a:t>候选规则、菜单、配方、采购或排班修改</a:t>
            </a:r>
            <a:endParaRPr b="0" lang="en-US" sz="900" spc="-1" strike="noStrike">
              <a:solidFill>
                <a:srgbClr val="667085"/>
              </a:solidFill>
              <a:latin typeface="PingFang SC"/>
              <a:ea typeface="PingFang SC"/>
            </a:endParaRPr>
          </a:p>
          <a:p>
            <a:r>
              <a:rPr b="0" lang="zh-CN" sz="900" spc="-1" strike="noStrike">
                <a:solidFill>
                  <a:srgbClr val="667085"/>
                </a:solidFill>
                <a:latin typeface="PingFang SC"/>
              </a:rPr>
              <a:t>保留证据、影响范围与差异说明</a:t>
            </a:r>
            <a:endParaRPr b="0" lang="en-US" sz="900" spc="-1" strike="noStrike">
              <a:solidFill>
                <a:srgbClr val="667085"/>
              </a:solidFill>
              <a:latin typeface="PingFang SC"/>
              <a:ea typeface="PingFang SC"/>
            </a:endParaRPr>
          </a:p>
        </p:txBody>
      </p:sp>
      <p:sp>
        <p:nvSpPr>
          <p:cNvPr id="609" name="fig03-poly"/>
          <p:cNvSpPr/>
          <p:nvPr/>
        </p:nvSpPr>
        <p:spPr>
          <a:xfrm>
            <a:off x="6810480" y="14106600"/>
            <a:ext cx="1238040" cy="914400"/>
          </a:xfrm>
          <a:custGeom>
            <a:avLst/>
            <a:gdLst/>
            <a:ahLst/>
            <a:rect l="0" t="0" r="r" b="b"/>
            <a:pathLst>
              <a:path w="3439" h="2540">
                <a:moveTo>
                  <a:pt x="1720" y="0"/>
                </a:moveTo>
                <a:lnTo>
                  <a:pt x="3439" y="1270"/>
                </a:lnTo>
                <a:lnTo>
                  <a:pt x="1720" y="2540"/>
                </a:lnTo>
                <a:lnTo>
                  <a:pt x="0" y="1270"/>
                </a:lnTo>
                <a:lnTo>
                  <a:pt x="1720" y="0"/>
                </a:lnTo>
                <a:close/>
              </a:path>
            </a:pathLst>
          </a:custGeom>
          <a:solidFill>
            <a:srgbClr val="fff1f2"/>
          </a:solidFill>
          <a:ln w="12240">
            <a:solidFill>
              <a:srgbClr val="e60012"/>
            </a:solidFill>
            <a:round/>
          </a:ln>
        </p:spPr>
        <p:txBody>
          <a:bodyPr lIns="96120" rIns="96120" tIns="51120" bIns="5112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0" name="fig03-text-156"/>
          <p:cNvSpPr txBox="1"/>
          <p:nvPr/>
        </p:nvSpPr>
        <p:spPr>
          <a:xfrm>
            <a:off x="7170480" y="14418000"/>
            <a:ext cx="518040" cy="2406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algn="ctr"/>
            <a:r>
              <a:rPr b="0" lang="zh-CN" sz="810" spc="-1" strike="noStrike">
                <a:solidFill>
                  <a:srgbClr val="e60012"/>
                </a:solidFill>
                <a:latin typeface="PingFang SC"/>
              </a:rPr>
              <a:t>人工审核</a:t>
            </a:r>
            <a:endParaRPr b="0" lang="en-US" sz="810" spc="-1" strike="noStrike">
              <a:solidFill>
                <a:srgbClr val="e60012"/>
              </a:solidFill>
              <a:latin typeface="PingFang SC"/>
              <a:ea typeface="PingFang SC"/>
            </a:endParaRPr>
          </a:p>
          <a:p>
            <a:pPr algn="ctr"/>
            <a:r>
              <a:rPr b="0" lang="zh-CN" sz="810" spc="-1" strike="noStrike">
                <a:solidFill>
                  <a:srgbClr val="e60012"/>
                </a:solidFill>
                <a:latin typeface="PingFang SC"/>
              </a:rPr>
              <a:t>与授权</a:t>
            </a:r>
            <a:endParaRPr b="0" lang="en-US" sz="810" spc="-1" strike="noStrike">
              <a:solidFill>
                <a:srgbClr val="e60012"/>
              </a:solidFill>
              <a:latin typeface="PingFang SC"/>
              <a:ea typeface="PingFang SC"/>
            </a:endParaRPr>
          </a:p>
        </p:txBody>
      </p:sp>
      <p:sp>
        <p:nvSpPr>
          <p:cNvPr id="611" name="fig03-card"/>
          <p:cNvSpPr/>
          <p:nvPr/>
        </p:nvSpPr>
        <p:spPr>
          <a:xfrm>
            <a:off x="9144000" y="13963680"/>
            <a:ext cx="1714320" cy="1200240"/>
          </a:xfrm>
          <a:prstGeom prst="roundRect">
            <a:avLst/>
          </a:prstGeom>
          <a:solidFill>
            <a:srgbClr val="fff1f2"/>
          </a:solidFill>
          <a:ln w="11520">
            <a:solidFill>
              <a:srgbClr val="e60012"/>
            </a:solidFill>
            <a:round/>
          </a:ln>
        </p:spPr>
        <p:txBody>
          <a:bodyPr lIns="95760" rIns="95760" tIns="50760" bIns="5076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2" name="fig03-card"/>
          <p:cNvSpPr/>
          <p:nvPr/>
        </p:nvSpPr>
        <p:spPr>
          <a:xfrm>
            <a:off x="9277200" y="14096880"/>
            <a:ext cx="1017360" cy="190440"/>
          </a:xfrm>
          <a:prstGeom prst="roundRect">
            <a:avLst/>
          </a:prstGeom>
          <a:solidFill>
            <a:srgbClr val="fce0e3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3" name="fig03-text-159"/>
          <p:cNvSpPr txBox="1"/>
          <p:nvPr/>
        </p:nvSpPr>
        <p:spPr>
          <a:xfrm>
            <a:off x="9363240" y="14148360"/>
            <a:ext cx="746280" cy="1114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750" spc="-1" strike="noStrike">
                <a:solidFill>
                  <a:srgbClr val="e60012"/>
                </a:solidFill>
                <a:latin typeface="IBM Plex Mono"/>
              </a:rPr>
              <a:t>NEXT VERSION</a:t>
            </a:r>
            <a:endParaRPr b="1" lang="en-US" sz="750" spc="-1" strike="noStrike">
              <a:solidFill>
                <a:srgbClr val="e60012"/>
              </a:solidFill>
              <a:latin typeface="IBM Plex Mono"/>
              <a:ea typeface="IBM Plex Mono"/>
            </a:endParaRPr>
          </a:p>
        </p:txBody>
      </p:sp>
      <p:sp>
        <p:nvSpPr>
          <p:cNvPr id="614" name="fig03-text-160"/>
          <p:cNvSpPr txBox="1"/>
          <p:nvPr/>
        </p:nvSpPr>
        <p:spPr>
          <a:xfrm>
            <a:off x="9286920" y="14311440"/>
            <a:ext cx="1428840" cy="421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zh-CN" sz="1130" spc="-1" strike="noStrike">
                <a:solidFill>
                  <a:srgbClr val="161a25"/>
                </a:solidFill>
                <a:latin typeface="PingFang SC"/>
              </a:rPr>
              <a:t>新版本草稿</a:t>
            </a:r>
            <a:endParaRPr b="1" lang="en-US" sz="1130" spc="-1" strike="noStrike">
              <a:solidFill>
                <a:srgbClr val="161a25"/>
              </a:solidFill>
              <a:latin typeface="PingFang SC"/>
              <a:ea typeface="PingFang SC"/>
            </a:endParaRPr>
          </a:p>
        </p:txBody>
      </p:sp>
      <p:sp>
        <p:nvSpPr>
          <p:cNvPr id="615" name="fig03-text-161"/>
          <p:cNvSpPr txBox="1"/>
          <p:nvPr/>
        </p:nvSpPr>
        <p:spPr>
          <a:xfrm>
            <a:off x="9286920" y="14522760"/>
            <a:ext cx="1428840" cy="1413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zh-CN" sz="900" spc="-1" strike="noStrike">
                <a:solidFill>
                  <a:srgbClr val="667085"/>
                </a:solidFill>
                <a:latin typeface="PingFang SC"/>
              </a:rPr>
              <a:t>重新进入菜单 </a:t>
            </a:r>
            <a:r>
              <a:rPr b="0" lang="en-US" sz="900" spc="-1" strike="noStrike">
                <a:solidFill>
                  <a:srgbClr val="667085"/>
                </a:solidFill>
                <a:latin typeface="PingFang SC"/>
              </a:rPr>
              <a:t>/ </a:t>
            </a:r>
            <a:r>
              <a:rPr b="0" lang="zh-CN" sz="900" spc="-1" strike="noStrike">
                <a:solidFill>
                  <a:srgbClr val="667085"/>
                </a:solidFill>
                <a:latin typeface="PingFang SC"/>
              </a:rPr>
              <a:t>需求 </a:t>
            </a:r>
            <a:r>
              <a:rPr b="0" lang="en-US" sz="900" spc="-1" strike="noStrike">
                <a:solidFill>
                  <a:srgbClr val="667085"/>
                </a:solidFill>
                <a:latin typeface="PingFang SC"/>
              </a:rPr>
              <a:t>/</a:t>
            </a:r>
            <a:endParaRPr b="0" lang="en-US" sz="900" spc="-1" strike="noStrike">
              <a:solidFill>
                <a:srgbClr val="667085"/>
              </a:solidFill>
              <a:latin typeface="PingFang SC"/>
              <a:ea typeface="PingFang SC"/>
            </a:endParaRPr>
          </a:p>
          <a:p>
            <a:r>
              <a:rPr b="0" lang="en-US" sz="900" spc="-1" strike="noStrike">
                <a:solidFill>
                  <a:srgbClr val="667085"/>
                </a:solidFill>
                <a:latin typeface="PingFang SC"/>
              </a:rPr>
              <a:t> </a:t>
            </a:r>
            <a:r>
              <a:rPr b="0" lang="zh-CN" sz="900" spc="-1" strike="noStrike">
                <a:solidFill>
                  <a:srgbClr val="667085"/>
                </a:solidFill>
                <a:latin typeface="PingFang SC"/>
              </a:rPr>
              <a:t>生产受控链</a:t>
            </a:r>
            <a:endParaRPr b="0" lang="en-US" sz="900" spc="-1" strike="noStrike">
              <a:solidFill>
                <a:srgbClr val="667085"/>
              </a:solidFill>
              <a:latin typeface="PingFang SC"/>
              <a:ea typeface="PingFang SC"/>
            </a:endParaRPr>
          </a:p>
        </p:txBody>
      </p:sp>
      <p:sp>
        <p:nvSpPr>
          <p:cNvPr id="616" name="fig03-fin-review"/>
          <p:cNvSpPr/>
          <p:nvPr/>
        </p:nvSpPr>
        <p:spPr>
          <a:xfrm flipH="1">
            <a:off x="1809720" y="13144320"/>
            <a:ext cx="3905280" cy="819360"/>
          </a:xfrm>
          <a:prstGeom prst="line">
            <a:avLst/>
          </a:prstGeom>
          <a:ln w="16200">
            <a:solidFill>
              <a:srgbClr val="4f46e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7920" rIns="97920" tIns="52920" bIns="5292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7" name="fig03-fin-review-head"/>
          <p:cNvSpPr/>
          <p:nvPr/>
        </p:nvSpPr>
        <p:spPr>
          <a:xfrm>
            <a:off x="1809720" y="13910760"/>
            <a:ext cx="91440" cy="70560"/>
          </a:xfrm>
          <a:custGeom>
            <a:avLst/>
            <a:gdLst/>
            <a:ahLst/>
            <a:rect l="0" t="0" r="r" b="b"/>
            <a:pathLst>
              <a:path w="254" h="196">
                <a:moveTo>
                  <a:pt x="0" y="147"/>
                </a:moveTo>
                <a:lnTo>
                  <a:pt x="213" y="0"/>
                </a:lnTo>
                <a:lnTo>
                  <a:pt x="254" y="196"/>
                </a:lnTo>
                <a:lnTo>
                  <a:pt x="0" y="147"/>
                </a:lnTo>
                <a:close/>
              </a:path>
            </a:pathLst>
          </a:custGeom>
          <a:solidFill>
            <a:srgbClr val="4f46e5"/>
          </a:solidFill>
          <a:ln w="0">
            <a:noFill/>
          </a:ln>
        </p:spPr>
        <p:txBody>
          <a:bodyPr lIns="90000" rIns="90000" tIns="25560" bIns="25560" anchor="ctr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18" name="fig03-163-chip"/>
          <p:cNvSpPr/>
          <p:nvPr/>
        </p:nvSpPr>
        <p:spPr>
          <a:xfrm>
            <a:off x="3129840" y="13519800"/>
            <a:ext cx="598320" cy="171360"/>
          </a:xfrm>
          <a:prstGeom prst="roundRect">
            <a:avLst/>
          </a:prstGeom>
          <a:solidFill>
            <a:srgbClr val="ffffff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9" name="fig03-text-163"/>
          <p:cNvSpPr txBox="1"/>
          <p:nvPr/>
        </p:nvSpPr>
        <p:spPr>
          <a:xfrm>
            <a:off x="3187080" y="13538880"/>
            <a:ext cx="483840" cy="1413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algn="ctr"/>
            <a:r>
              <a:rPr b="1" lang="zh-CN" sz="750" spc="-1" strike="noStrike">
                <a:solidFill>
                  <a:srgbClr val="667085"/>
                </a:solidFill>
                <a:latin typeface="PingFang SC"/>
              </a:rPr>
              <a:t>经营事实</a:t>
            </a:r>
            <a:endParaRPr b="1" lang="en-US" sz="750" spc="-1" strike="noStrike">
              <a:solidFill>
                <a:srgbClr val="667085"/>
              </a:solidFill>
              <a:latin typeface="PingFang SC"/>
              <a:ea typeface="PingFang SC"/>
            </a:endParaRPr>
          </a:p>
        </p:txBody>
      </p:sp>
      <p:sp>
        <p:nvSpPr>
          <p:cNvPr id="620" name="fig03-review-candidate"/>
          <p:cNvSpPr/>
          <p:nvPr/>
        </p:nvSpPr>
        <p:spPr>
          <a:xfrm>
            <a:off x="3048120" y="14563800"/>
            <a:ext cx="857160" cy="0"/>
          </a:xfrm>
          <a:prstGeom prst="line">
            <a:avLst/>
          </a:prstGeom>
          <a:ln w="16200">
            <a:solidFill>
              <a:srgbClr val="8b5ac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7920" rIns="97920" tIns="-52920" bIns="-5292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1" name="fig03-review-candidate-head"/>
          <p:cNvSpPr/>
          <p:nvPr/>
        </p:nvSpPr>
        <p:spPr>
          <a:xfrm>
            <a:off x="3819600" y="14527800"/>
            <a:ext cx="85680" cy="72000"/>
          </a:xfrm>
          <a:custGeom>
            <a:avLst/>
            <a:gdLst/>
            <a:ahLst/>
            <a:rect l="0" t="0" r="r" b="b"/>
            <a:pathLst>
              <a:path w="238" h="200">
                <a:moveTo>
                  <a:pt x="238" y="100"/>
                </a:moveTo>
                <a:lnTo>
                  <a:pt x="0" y="200"/>
                </a:lnTo>
                <a:lnTo>
                  <a:pt x="0" y="0"/>
                </a:lnTo>
                <a:lnTo>
                  <a:pt x="238" y="100"/>
                </a:lnTo>
                <a:close/>
              </a:path>
            </a:pathLst>
          </a:custGeom>
          <a:solidFill>
            <a:srgbClr val="8b5aca"/>
          </a:solidFill>
          <a:ln w="0">
            <a:noFill/>
          </a:ln>
        </p:spPr>
        <p:txBody>
          <a:bodyPr lIns="90000" rIns="90000" tIns="27000" bIns="27000" anchor="ctr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22" name="fig03-candidate-g4"/>
          <p:cNvSpPr/>
          <p:nvPr/>
        </p:nvSpPr>
        <p:spPr>
          <a:xfrm>
            <a:off x="6381720" y="14563800"/>
            <a:ext cx="428760" cy="0"/>
          </a:xfrm>
          <a:prstGeom prst="line">
            <a:avLst/>
          </a:prstGeom>
          <a:ln w="16200">
            <a:solidFill>
              <a:srgbClr val="8b5ac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7920" rIns="97920" tIns="-52920" bIns="-5292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3" name="fig03-candidate-g4-head"/>
          <p:cNvSpPr/>
          <p:nvPr/>
        </p:nvSpPr>
        <p:spPr>
          <a:xfrm>
            <a:off x="6724800" y="14527800"/>
            <a:ext cx="85680" cy="72000"/>
          </a:xfrm>
          <a:custGeom>
            <a:avLst/>
            <a:gdLst/>
            <a:ahLst/>
            <a:rect l="0" t="0" r="r" b="b"/>
            <a:pathLst>
              <a:path w="238" h="200">
                <a:moveTo>
                  <a:pt x="238" y="100"/>
                </a:moveTo>
                <a:lnTo>
                  <a:pt x="0" y="200"/>
                </a:lnTo>
                <a:lnTo>
                  <a:pt x="0" y="0"/>
                </a:lnTo>
                <a:lnTo>
                  <a:pt x="238" y="100"/>
                </a:lnTo>
                <a:close/>
              </a:path>
            </a:pathLst>
          </a:custGeom>
          <a:solidFill>
            <a:srgbClr val="8b5aca"/>
          </a:solidFill>
          <a:ln w="0">
            <a:noFill/>
          </a:ln>
        </p:spPr>
        <p:txBody>
          <a:bodyPr lIns="90000" rIns="90000" tIns="27000" bIns="27000" anchor="ctr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24" name="fig03-g4-newdraft"/>
          <p:cNvSpPr/>
          <p:nvPr/>
        </p:nvSpPr>
        <p:spPr>
          <a:xfrm>
            <a:off x="8048520" y="14563800"/>
            <a:ext cx="1095480" cy="0"/>
          </a:xfrm>
          <a:prstGeom prst="line">
            <a:avLst/>
          </a:prstGeom>
          <a:ln w="16200">
            <a:solidFill>
              <a:srgbClr val="e6001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7920" rIns="97920" tIns="-52920" bIns="-5292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5" name="fig03-g4-newdraft-head"/>
          <p:cNvSpPr/>
          <p:nvPr/>
        </p:nvSpPr>
        <p:spPr>
          <a:xfrm>
            <a:off x="9058320" y="14527800"/>
            <a:ext cx="85680" cy="72000"/>
          </a:xfrm>
          <a:custGeom>
            <a:avLst/>
            <a:gdLst/>
            <a:ahLst/>
            <a:rect l="0" t="0" r="r" b="b"/>
            <a:pathLst>
              <a:path w="238" h="200">
                <a:moveTo>
                  <a:pt x="238" y="100"/>
                </a:moveTo>
                <a:lnTo>
                  <a:pt x="0" y="200"/>
                </a:lnTo>
                <a:lnTo>
                  <a:pt x="0" y="0"/>
                </a:lnTo>
                <a:lnTo>
                  <a:pt x="238" y="100"/>
                </a:lnTo>
                <a:close/>
              </a:path>
            </a:pathLst>
          </a:custGeom>
          <a:solidFill>
            <a:srgbClr val="e60012"/>
          </a:solidFill>
          <a:ln w="0">
            <a:noFill/>
          </a:ln>
        </p:spPr>
        <p:txBody>
          <a:bodyPr lIns="90000" rIns="90000" tIns="27000" bIns="27000" anchor="ctr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26" name="fig03-167-chip"/>
          <p:cNvSpPr/>
          <p:nvPr/>
        </p:nvSpPr>
        <p:spPr>
          <a:xfrm>
            <a:off x="8211600" y="14329440"/>
            <a:ext cx="721800" cy="171360"/>
          </a:xfrm>
          <a:prstGeom prst="roundRect">
            <a:avLst/>
          </a:prstGeom>
          <a:solidFill>
            <a:srgbClr val="ffffff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7" name="fig03-text-167"/>
          <p:cNvSpPr txBox="1"/>
          <p:nvPr/>
        </p:nvSpPr>
        <p:spPr>
          <a:xfrm>
            <a:off x="8268840" y="14348520"/>
            <a:ext cx="607680" cy="1413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algn="ctr"/>
            <a:r>
              <a:rPr b="1" lang="zh-CN" sz="750" spc="-1" strike="noStrike">
                <a:solidFill>
                  <a:srgbClr val="667085"/>
                </a:solidFill>
                <a:latin typeface="PingFang SC"/>
              </a:rPr>
              <a:t>采纳 </a:t>
            </a:r>
            <a:r>
              <a:rPr b="1" lang="en-US" sz="750" spc="-1" strike="noStrike">
                <a:solidFill>
                  <a:srgbClr val="667085"/>
                </a:solidFill>
                <a:latin typeface="PingFang SC"/>
              </a:rPr>
              <a:t>/ </a:t>
            </a:r>
            <a:r>
              <a:rPr b="1" lang="zh-CN" sz="750" spc="-1" strike="noStrike">
                <a:solidFill>
                  <a:srgbClr val="667085"/>
                </a:solidFill>
                <a:latin typeface="PingFang SC"/>
              </a:rPr>
              <a:t>退回</a:t>
            </a:r>
            <a:endParaRPr b="1" lang="en-US" sz="750" spc="-1" strike="noStrike">
              <a:solidFill>
                <a:srgbClr val="667085"/>
              </a:solidFill>
              <a:latin typeface="PingFang SC"/>
              <a:ea typeface="PingFang SC"/>
            </a:endParaRPr>
          </a:p>
        </p:txBody>
      </p:sp>
      <p:sp>
        <p:nvSpPr>
          <p:cNvPr id="628" name="fig03-next-to-menu"/>
          <p:cNvSpPr/>
          <p:nvPr/>
        </p:nvSpPr>
        <p:spPr>
          <a:xfrm>
            <a:off x="4762440" y="4952880"/>
            <a:ext cx="5532120" cy="9010800"/>
          </a:xfrm>
          <a:custGeom>
            <a:avLst/>
            <a:gdLst/>
            <a:ahLst/>
            <a:rect l="0" t="0" r="r" b="b"/>
            <a:pathLst>
              <a:path fill="none" w="15367" h="25030">
                <a:moveTo>
                  <a:pt x="14552" y="25030"/>
                </a:moveTo>
                <a:lnTo>
                  <a:pt x="14968" y="24143"/>
                </a:lnTo>
                <a:lnTo>
                  <a:pt x="15257" y="22524"/>
                </a:lnTo>
                <a:lnTo>
                  <a:pt x="15367" y="20327"/>
                </a:lnTo>
                <a:lnTo>
                  <a:pt x="15248" y="17706"/>
                </a:lnTo>
                <a:lnTo>
                  <a:pt x="14850" y="14816"/>
                </a:lnTo>
                <a:lnTo>
                  <a:pt x="14122" y="11811"/>
                </a:lnTo>
                <a:lnTo>
                  <a:pt x="13014" y="8845"/>
                </a:lnTo>
                <a:lnTo>
                  <a:pt x="11475" y="6072"/>
                </a:lnTo>
                <a:lnTo>
                  <a:pt x="9455" y="3647"/>
                </a:lnTo>
                <a:lnTo>
                  <a:pt x="6903" y="1724"/>
                </a:lnTo>
                <a:lnTo>
                  <a:pt x="3768" y="457"/>
                </a:lnTo>
                <a:lnTo>
                  <a:pt x="0" y="0"/>
                </a:lnTo>
              </a:path>
            </a:pathLst>
          </a:custGeom>
          <a:ln w="16200">
            <a:solidFill>
              <a:srgbClr val="e60012"/>
            </a:solidFill>
            <a:round/>
          </a:ln>
        </p:spPr>
        <p:txBody>
          <a:bodyPr lIns="97920" rIns="97920" tIns="52920" bIns="5292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9" name="fig03-next-to-menu-head"/>
          <p:cNvSpPr/>
          <p:nvPr/>
        </p:nvSpPr>
        <p:spPr>
          <a:xfrm>
            <a:off x="4762440" y="4938840"/>
            <a:ext cx="91800" cy="69840"/>
          </a:xfrm>
          <a:custGeom>
            <a:avLst/>
            <a:gdLst/>
            <a:ahLst/>
            <a:rect l="0" t="0" r="r" b="b"/>
            <a:pathLst>
              <a:path w="255" h="194">
                <a:moveTo>
                  <a:pt x="0" y="39"/>
                </a:moveTo>
                <a:lnTo>
                  <a:pt x="255" y="0"/>
                </a:lnTo>
                <a:lnTo>
                  <a:pt x="207" y="194"/>
                </a:lnTo>
                <a:lnTo>
                  <a:pt x="0" y="39"/>
                </a:lnTo>
                <a:close/>
              </a:path>
            </a:pathLst>
          </a:custGeom>
          <a:solidFill>
            <a:srgbClr val="e60012"/>
          </a:solidFill>
          <a:ln w="0">
            <a:noFill/>
          </a:ln>
        </p:spPr>
        <p:txBody>
          <a:bodyPr lIns="90000" rIns="90000" tIns="24840" bIns="24840" anchor="ctr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30" name="fig03-169-chip"/>
          <p:cNvSpPr/>
          <p:nvPr/>
        </p:nvSpPr>
        <p:spPr>
          <a:xfrm>
            <a:off x="9656280" y="9424080"/>
            <a:ext cx="1451520" cy="171360"/>
          </a:xfrm>
          <a:prstGeom prst="roundRect">
            <a:avLst/>
          </a:prstGeom>
          <a:solidFill>
            <a:srgbClr val="ffffff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1" name="fig03-text-169"/>
          <p:cNvSpPr txBox="1"/>
          <p:nvPr/>
        </p:nvSpPr>
        <p:spPr>
          <a:xfrm>
            <a:off x="9713520" y="9443160"/>
            <a:ext cx="1337400" cy="1082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algn="ctr"/>
            <a:r>
              <a:rPr b="1" lang="zh-CN" sz="750" spc="-1" strike="noStrike">
                <a:solidFill>
                  <a:srgbClr val="e60012"/>
                </a:solidFill>
                <a:latin typeface="PingFang SC"/>
              </a:rPr>
              <a:t>经批准后形成后续菜单草稿</a:t>
            </a:r>
            <a:endParaRPr b="1" lang="en-US" sz="750" spc="-1" strike="noStrike">
              <a:solidFill>
                <a:srgbClr val="e60012"/>
              </a:solidFill>
              <a:latin typeface="PingFang SC"/>
              <a:ea typeface="PingFang SC"/>
            </a:endParaRPr>
          </a:p>
        </p:txBody>
      </p:sp>
      <p:sp>
        <p:nvSpPr>
          <p:cNvPr id="632" name="fig03-card"/>
          <p:cNvSpPr/>
          <p:nvPr/>
        </p:nvSpPr>
        <p:spPr>
          <a:xfrm>
            <a:off x="571680" y="15554160"/>
            <a:ext cx="47520" cy="209520"/>
          </a:xfrm>
          <a:prstGeom prst="roundRect">
            <a:avLst/>
          </a:prstGeom>
          <a:solidFill>
            <a:srgbClr val="4f46e5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33" name="fig03-text-171"/>
          <p:cNvSpPr txBox="1"/>
          <p:nvPr/>
        </p:nvSpPr>
        <p:spPr>
          <a:xfrm>
            <a:off x="743040" y="15634440"/>
            <a:ext cx="236520" cy="85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750" spc="-1" strike="noStrike">
                <a:solidFill>
                  <a:srgbClr val="4f46e5"/>
                </a:solidFill>
                <a:latin typeface="IBM Plex Mono"/>
              </a:rPr>
              <a:t>03F</a:t>
            </a:r>
            <a:endParaRPr b="1" lang="en-US" sz="750" spc="-1" strike="noStrike">
              <a:solidFill>
                <a:srgbClr val="4f46e5"/>
              </a:solidFill>
              <a:latin typeface="IBM Plex Mono"/>
              <a:ea typeface="IBM Plex Mono"/>
            </a:endParaRPr>
          </a:p>
        </p:txBody>
      </p:sp>
      <p:sp>
        <p:nvSpPr>
          <p:cNvPr id="634" name="fig03-text-172"/>
          <p:cNvSpPr txBox="1"/>
          <p:nvPr/>
        </p:nvSpPr>
        <p:spPr>
          <a:xfrm>
            <a:off x="1428840" y="15585120"/>
            <a:ext cx="1593360" cy="752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zh-CN" sz="1200" spc="-1" strike="noStrike">
                <a:solidFill>
                  <a:srgbClr val="161a25"/>
                </a:solidFill>
                <a:latin typeface="PingFang SC"/>
              </a:rPr>
              <a:t>变更与异常受控通道</a:t>
            </a:r>
            <a:endParaRPr b="1" lang="en-US" sz="1200" spc="-1" strike="noStrike">
              <a:solidFill>
                <a:srgbClr val="161a25"/>
              </a:solidFill>
              <a:latin typeface="PingFang SC"/>
              <a:ea typeface="PingFang SC"/>
            </a:endParaRPr>
          </a:p>
        </p:txBody>
      </p:sp>
      <p:sp>
        <p:nvSpPr>
          <p:cNvPr id="635" name="fig03-text-173"/>
          <p:cNvSpPr txBox="1"/>
          <p:nvPr/>
        </p:nvSpPr>
        <p:spPr>
          <a:xfrm>
            <a:off x="7921080" y="15627960"/>
            <a:ext cx="2937600" cy="1082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algn="r"/>
            <a:r>
              <a:rPr b="0" lang="zh-CN" sz="810" spc="-1" strike="noStrike">
                <a:solidFill>
                  <a:srgbClr val="667085"/>
                </a:solidFill>
                <a:latin typeface="PingFang SC"/>
              </a:rPr>
              <a:t>单场景修改必须重算全局影响；不得以线下消息绕开审计</a:t>
            </a:r>
            <a:endParaRPr b="0" lang="en-US" sz="810" spc="-1" strike="noStrike">
              <a:solidFill>
                <a:srgbClr val="667085"/>
              </a:solidFill>
              <a:latin typeface="PingFang SC"/>
              <a:ea typeface="PingFang SC"/>
            </a:endParaRPr>
          </a:p>
        </p:txBody>
      </p:sp>
      <p:sp>
        <p:nvSpPr>
          <p:cNvPr id="636" name="fig03-card"/>
          <p:cNvSpPr/>
          <p:nvPr/>
        </p:nvSpPr>
        <p:spPr>
          <a:xfrm>
            <a:off x="571680" y="16021080"/>
            <a:ext cx="4905360" cy="1066680"/>
          </a:xfrm>
          <a:prstGeom prst="roundRect">
            <a:avLst/>
          </a:prstGeom>
          <a:solidFill>
            <a:srgbClr val="fff8e7"/>
          </a:solidFill>
          <a:ln w="11520">
            <a:solidFill>
              <a:srgbClr val="e8a020"/>
            </a:solidFill>
            <a:round/>
          </a:ln>
        </p:spPr>
        <p:txBody>
          <a:bodyPr lIns="95760" rIns="95760" tIns="50760" bIns="5076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7" name="fig03-card"/>
          <p:cNvSpPr/>
          <p:nvPr/>
        </p:nvSpPr>
        <p:spPr>
          <a:xfrm>
            <a:off x="704880" y="16154280"/>
            <a:ext cx="2004120" cy="190440"/>
          </a:xfrm>
          <a:prstGeom prst="roundRect">
            <a:avLst/>
          </a:prstGeom>
          <a:solidFill>
            <a:srgbClr val="fcf4e4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8" name="fig03-text-176"/>
          <p:cNvSpPr txBox="1"/>
          <p:nvPr/>
        </p:nvSpPr>
        <p:spPr>
          <a:xfrm>
            <a:off x="790560" y="16205760"/>
            <a:ext cx="1527120" cy="85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750" spc="-1" strike="noStrike">
                <a:solidFill>
                  <a:srgbClr val="e8a020"/>
                </a:solidFill>
                <a:latin typeface="IBM Plex Mono"/>
              </a:rPr>
              <a:t>CHANGE CONTROL · CANDIDATE</a:t>
            </a:r>
            <a:endParaRPr b="1" lang="en-US" sz="750" spc="-1" strike="noStrike">
              <a:solidFill>
                <a:srgbClr val="e8a020"/>
              </a:solidFill>
              <a:latin typeface="IBM Plex Mono"/>
              <a:ea typeface="IBM Plex Mono"/>
            </a:endParaRPr>
          </a:p>
        </p:txBody>
      </p:sp>
      <p:sp>
        <p:nvSpPr>
          <p:cNvPr id="639" name="fig03-text-177"/>
          <p:cNvSpPr txBox="1"/>
          <p:nvPr/>
        </p:nvSpPr>
        <p:spPr>
          <a:xfrm>
            <a:off x="714240" y="16368840"/>
            <a:ext cx="4619520" cy="421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zh-CN" sz="1130" spc="-1" strike="noStrike">
                <a:solidFill>
                  <a:srgbClr val="161a25"/>
                </a:solidFill>
                <a:latin typeface="PingFang SC"/>
              </a:rPr>
              <a:t>变更影响引擎</a:t>
            </a:r>
            <a:endParaRPr b="1" lang="en-US" sz="1130" spc="-1" strike="noStrike">
              <a:solidFill>
                <a:srgbClr val="161a25"/>
              </a:solidFill>
              <a:latin typeface="PingFang SC"/>
              <a:ea typeface="PingFang SC"/>
            </a:endParaRPr>
          </a:p>
        </p:txBody>
      </p:sp>
      <p:sp>
        <p:nvSpPr>
          <p:cNvPr id="640" name="fig03-text-178"/>
          <p:cNvSpPr txBox="1"/>
          <p:nvPr/>
        </p:nvSpPr>
        <p:spPr>
          <a:xfrm>
            <a:off x="714240" y="16580160"/>
            <a:ext cx="4619520" cy="1744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zh-CN" sz="900" spc="-1" strike="noStrike">
                <a:solidFill>
                  <a:srgbClr val="667085"/>
                </a:solidFill>
                <a:latin typeface="PingFang SC"/>
              </a:rPr>
              <a:t>菜单 </a:t>
            </a:r>
            <a:r>
              <a:rPr b="0" lang="en-US" sz="900" spc="-1" strike="noStrike">
                <a:solidFill>
                  <a:srgbClr val="667085"/>
                </a:solidFill>
                <a:latin typeface="PingFang SC"/>
              </a:rPr>
              <a:t>/ </a:t>
            </a:r>
            <a:r>
              <a:rPr b="0" lang="zh-CN" sz="900" spc="-1" strike="noStrike">
                <a:solidFill>
                  <a:srgbClr val="667085"/>
                </a:solidFill>
                <a:latin typeface="PingFang SC"/>
              </a:rPr>
              <a:t>人数 </a:t>
            </a:r>
            <a:r>
              <a:rPr b="0" lang="en-US" sz="900" spc="-1" strike="noStrike">
                <a:solidFill>
                  <a:srgbClr val="667085"/>
                </a:solidFill>
                <a:latin typeface="PingFang SC"/>
              </a:rPr>
              <a:t>/ BOM / </a:t>
            </a:r>
            <a:r>
              <a:rPr b="0" lang="zh-CN" sz="900" spc="-1" strike="noStrike">
                <a:solidFill>
                  <a:srgbClr val="667085"/>
                </a:solidFill>
                <a:latin typeface="PingFang SC"/>
              </a:rPr>
              <a:t>供应库存 </a:t>
            </a:r>
            <a:r>
              <a:rPr b="0" lang="en-US" sz="900" spc="-1" strike="noStrike">
                <a:solidFill>
                  <a:srgbClr val="667085"/>
                </a:solidFill>
                <a:latin typeface="PingFang SC"/>
              </a:rPr>
              <a:t>/ </a:t>
            </a:r>
            <a:r>
              <a:rPr b="0" lang="zh-CN" sz="900" spc="-1" strike="noStrike">
                <a:solidFill>
                  <a:srgbClr val="667085"/>
                </a:solidFill>
                <a:latin typeface="PingFang SC"/>
              </a:rPr>
              <a:t>生产资源变更 → 影响订单、总需求、共享</a:t>
            </a:r>
            <a:r>
              <a:rPr b="0" lang="en-US" sz="900" spc="-1" strike="noStrike">
                <a:solidFill>
                  <a:srgbClr val="667085"/>
                </a:solidFill>
                <a:latin typeface="PingFang SC"/>
              </a:rPr>
              <a:t>/</a:t>
            </a:r>
            <a:r>
              <a:rPr b="0" lang="zh-CN" sz="900" spc="-1" strike="noStrike">
                <a:solidFill>
                  <a:srgbClr val="667085"/>
                </a:solidFill>
                <a:latin typeface="PingFang SC"/>
              </a:rPr>
              <a:t>专用食材、</a:t>
            </a:r>
            <a:endParaRPr b="0" lang="en-US" sz="900" spc="-1" strike="noStrike">
              <a:solidFill>
                <a:srgbClr val="667085"/>
              </a:solidFill>
              <a:latin typeface="PingFang SC"/>
              <a:ea typeface="PingFang SC"/>
            </a:endParaRPr>
          </a:p>
          <a:p>
            <a:r>
              <a:rPr b="0" lang="zh-CN" sz="900" spc="-1" strike="noStrike">
                <a:solidFill>
                  <a:srgbClr val="667085"/>
                </a:solidFill>
                <a:latin typeface="PingFang SC"/>
              </a:rPr>
              <a:t>产能、工时、路线、预算与成本差异 → 重新审批或升级。</a:t>
            </a:r>
            <a:endParaRPr b="0" lang="en-US" sz="900" spc="-1" strike="noStrike">
              <a:solidFill>
                <a:srgbClr val="667085"/>
              </a:solidFill>
              <a:latin typeface="PingFang SC"/>
              <a:ea typeface="PingFang SC"/>
            </a:endParaRPr>
          </a:p>
        </p:txBody>
      </p:sp>
      <p:sp>
        <p:nvSpPr>
          <p:cNvPr id="641" name="fig03-card"/>
          <p:cNvSpPr/>
          <p:nvPr/>
        </p:nvSpPr>
        <p:spPr>
          <a:xfrm>
            <a:off x="5952960" y="16021080"/>
            <a:ext cx="4905360" cy="1066680"/>
          </a:xfrm>
          <a:prstGeom prst="roundRect">
            <a:avLst/>
          </a:prstGeom>
          <a:solidFill>
            <a:srgbClr val="fff1f2"/>
          </a:solidFill>
          <a:ln w="11520">
            <a:solidFill>
              <a:srgbClr val="e60012"/>
            </a:solidFill>
            <a:round/>
          </a:ln>
        </p:spPr>
        <p:txBody>
          <a:bodyPr lIns="95760" rIns="95760" tIns="50760" bIns="5076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2" name="fig03-card"/>
          <p:cNvSpPr/>
          <p:nvPr/>
        </p:nvSpPr>
        <p:spPr>
          <a:xfrm>
            <a:off x="6086520" y="16154280"/>
            <a:ext cx="1933560" cy="190440"/>
          </a:xfrm>
          <a:prstGeom prst="roundRect">
            <a:avLst/>
          </a:prstGeom>
          <a:solidFill>
            <a:srgbClr val="fce0e3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3" name="fig03-text-181"/>
          <p:cNvSpPr txBox="1"/>
          <p:nvPr/>
        </p:nvSpPr>
        <p:spPr>
          <a:xfrm>
            <a:off x="6172200" y="16205760"/>
            <a:ext cx="1467360" cy="1114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750" spc="-1" strike="noStrike">
                <a:solidFill>
                  <a:srgbClr val="e60012"/>
                </a:solidFill>
                <a:latin typeface="IBM Plex Mono"/>
              </a:rPr>
              <a:t>EXCEPTION CONTROL · HUMAN</a:t>
            </a:r>
            <a:endParaRPr b="1" lang="en-US" sz="750" spc="-1" strike="noStrike">
              <a:solidFill>
                <a:srgbClr val="e60012"/>
              </a:solidFill>
              <a:latin typeface="IBM Plex Mono"/>
              <a:ea typeface="IBM Plex Mono"/>
            </a:endParaRPr>
          </a:p>
        </p:txBody>
      </p:sp>
      <p:sp>
        <p:nvSpPr>
          <p:cNvPr id="644" name="fig03-text-182"/>
          <p:cNvSpPr txBox="1"/>
          <p:nvPr/>
        </p:nvSpPr>
        <p:spPr>
          <a:xfrm>
            <a:off x="6095880" y="16368840"/>
            <a:ext cx="4619520" cy="421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zh-CN" sz="1130" spc="-1" strike="noStrike">
                <a:solidFill>
                  <a:srgbClr val="161a25"/>
                </a:solidFill>
                <a:latin typeface="PingFang SC"/>
              </a:rPr>
              <a:t>异常受控通道</a:t>
            </a:r>
            <a:endParaRPr b="1" lang="en-US" sz="1130" spc="-1" strike="noStrike">
              <a:solidFill>
                <a:srgbClr val="161a25"/>
              </a:solidFill>
              <a:latin typeface="PingFang SC"/>
              <a:ea typeface="PingFang SC"/>
            </a:endParaRPr>
          </a:p>
        </p:txBody>
      </p:sp>
      <p:sp>
        <p:nvSpPr>
          <p:cNvPr id="645" name="fig03-text-183"/>
          <p:cNvSpPr txBox="1"/>
          <p:nvPr/>
        </p:nvSpPr>
        <p:spPr>
          <a:xfrm>
            <a:off x="6095880" y="16580160"/>
            <a:ext cx="4619520" cy="1413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zh-CN" sz="900" spc="-1" strike="noStrike">
                <a:solidFill>
                  <a:srgbClr val="667085"/>
                </a:solidFill>
                <a:latin typeface="PingFang SC"/>
              </a:rPr>
              <a:t>临时加餐、断供、验收不合格、库存不足、饮食变更、设备</a:t>
            </a:r>
            <a:r>
              <a:rPr b="0" lang="en-US" sz="900" spc="-1" strike="noStrike">
                <a:solidFill>
                  <a:srgbClr val="667085"/>
                </a:solidFill>
                <a:latin typeface="PingFang SC"/>
              </a:rPr>
              <a:t>/</a:t>
            </a:r>
            <a:r>
              <a:rPr b="0" lang="zh-CN" sz="900" spc="-1" strike="noStrike">
                <a:solidFill>
                  <a:srgbClr val="667085"/>
                </a:solidFill>
                <a:latin typeface="PingFang SC"/>
              </a:rPr>
              <a:t>人员故障：异常编号、</a:t>
            </a:r>
            <a:endParaRPr b="0" lang="en-US" sz="900" spc="-1" strike="noStrike">
              <a:solidFill>
                <a:srgbClr val="667085"/>
              </a:solidFill>
              <a:latin typeface="PingFang SC"/>
              <a:ea typeface="PingFang SC"/>
            </a:endParaRPr>
          </a:p>
          <a:p>
            <a:r>
              <a:rPr b="0" lang="zh-CN" sz="900" spc="-1" strike="noStrike">
                <a:solidFill>
                  <a:srgbClr val="667085"/>
                </a:solidFill>
                <a:latin typeface="PingFang SC"/>
              </a:rPr>
              <a:t>影响评估、临时授权、补救动作、事后复盘。</a:t>
            </a:r>
            <a:endParaRPr b="0" lang="en-US" sz="900" spc="-1" strike="noStrike">
              <a:solidFill>
                <a:srgbClr val="667085"/>
              </a:solidFill>
              <a:latin typeface="PingFang SC"/>
              <a:ea typeface="PingFang SC"/>
            </a:endParaRPr>
          </a:p>
        </p:txBody>
      </p:sp>
      <p:sp>
        <p:nvSpPr>
          <p:cNvPr id="646" name="fig03-card"/>
          <p:cNvSpPr/>
          <p:nvPr/>
        </p:nvSpPr>
        <p:spPr>
          <a:xfrm>
            <a:off x="571680" y="17469000"/>
            <a:ext cx="10287000" cy="9360"/>
          </a:xfrm>
          <a:prstGeom prst="rect">
            <a:avLst/>
          </a:prstGeom>
          <a:solidFill>
            <a:srgbClr val="d9dee7"/>
          </a:solidFill>
          <a:ln w="0">
            <a:noFill/>
          </a:ln>
        </p:spPr>
        <p:txBody>
          <a:bodyPr lIns="90000" rIns="90000" tIns="-35640" bIns="-3564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7" name="fig03-text-185"/>
          <p:cNvSpPr txBox="1"/>
          <p:nvPr/>
        </p:nvSpPr>
        <p:spPr>
          <a:xfrm>
            <a:off x="571680" y="17647200"/>
            <a:ext cx="4433040" cy="1082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810" spc="-1" strike="noStrike">
                <a:solidFill>
                  <a:srgbClr val="667085"/>
                </a:solidFill>
                <a:latin typeface="IBM Plex Mono"/>
              </a:rPr>
              <a:t>SOURCE · </a:t>
            </a:r>
            <a:r>
              <a:rPr b="0" lang="zh-CN" sz="810" spc="-1" strike="noStrike">
                <a:solidFill>
                  <a:srgbClr val="667085"/>
                </a:solidFill>
                <a:latin typeface="IBM Plex Mono"/>
              </a:rPr>
              <a:t>用户任务书 </a:t>
            </a:r>
            <a:r>
              <a:rPr b="0" lang="en-US" sz="810" spc="-1" strike="noStrike">
                <a:solidFill>
                  <a:srgbClr val="667085"/>
                </a:solidFill>
                <a:latin typeface="IBM Plex Mono"/>
              </a:rPr>
              <a:t>+ </a:t>
            </a:r>
            <a:r>
              <a:rPr b="0" lang="zh-CN" sz="810" spc="-1" strike="noStrike">
                <a:solidFill>
                  <a:srgbClr val="667085"/>
                </a:solidFill>
                <a:latin typeface="IBM Plex Mono"/>
              </a:rPr>
              <a:t>番医总控台 </a:t>
            </a:r>
            <a:r>
              <a:rPr b="0" lang="en-US" sz="810" spc="-1" strike="noStrike">
                <a:solidFill>
                  <a:srgbClr val="667085"/>
                </a:solidFill>
                <a:latin typeface="IBM Plex Mono"/>
              </a:rPr>
              <a:t>V0.1.16 + </a:t>
            </a:r>
            <a:r>
              <a:rPr b="0" lang="zh-CN" sz="810" spc="-1" strike="noStrike">
                <a:solidFill>
                  <a:srgbClr val="667085"/>
                </a:solidFill>
                <a:latin typeface="IBM Plex Mono"/>
              </a:rPr>
              <a:t>餐食运营台 </a:t>
            </a:r>
            <a:r>
              <a:rPr b="0" lang="en-US" sz="810" spc="-1" strike="noStrike">
                <a:solidFill>
                  <a:srgbClr val="667085"/>
                </a:solidFill>
                <a:latin typeface="IBM Plex Mono"/>
              </a:rPr>
              <a:t>V0.1.12 + </a:t>
            </a:r>
            <a:r>
              <a:rPr b="0" lang="zh-CN" sz="810" spc="-1" strike="noStrike">
                <a:solidFill>
                  <a:srgbClr val="667085"/>
                </a:solidFill>
                <a:latin typeface="IBM Plex Mono"/>
              </a:rPr>
              <a:t>数据字典 </a:t>
            </a:r>
            <a:r>
              <a:rPr b="0" lang="en-US" sz="810" spc="-1" strike="noStrike">
                <a:solidFill>
                  <a:srgbClr val="667085"/>
                </a:solidFill>
                <a:latin typeface="IBM Plex Mono"/>
              </a:rPr>
              <a:t>v0.3</a:t>
            </a:r>
            <a:endParaRPr b="0" lang="en-US" sz="810" spc="-1" strike="noStrike">
              <a:solidFill>
                <a:srgbClr val="667085"/>
              </a:solidFill>
              <a:latin typeface="IBM Plex Mono"/>
              <a:ea typeface="IBM Plex Mono"/>
            </a:endParaRPr>
          </a:p>
        </p:txBody>
      </p:sp>
      <p:sp>
        <p:nvSpPr>
          <p:cNvPr id="648" name="fig03-text-186"/>
          <p:cNvSpPr txBox="1"/>
          <p:nvPr/>
        </p:nvSpPr>
        <p:spPr>
          <a:xfrm>
            <a:off x="8957880" y="17647200"/>
            <a:ext cx="1900440" cy="1082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algn="r"/>
            <a:r>
              <a:rPr b="0" lang="zh-CN" sz="810" spc="-1" strike="noStrike">
                <a:solidFill>
                  <a:srgbClr val="e60012"/>
                </a:solidFill>
                <a:latin typeface="PingFang SC"/>
              </a:rPr>
              <a:t>首批候选｜待业务审核｜非实施批准</a:t>
            </a:r>
            <a:endParaRPr b="0" lang="en-US" sz="810" spc="-1" strike="noStrike">
              <a:solidFill>
                <a:srgbClr val="e60012"/>
              </a:solidFill>
              <a:latin typeface="PingFang SC"/>
              <a:ea typeface="PingFang SC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LibreOffice/24.2.7.2$Linux_AARCH64 LibreOffice_project/420$Build-2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2026-10-30T09:44:10Z</dcterms:created>
  <dc:creator/>
  <dc:description/>
  <dc:language>en-US</dc:language>
  <cp:lastModifiedBy/>
  <dcterms:modified xsi:type="dcterms:W3CDTF">2026-10-30T09:44:25Z</dcterms:modified>
  <cp:revision>1</cp:revision>
  <dc:subject/>
  <dc:title/>
</cp:coreProperties>
</file>